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029200"/>
            <a:ext cx="914400" cy="-365760"/>
          </a:xfrm>
          <a:prstGeom prst="line">
            <a:avLst/>
          </a:prstGeom>
          <a:noFill/>
          <a:ln w="19050">
            <a:solidFill>
              <a:srgbClr val="3A4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663440"/>
            <a:ext cx="822960" cy="548640"/>
          </a:xfrm>
          <a:prstGeom prst="line">
            <a:avLst/>
          </a:prstGeom>
          <a:noFill/>
          <a:ln w="19050">
            <a:solidFill>
              <a:srgbClr val="3A4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5029200"/>
            <a:ext cx="457200" cy="731520"/>
          </a:xfrm>
          <a:prstGeom prst="line">
            <a:avLst/>
          </a:prstGeom>
          <a:noFill/>
          <a:ln w="19050">
            <a:solidFill>
              <a:srgbClr val="3A4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07040" y="4663440"/>
            <a:ext cx="640080" cy="1371600"/>
          </a:xfrm>
          <a:prstGeom prst="line">
            <a:avLst/>
          </a:prstGeom>
          <a:noFill/>
          <a:ln w="19050">
            <a:solidFill>
              <a:srgbClr val="3A4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49840" y="5760720"/>
            <a:ext cx="-731520" cy="274320"/>
          </a:xfrm>
          <a:prstGeom prst="line">
            <a:avLst/>
          </a:prstGeom>
          <a:noFill/>
          <a:ln w="19050">
            <a:solidFill>
              <a:srgbClr val="3A4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5760720"/>
            <a:ext cx="1097280" cy="274320"/>
          </a:xfrm>
          <a:prstGeom prst="line">
            <a:avLst/>
          </a:prstGeom>
          <a:noFill/>
          <a:ln w="19050">
            <a:solidFill>
              <a:srgbClr val="3A4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10344" y="4946904"/>
            <a:ext cx="164592" cy="164592"/>
          </a:xfrm>
          <a:prstGeom prst="ellipse">
            <a:avLst/>
          </a:prstGeom>
          <a:solidFill>
            <a:srgbClr val="D9E3F5"/>
          </a:solidFill>
          <a:ln/>
        </p:spPr>
      </p:sp>
      <p:sp>
        <p:nvSpPr>
          <p:cNvPr id="9" name="Shape 7"/>
          <p:cNvSpPr/>
          <p:nvPr/>
        </p:nvSpPr>
        <p:spPr>
          <a:xfrm>
            <a:off x="10524744" y="458114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11347704" y="5129784"/>
            <a:ext cx="164592" cy="164592"/>
          </a:xfrm>
          <a:prstGeom prst="ellipse">
            <a:avLst/>
          </a:prstGeom>
          <a:solidFill>
            <a:srgbClr val="D9E3F5"/>
          </a:solidFill>
          <a:ln/>
        </p:spPr>
      </p:sp>
      <p:sp>
        <p:nvSpPr>
          <p:cNvPr id="11" name="Shape 9"/>
          <p:cNvSpPr/>
          <p:nvPr/>
        </p:nvSpPr>
        <p:spPr>
          <a:xfrm>
            <a:off x="10067544" y="5678424"/>
            <a:ext cx="164592" cy="164592"/>
          </a:xfrm>
          <a:prstGeom prst="ellipse">
            <a:avLst/>
          </a:prstGeom>
          <a:solidFill>
            <a:srgbClr val="D9E3F5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64824" y="5952744"/>
            <a:ext cx="164592" cy="164592"/>
          </a:xfrm>
          <a:prstGeom prst="ellipse">
            <a:avLst/>
          </a:prstGeom>
          <a:solidFill>
            <a:srgbClr val="D9E3F5"/>
          </a:solidFill>
          <a:ln/>
        </p:spPr>
      </p:sp>
      <p:sp>
        <p:nvSpPr>
          <p:cNvPr id="13" name="Shape 11"/>
          <p:cNvSpPr/>
          <p:nvPr/>
        </p:nvSpPr>
        <p:spPr>
          <a:xfrm>
            <a:off x="9336024" y="5952744"/>
            <a:ext cx="164592" cy="164592"/>
          </a:xfrm>
          <a:prstGeom prst="ellipse">
            <a:avLst/>
          </a:prstGeom>
          <a:solidFill>
            <a:srgbClr val="D9E3F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COUCHBASE PLATFORM ARCHITECTURE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9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Flow: Sources, Streaming, Integration &amp; Deployment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Chief Data Office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reference for how data flows from source systems into Couchbase, how the platform is structured, and how it is secured.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72768"/>
            <a:ext cx="338328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19656"/>
            <a:ext cx="338328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57276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157276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Overview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96112" y="23042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56432" y="23042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96112" y="268833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 Overview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56432" y="268833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02836" y="1572768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4F7FC"/>
          </a:solidFill>
          <a:ln/>
        </p:spPr>
      </p:sp>
      <p:sp>
        <p:nvSpPr>
          <p:cNvPr id="14" name="Shape 12"/>
          <p:cNvSpPr/>
          <p:nvPr/>
        </p:nvSpPr>
        <p:spPr>
          <a:xfrm>
            <a:off x="4402836" y="1572768"/>
            <a:ext cx="3383280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4402836" y="1819656"/>
            <a:ext cx="338328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604004" y="157276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180076" y="157276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58868" y="23042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219188" y="23042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658868" y="268833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Layer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219188" y="268833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658868" y="307238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Inbound Integration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19188" y="307238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65592" y="1572768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4F7FC"/>
          </a:solidFill>
          <a:ln/>
        </p:spPr>
      </p:sp>
      <p:sp>
        <p:nvSpPr>
          <p:cNvPr id="25" name="Shape 23"/>
          <p:cNvSpPr/>
          <p:nvPr/>
        </p:nvSpPr>
        <p:spPr>
          <a:xfrm>
            <a:off x="8165592" y="1572768"/>
            <a:ext cx="338328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26" name="Shape 24"/>
          <p:cNvSpPr/>
          <p:nvPr/>
        </p:nvSpPr>
        <p:spPr>
          <a:xfrm>
            <a:off x="8165592" y="1819656"/>
            <a:ext cx="338328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8366760" y="157276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942832" y="157276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Couchbase Platform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421624" y="23042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Overview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0981944" y="23042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421624" y="268833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&amp; Process Collections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981944" y="268833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421624" y="307238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Reporting Collections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981944" y="307238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421624" y="345643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Couchbase?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0981944" y="345643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4069080"/>
            <a:ext cx="7146036" cy="2240280"/>
          </a:xfrm>
          <a:prstGeom prst="roundRect">
            <a:avLst>
              <a:gd name="adj" fmla="val 3265"/>
            </a:avLst>
          </a:prstGeom>
          <a:solidFill>
            <a:srgbClr val="F4F7FC"/>
          </a:solidFill>
          <a:ln/>
        </p:spPr>
      </p:sp>
      <p:sp>
        <p:nvSpPr>
          <p:cNvPr id="38" name="Shape 36"/>
          <p:cNvSpPr/>
          <p:nvPr/>
        </p:nvSpPr>
        <p:spPr>
          <a:xfrm>
            <a:off x="640080" y="4069080"/>
            <a:ext cx="7146036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/>
        </p:spPr>
      </p:sp>
      <p:sp>
        <p:nvSpPr>
          <p:cNvPr id="39" name="Shape 37"/>
          <p:cNvSpPr/>
          <p:nvPr/>
        </p:nvSpPr>
        <p:spPr>
          <a:xfrm>
            <a:off x="640080" y="4315968"/>
            <a:ext cx="7146036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0" name="Text 38"/>
          <p:cNvSpPr/>
          <p:nvPr/>
        </p:nvSpPr>
        <p:spPr>
          <a:xfrm>
            <a:off x="841248" y="40690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1417320" y="4069080"/>
            <a:ext cx="61859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&amp; Security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96112" y="4773168"/>
            <a:ext cx="6368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 Model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219188" y="477316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896112" y="5138928"/>
            <a:ext cx="6368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DataHub Communicates: A Real Example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219188" y="513892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96112" y="5504688"/>
            <a:ext cx="6368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Link &amp; Environment Addressing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7219188" y="55046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896112" y="5870448"/>
            <a:ext cx="6368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Architecture Matters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7219188" y="587044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165592" y="4069080"/>
            <a:ext cx="3383280" cy="2240280"/>
          </a:xfrm>
          <a:prstGeom prst="roundRect">
            <a:avLst>
              <a:gd name="adj" fmla="val 3265"/>
            </a:avLst>
          </a:prstGeom>
          <a:solidFill>
            <a:srgbClr val="F4F7FC"/>
          </a:solidFill>
          <a:ln/>
        </p:spPr>
      </p:sp>
      <p:sp>
        <p:nvSpPr>
          <p:cNvPr id="51" name="Shape 49"/>
          <p:cNvSpPr/>
          <p:nvPr/>
        </p:nvSpPr>
        <p:spPr>
          <a:xfrm>
            <a:off x="8165592" y="4069080"/>
            <a:ext cx="338328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52" name="Shape 50"/>
          <p:cNvSpPr/>
          <p:nvPr/>
        </p:nvSpPr>
        <p:spPr>
          <a:xfrm>
            <a:off x="8165592" y="4315968"/>
            <a:ext cx="338328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3" name="Text 51"/>
          <p:cNvSpPr/>
          <p:nvPr/>
        </p:nvSpPr>
        <p:spPr>
          <a:xfrm>
            <a:off x="8366760" y="406908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8942832" y="406908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8421624" y="477316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Recap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10981944" y="477316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640080" y="6428232"/>
            <a:ext cx="1090879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Background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3327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Banking Enhanced Reporting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3794760"/>
          </a:xfrm>
          <a:prstGeom prst="roundRect">
            <a:avLst>
              <a:gd name="adj" fmla="val 1928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105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Wintrust Commercial Banking – Treasury Management (TM) initiative to expand TM services to a new market segment: Large Commercial and Corporate clients. The project builds the business, technology, processing, and service capabilities needed to meet the demands of this segment.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31821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Needs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Prior-day and same-day visibility into balances and transactions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and custom reports at the BAI code level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position and cash-flow forecasting from near real-time data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of transaction information for context and clarity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search across current and historical data spanning 7 years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285232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78308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HUB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37960" y="205740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Client-facing UI portal — built &amp; operated by FIS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2377440"/>
            <a:ext cx="4736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commercial clients a single place to view balances, transactions, cash position and forecast, run standard or custom reports, and search transaction history.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3520440"/>
            <a:ext cx="5285232" cy="1737360"/>
          </a:xfrm>
          <a:prstGeom prst="roundRect">
            <a:avLst>
              <a:gd name="adj" fmla="val 4211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370332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397764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9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data layer — built &amp; operated by Wintrust Enterprise DM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4297680"/>
            <a:ext cx="4736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Acquires data from core banking and TPS systems, ingests it at near real-time and end-of-day frequencies, processes and enriches it to a standardized BAI code level, and provisions it to Business Hub.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532120"/>
            <a:ext cx="10908792" cy="822960"/>
          </a:xfrm>
          <a:prstGeom prst="roundRect">
            <a:avLst>
              <a:gd name="adj" fmla="val 8889"/>
            </a:avLst>
          </a:prstGeom>
          <a:solidFill>
            <a:srgbClr val="D9E3F5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53212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— powered by Couchbase and the streaming/integration architecture covered in this deck —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backbone that makes real-time, enriched, historical reporting possible.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6428232"/>
            <a:ext cx="1090879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Architecture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/ Producers  →  Data Processing / Persistence  →  Destination / Consumers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200400" cy="3794760"/>
          </a:xfrm>
          <a:prstGeom prst="roundRect">
            <a:avLst>
              <a:gd name="adj" fmla="val 2286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81328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37360"/>
            <a:ext cx="3200400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813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/ PRODUCERS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2194560"/>
            <a:ext cx="279806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Events: Kafka streams real-time deposit and transaction events published by FIS IBS.</a:t>
            </a:r>
            <a:endParaRPr lang="en-US" sz="1150" dirty="0"/>
          </a:p>
          <a:p>
            <a:pPr marL="203200" indent="-203200">
              <a:lnSpc>
                <a:spcPct val="118000"/>
              </a:lnSpc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Messages: IBM MQ delivers RTP, FedNow, and wire notifications from FIS OPF and GPP.</a:t>
            </a:r>
            <a:endParaRPr lang="en-US" sz="1150" dirty="0"/>
          </a:p>
          <a:p>
            <a:pPr marL="203200" indent="-203200">
              <a:lnSpc>
                <a:spcPct val="118000"/>
              </a:lnSpc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Files/DB: nightly batch files from BIC EOD, ACH, and Lockbox feed historical loads.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9392" y="1481328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F4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4279392" y="1481328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4279392" y="1737360"/>
            <a:ext cx="3566160" cy="2468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462272" y="14813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/ PERSISTENCE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80560" y="2194560"/>
            <a:ext cx="316382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(Datahub Kafka) ingests and brokers real-time events from source systems.</a:t>
            </a:r>
            <a:endParaRPr lang="en-US" sz="1150" dirty="0"/>
          </a:p>
          <a:p>
            <a:pPr marL="203200" indent="-203200">
              <a:lnSpc>
                <a:spcPct val="118000"/>
              </a:lnSpc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Connect streams processed events into the Couchbase persistence layer.</a:t>
            </a:r>
            <a:endParaRPr lang="en-US" sz="1150" dirty="0"/>
          </a:p>
          <a:p>
            <a:pPr marL="203200" indent="-203200">
              <a:lnSpc>
                <a:spcPct val="118000"/>
              </a:lnSpc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 stores enriched, queryable data as the single source of truth for reporting.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84464" y="1481328"/>
            <a:ext cx="3264408" cy="3794760"/>
          </a:xfrm>
          <a:prstGeom prst="roundRect">
            <a:avLst>
              <a:gd name="adj" fmla="val 2241"/>
            </a:avLst>
          </a:prstGeom>
          <a:solidFill>
            <a:srgbClr val="F4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84464" y="1481328"/>
            <a:ext cx="3264408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8284464" y="1737360"/>
            <a:ext cx="3264408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467344" y="1481328"/>
            <a:ext cx="2898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/ CONSUMERS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85632" y="2194560"/>
            <a:ext cx="286207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Hub retrieves balances, transactions, and reports via MuleSoft APIs.</a:t>
            </a:r>
            <a:endParaRPr lang="en-US" sz="1150" dirty="0"/>
          </a:p>
          <a:p>
            <a:pPr marL="203200" indent="-203200">
              <a:lnSpc>
                <a:spcPct val="118000"/>
              </a:lnSpc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exports deliver data to downstream systems via the Couchbase SDK.</a:t>
            </a:r>
            <a:endParaRPr lang="en-US" sz="1150" dirty="0"/>
          </a:p>
          <a:p>
            <a:pPr marL="203200" indent="-203200">
              <a:lnSpc>
                <a:spcPct val="118000"/>
              </a:lnSpc>
              <a:spcAft>
                <a:spcPts val="1200"/>
              </a:spcAft>
              <a:buSzPct val="100000"/>
              <a:buChar char="●"/>
            </a:pPr>
            <a:r>
              <a:rPr lang="en-US" sz="11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RESTful API consumers access data through MuleSoft-brokered endpoints.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895344" y="3259836"/>
            <a:ext cx="329184" cy="237744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20" name="Shape 18"/>
          <p:cNvSpPr/>
          <p:nvPr/>
        </p:nvSpPr>
        <p:spPr>
          <a:xfrm>
            <a:off x="7900416" y="3259836"/>
            <a:ext cx="329184" cy="237744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544068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544068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9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ingestion patterns — real-time events, message queues, and batch files —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 in Couchbase as the central persistence layer, then fan out to consumers via MuleSoft.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6428232"/>
            <a:ext cx="1090879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 Overview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3327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ingestion pattern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0020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74520"/>
            <a:ext cx="338328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00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377440"/>
            <a:ext cx="28712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1400"/>
              </a:spcAft>
              <a:buSzPct val="100000"/>
              <a:buChar char="●"/>
            </a:pPr>
            <a:r>
              <a:rPr lang="en-US" sz="12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(FIS Core Banking): </a:t>
            </a:r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 for deposit accounts and core transaction processing.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F4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0" y="160020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1874520"/>
            <a:ext cx="338328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600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INTEGRATIONS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53712" y="2377440"/>
            <a:ext cx="28712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1400"/>
              </a:spcAft>
              <a:buSzPct val="100000"/>
              <a:buChar char="●"/>
            </a:pPr>
            <a:r>
              <a:rPr lang="en-US" sz="12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RTP / FedNow: </a:t>
            </a:r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payment rails processed through FIS OPF in real time.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1400"/>
              </a:spcAft>
              <a:buSzPct val="100000"/>
              <a:buChar char="●"/>
            </a:pPr>
            <a:r>
              <a:rPr lang="en-US" sz="12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Wires: </a:t>
            </a:r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inbound/outbound transfers confirmed via GPP advice messages.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1600200"/>
            <a:ext cx="3593592" cy="3017520"/>
          </a:xfrm>
          <a:prstGeom prst="roundRect">
            <a:avLst>
              <a:gd name="adj" fmla="val 2424"/>
            </a:avLst>
          </a:prstGeom>
          <a:solidFill>
            <a:srgbClr val="F4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955280" y="1600200"/>
            <a:ext cx="3593592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7955280" y="1874520"/>
            <a:ext cx="3593592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1600200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BATCH-BASED TPS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11312" y="2377440"/>
            <a:ext cx="30815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1400"/>
              </a:spcAft>
              <a:buSzPct val="100000"/>
              <a:buChar char="●"/>
            </a:pPr>
            <a:r>
              <a:rPr lang="en-US" sz="12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ACH: </a:t>
            </a:r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origination, receipt, and return transactions from FIS ACH Tracker.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1400"/>
              </a:spcAft>
              <a:buSzPct val="100000"/>
              <a:buChar char="●"/>
            </a:pPr>
            <a:r>
              <a:rPr lang="en-US" sz="12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Lockbox: </a:t>
            </a:r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summary files produced by Deluxe, loaded nightly.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1400"/>
              </a:spcAft>
              <a:buSzPct val="100000"/>
              <a:buChar char="●"/>
            </a:pPr>
            <a:r>
              <a:rPr lang="en-US" sz="12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Cards: </a:t>
            </a:r>
            <a:pPr indent="0" marL="0">
              <a:lnSpc>
                <a:spcPct val="118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transaction settlement captured through core batch processing.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93776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D9E3F5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44068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span three velocities —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(continuous), real-time payment rails (instant), and batch TPS (scheduled)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all converging into a single ingestion layer before reaching Couchbase.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6428232"/>
            <a:ext cx="1090879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 Layer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ingestion via Kafka — with commercial account filtering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38528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38528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IBS Event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51760" y="229057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7" name="Text 5"/>
          <p:cNvSpPr/>
          <p:nvPr/>
        </p:nvSpPr>
        <p:spPr>
          <a:xfrm>
            <a:off x="2148840" y="169164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Event – Real time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154680" y="1938528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1938528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Kafka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74920" y="229057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69164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Event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577840" y="1938528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B08D57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204825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24963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accounts only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040880" y="229057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69164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543800" y="1938528"/>
            <a:ext cx="2377440" cy="868680"/>
          </a:xfrm>
          <a:prstGeom prst="roundRect">
            <a:avLst>
              <a:gd name="adj" fmla="val 7368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193852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Couchbase DB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310128"/>
            <a:ext cx="1965960" cy="868680"/>
          </a:xfrm>
          <a:prstGeom prst="roundRect">
            <a:avLst>
              <a:gd name="adj" fmla="val 7368"/>
            </a:avLst>
          </a:prstGeom>
          <a:solidFill>
            <a:srgbClr val="F4F7FC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310128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 OPF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51760" y="366217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22" name="Text 20"/>
          <p:cNvSpPr/>
          <p:nvPr/>
        </p:nvSpPr>
        <p:spPr>
          <a:xfrm>
            <a:off x="2148840" y="306324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 – RTP Credit/Debit XML – Real time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154680" y="3310128"/>
            <a:ext cx="187452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3246120" y="3310128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Kafka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74920" y="366217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06324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RTP message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577840" y="3310128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B08D57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0" y="341985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38679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accounts only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040880" y="366217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306324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543800" y="3310128"/>
            <a:ext cx="2377440" cy="868680"/>
          </a:xfrm>
          <a:prstGeom prst="roundRect">
            <a:avLst>
              <a:gd name="adj" fmla="val 7368"/>
            </a:avLst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7635240" y="331012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Couchbase DB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427939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Deposits (top) and RTP / FedNow (bottom) are the two sources that stream through Kafka.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4754880"/>
            <a:ext cx="10908792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4754880"/>
            <a:ext cx="10360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9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isn't just a pass-through — it's the filtering checkpoint that scopes real-time events to commercial accounts before they ever reach Couchbase.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Wires, ACH, and Lockbox reach Couchbase through other real-time or batch paths, covered next in Mulesoft Inbound Integration.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080" y="6428232"/>
            <a:ext cx="1090879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Layer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Mulesoft Inbound Integration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broker for Wires &amp; ACH — universal outbound gateway to Business Hub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INBOUND: SOURCE → COUCHBASE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755648"/>
            <a:ext cx="1920240" cy="731520"/>
          </a:xfrm>
          <a:prstGeom prst="roundRect">
            <a:avLst>
              <a:gd name="adj" fmla="val 8750"/>
            </a:avLst>
          </a:prstGeom>
          <a:solidFill>
            <a:srgbClr val="F4F7F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5564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203911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150876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 – Wires Advice XML – Real time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108960" y="1755648"/>
            <a:ext cx="2011680" cy="731520"/>
          </a:xfrm>
          <a:prstGeom prst="roundRect">
            <a:avLst>
              <a:gd name="adj" fmla="val 875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75564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66360" y="203911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50876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trans data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69280" y="1755648"/>
            <a:ext cx="2377440" cy="731520"/>
          </a:xfrm>
          <a:prstGeom prst="roundRect">
            <a:avLst>
              <a:gd name="adj" fmla="val 875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17556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Couchbase DB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816352"/>
            <a:ext cx="2788920" cy="731520"/>
          </a:xfrm>
          <a:prstGeom prst="roundRect">
            <a:avLst>
              <a:gd name="adj" fmla="val 8750"/>
            </a:avLst>
          </a:prstGeom>
          <a:solidFill>
            <a:srgbClr val="F4F7F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816352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Tracker / IBS Event Broker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0" y="3099816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18" name="Text 16"/>
          <p:cNvSpPr/>
          <p:nvPr/>
        </p:nvSpPr>
        <p:spPr>
          <a:xfrm>
            <a:off x="2971800" y="256946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/ origination / return files; prefunding debit event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977640" y="2816352"/>
            <a:ext cx="2011680" cy="731520"/>
          </a:xfrm>
          <a:prstGeom prst="roundRect">
            <a:avLst>
              <a:gd name="adj" fmla="val 8750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4069080" y="281635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3099816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22" name="Text 20"/>
          <p:cNvSpPr/>
          <p:nvPr/>
        </p:nvSpPr>
        <p:spPr>
          <a:xfrm>
            <a:off x="5532120" y="256946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Trans. data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537960" y="2816352"/>
            <a:ext cx="2377440" cy="731520"/>
          </a:xfrm>
          <a:prstGeom prst="roundRect">
            <a:avLst>
              <a:gd name="adj" fmla="val 8750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281635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Couchbase DB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648456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OUTBOUND: COUCHBASE → BUSINESS HUB — CONSISTENT ACROSS EVERY SOURCE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4178808"/>
            <a:ext cx="2606040" cy="731520"/>
          </a:xfrm>
          <a:prstGeom prst="roundRect">
            <a:avLst>
              <a:gd name="adj" fmla="val 8750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17880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Couchbase DB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446227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29" name="Text 27"/>
          <p:cNvSpPr/>
          <p:nvPr/>
        </p:nvSpPr>
        <p:spPr>
          <a:xfrm>
            <a:off x="2788920" y="393192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794760" y="4178808"/>
            <a:ext cx="2011680" cy="731520"/>
          </a:xfrm>
          <a:prstGeom prst="roundRect">
            <a:avLst>
              <a:gd name="adj" fmla="val 8750"/>
            </a:avLst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3886200" y="417880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52160" y="446227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33" name="Text 31"/>
          <p:cNvSpPr/>
          <p:nvPr/>
        </p:nvSpPr>
        <p:spPr>
          <a:xfrm>
            <a:off x="5349240" y="393192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355080" y="4178808"/>
            <a:ext cx="2103120" cy="731520"/>
          </a:xfrm>
          <a:prstGeom prst="roundRect">
            <a:avLst>
              <a:gd name="adj" fmla="val 8750"/>
            </a:avLst>
          </a:prstGeom>
          <a:solidFill>
            <a:srgbClr val="F4F7FC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417880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Hub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495604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to: IBS  ·  RTP / FedNow  ·  Wires  ·  ACH  ·  Lockbox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5349240"/>
            <a:ext cx="10908792" cy="777240"/>
          </a:xfrm>
          <a:prstGeom prst="roundRect">
            <a:avLst>
              <a:gd name="adj" fmla="val 9412"/>
            </a:avLst>
          </a:prstGeom>
          <a:solidFill>
            <a:srgbClr val="D9E3F5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is the universal outbound gateway to Business Hub, and the direct inbound broker for Wires and ACH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two sources that bypass Kafka entirely.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6428232"/>
            <a:ext cx="1090879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Inbound Integration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Couchbase Platform: Cluster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Cluster: PRDCCDMAZCEN_001  —  Healthy  —  13/27 nodes across 4 service groups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GROUPS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72768"/>
          <a:ext cx="1090879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2377440"/>
                <a:gridCol w="1645920"/>
                <a:gridCol w="1463040"/>
                <a:gridCol w="231343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Group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Nodes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CPU / RAM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Disk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IOPS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Disk Type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04D"/>
                          </a:solidFill>
                        </a:rPr>
                        <a:t>Data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16 vCPU / 64GB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1024GB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5000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P30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04D"/>
                          </a:solidFill>
                        </a:rPr>
                        <a:t>Index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16 vCPU / 64GB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256GB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1100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P15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04D"/>
                          </a:solidFill>
                        </a:rPr>
                        <a:t>Query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16 vCPU / 64GB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64GB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240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P6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04D"/>
                          </a:solidFill>
                        </a:rPr>
                        <a:t>Eventing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8 vCPU / 32GB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128GB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500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P10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1272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ARCHITECTURE</a:t>
            </a:r>
            <a:endParaRPr lang="en-US" sz="11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401568"/>
          <a:ext cx="1090879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772400"/>
                <a:gridCol w="139903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Bucket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Scale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04D"/>
                          </a:solidFill>
                        </a:rPr>
                        <a:t>landing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Raw ingested data — batch EOD files, intraday TPS/MQ events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1.1M docs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04D"/>
                          </a:solidFill>
                        </a:rPr>
                        <a:t>process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Enriched &amp; reconciled data — BAI detail/status/summary, prior-day &amp; same-day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630K docs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04D"/>
                          </a:solidFill>
                        </a:rPr>
                        <a:t>semantic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Reporting-ready data — scheduled, standard, user-defined reports for Business Hub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04D"/>
                          </a:solidFill>
                        </a:rPr>
                        <a:t>history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7-day rolling reference copy of landing &amp; process data, for operational lookback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13.9M docs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4304D"/>
                          </a:solidFill>
                        </a:rPr>
                        <a:t>audit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Audit trail records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4304D"/>
                          </a:solidFill>
                        </a:rPr>
                        <a:t>1.1M docs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562356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B08D57"/>
          </a:solidFill>
          <a:ln/>
        </p:spPr>
      </p:sp>
      <p:sp>
        <p:nvSpPr>
          <p:cNvPr id="9" name="Text 5"/>
          <p:cNvSpPr/>
          <p:nvPr/>
        </p:nvSpPr>
        <p:spPr>
          <a:xfrm>
            <a:off x="914400" y="56235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history bucket holds a 7-day reference window of landing/process data for operational lookback — it is not the 7-year archive.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historical reporting is served from the Wintrust Data Warehouse via nightly EOD loads, not directly from Couchbase.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0080" y="6428232"/>
            <a:ext cx="1090879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 Platform: Cluster Overview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 &amp; Process: Scopes &amp; Collections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raw data becomes reconciled, BAI-enriched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148072" cy="3977640"/>
          </a:xfrm>
          <a:prstGeom prst="roundRect">
            <a:avLst>
              <a:gd name="adj" fmla="val 1839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5148072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27632"/>
            <a:ext cx="5148072" cy="2468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371600"/>
            <a:ext cx="4690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35040" y="1371600"/>
            <a:ext cx="5148072" cy="3977640"/>
          </a:xfrm>
          <a:prstGeom prst="roundRect">
            <a:avLst>
              <a:gd name="adj" fmla="val 1839"/>
            </a:avLst>
          </a:prstGeom>
          <a:solidFill>
            <a:srgbClr val="F4F7FC"/>
          </a:solidFill>
          <a:ln/>
        </p:spPr>
      </p:sp>
      <p:sp>
        <p:nvSpPr>
          <p:cNvPr id="9" name="Shape 7"/>
          <p:cNvSpPr/>
          <p:nvPr/>
        </p:nvSpPr>
        <p:spPr>
          <a:xfrm>
            <a:off x="6035040" y="1371600"/>
            <a:ext cx="5148072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6035040" y="1627632"/>
            <a:ext cx="5148072" cy="2468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371600"/>
            <a:ext cx="4690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96112" y="2084832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batch_eod scope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6112" y="2359152"/>
            <a:ext cx="46360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ach_origination_indv_to_settlement</a:t>
            </a:r>
            <a:endParaRPr lang="en-US" sz="103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ach_return</a:t>
            </a:r>
            <a:endParaRPr lang="en-US" sz="103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tran_cms_detail / tran_cms_status / tran_cms_summary</a:t>
            </a:r>
            <a:endParaRPr lang="en-US" sz="103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tran_deposit_detail / tran_deposit_status / tran_deposit_status_hist / tran_deposit_summary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896112" y="3886200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intraday scope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6112" y="4160520"/>
            <a:ext cx="46360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tps_events_deposits</a:t>
            </a:r>
            <a:endParaRPr lang="en-US" sz="1030" dirty="0"/>
          </a:p>
          <a:p>
            <a:pPr marL="203200" indent="-2032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tps_file_ach</a:t>
            </a:r>
            <a:endParaRPr lang="en-US" sz="1030" dirty="0"/>
          </a:p>
          <a:p>
            <a:pPr marL="203200" indent="-2032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tps_file_lockbox</a:t>
            </a:r>
            <a:endParaRPr lang="en-US" sz="1030" dirty="0"/>
          </a:p>
          <a:p>
            <a:pPr marL="203200" indent="-2032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tps_mq_opf</a:t>
            </a:r>
            <a:endParaRPr lang="en-US" sz="1030" dirty="0"/>
          </a:p>
          <a:p>
            <a:pPr marL="203200" indent="-2032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tps_mq_wires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291072" y="2084832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batch_eod scope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91072" y="2359152"/>
            <a:ext cx="46360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recon_matched</a:t>
            </a:r>
            <a:endParaRPr lang="en-US" sz="103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tran_bai_detail_priorday</a:t>
            </a:r>
            <a:endParaRPr lang="en-US" sz="103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tran_bai_status_priorday</a:t>
            </a:r>
            <a:endParaRPr lang="en-US" sz="103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tran_bai_summary_priorday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6291072" y="3886200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intraday scope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91072" y="4160520"/>
            <a:ext cx="46360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ach_intraday_match_queued</a:t>
            </a:r>
            <a:endParaRPr lang="en-US" sz="103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tran_bai_detail_sameday</a:t>
            </a:r>
            <a:endParaRPr lang="en-US" sz="103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tran_bai_status_sameday</a:t>
            </a:r>
            <a:endParaRPr lang="en-US" sz="1030" dirty="0"/>
          </a:p>
          <a:p>
            <a:pPr marL="203200" indent="-203200">
              <a:lnSpc>
                <a:spcPct val="118000"/>
              </a:lnSpc>
              <a:spcAft>
                <a:spcPts val="500"/>
              </a:spcAft>
              <a:buSzPct val="100000"/>
              <a:buChar char="●"/>
            </a:pPr>
            <a:r>
              <a:rPr lang="en-US" sz="103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tran_bai_summary_sameday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D9E3F5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48640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shows the transformation: </a:t>
            </a:r>
            <a:pPr indent="0" marL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tran_deposit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(landing) becomes </a:t>
            </a:r>
            <a:pPr indent="0" marL="0">
              <a:lnSpc>
                <a:spcPct val="120000"/>
              </a:lnSpc>
              <a:buNone/>
            </a:pPr>
            <a:r>
              <a:rPr lang="en-US" sz="1250" b="1" i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tran_bai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(process) — enriched to the BAI code level — split into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priorday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sameday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collections matching the client's reporting requirement.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6428232"/>
            <a:ext cx="1090879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&amp; Process: Scopes &amp; Collections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Semantic: Reporting Collections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3327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Business Hub actually queries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83280" cy="2697480"/>
          </a:xfrm>
          <a:prstGeom prst="roundRect">
            <a:avLst>
              <a:gd name="adj" fmla="val 2712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91640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93392"/>
            <a:ext cx="3383280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916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REPORTS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" y="246888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collection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2862072"/>
            <a:ext cx="2871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recurring reports delivered on a fixed schedule.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383280" cy="2697480"/>
          </a:xfrm>
          <a:prstGeom prst="roundRect">
            <a:avLst>
              <a:gd name="adj" fmla="val 2712"/>
            </a:avLst>
          </a:prstGeom>
          <a:solidFill>
            <a:srgbClr val="F4F7FC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1691640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1993392"/>
            <a:ext cx="3383280" cy="292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6916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REPORTS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53712" y="246888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collections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53712" y="2862072"/>
            <a:ext cx="2871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Out-of-the-box reports covering common commercial banking needs.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1691640"/>
            <a:ext cx="3593592" cy="2697480"/>
          </a:xfrm>
          <a:prstGeom prst="roundRect">
            <a:avLst>
              <a:gd name="adj" fmla="val 2712"/>
            </a:avLst>
          </a:prstGeom>
          <a:solidFill>
            <a:srgbClr val="F4F7FC"/>
          </a:solidFill>
          <a:ln/>
        </p:spPr>
      </p:sp>
      <p:sp>
        <p:nvSpPr>
          <p:cNvPr id="17" name="Shape 15"/>
          <p:cNvSpPr/>
          <p:nvPr/>
        </p:nvSpPr>
        <p:spPr>
          <a:xfrm>
            <a:off x="7955280" y="1691640"/>
            <a:ext cx="3593592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</p:sp>
      <p:sp>
        <p:nvSpPr>
          <p:cNvPr id="18" name="Shape 16"/>
          <p:cNvSpPr/>
          <p:nvPr/>
        </p:nvSpPr>
        <p:spPr>
          <a:xfrm>
            <a:off x="7955280" y="1993392"/>
            <a:ext cx="3593592" cy="29260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183880" y="1691640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REPORTS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11312" y="2468880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collections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11312" y="2862072"/>
            <a:ext cx="3081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reports configured to specific client or admin requirements.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709160"/>
            <a:ext cx="10908792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70916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9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semantic bucket is what Business Hub actually queries —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and custom reports built directly from the enriched process-layer data.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6428232"/>
            <a:ext cx="1090879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Semantic: Reporting Collections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Couchbase?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3327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theoretical capability — the actual mechanics behind DataHub today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08792" cy="3337560"/>
          </a:xfrm>
          <a:prstGeom prst="roundRect">
            <a:avLst>
              <a:gd name="adj" fmla="val 2192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1036015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Data Model: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IBS deposit JSON events, RTP/Wires XML messages, and ACH/Lockbox batch files into one document store — no rigid upfront schema across formats.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Real-Time Access: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Business Hub's prior-day/same-day balance visibility, sourced from Kafka-streamed IBS/RTP events filtered to commercial accounts.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Query + Search (N1QL):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BAI-code level reporting from the process bucket (tran_bai_detail/status/summary, priorday/sameday) into the semantic bucket's standard, scheduled, and user-defined reports.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Scalable Services: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Index / Query / Eventing service groups scale separately as commercial transaction volume grows (13/27 nodes currently provisioned).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Multi-Model, Single Platform: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landing → process → semantic lifecycle replaces what would otherwise be a separate staging DB, cache, and search engine.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1000"/>
              </a:spcAft>
              <a:buSzPct val="100000"/>
              <a:buChar char="●"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XDCR for Resilience: </a:t>
            </a:r>
            <a:pPr indent="0" marL="0">
              <a:lnSpc>
                <a:spcPct val="118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Central US ↔ East US2 replication gives Large Commercial/Corporate client data multi-region disaster recovery.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512064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5120640"/>
            <a:ext cx="10360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9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already load-bearing in this deck — the actual mechanics of how DataHub ingests, enriches, and serves commercial banking data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6428232"/>
            <a:ext cx="1090879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Couchbase?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Networking: Hub-and-Spoke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backbone in the middle, isolated environments around 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Data Centers (ELK-DC &amp; ASH-DC) — connected via redundant 10G-LR ExpressRoute circuits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52744" y="1463040"/>
            <a:ext cx="274320" cy="219456"/>
          </a:xfrm>
          <a:prstGeom prst="downArrow">
            <a:avLst/>
          </a:prstGeom>
          <a:solidFill>
            <a:srgbClr val="5A6B87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37360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470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1579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9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US 10.238.0.0/19  ·  East US2 10.239.0.0/19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2414016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connectivity &amp; security backbone — Virtual Network Gateway (ExpressRoute), vCSF firewalls, internal load balancer, and shared resource subscriptions.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272491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Peering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12848" y="2907792"/>
            <a:ext cx="237744" cy="182880"/>
          </a:xfrm>
          <a:prstGeom prst="downArrow">
            <a:avLst/>
          </a:prstGeom>
          <a:solidFill>
            <a:srgbClr val="5A6B87"/>
          </a:solidFill>
          <a:ln/>
        </p:spPr>
      </p:sp>
      <p:sp>
        <p:nvSpPr>
          <p:cNvPr id="12" name="Text 10"/>
          <p:cNvSpPr/>
          <p:nvPr/>
        </p:nvSpPr>
        <p:spPr>
          <a:xfrm>
            <a:off x="4402836" y="272491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Peering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75604" y="2907792"/>
            <a:ext cx="237744" cy="182880"/>
          </a:xfrm>
          <a:prstGeom prst="downArrow">
            <a:avLst/>
          </a:prstGeom>
          <a:solidFill>
            <a:srgbClr val="5A6B87"/>
          </a:solidFill>
          <a:ln/>
        </p:spPr>
      </p:sp>
      <p:sp>
        <p:nvSpPr>
          <p:cNvPr id="14" name="Text 12"/>
          <p:cNvSpPr/>
          <p:nvPr/>
        </p:nvSpPr>
        <p:spPr>
          <a:xfrm>
            <a:off x="8165592" y="272491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Peering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738360" y="2907792"/>
            <a:ext cx="237744" cy="182880"/>
          </a:xfrm>
          <a:prstGeom prst="downArrow">
            <a:avLst/>
          </a:prstGeom>
          <a:solidFill>
            <a:srgbClr val="5A6B87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20040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20040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429000"/>
            <a:ext cx="338328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SPOKE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37124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Central-10.238.64.0/20  ·  East US2-10.239.64.0/20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40690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 Production subscriptions per application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02836" y="320040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</p:spPr>
      </p:sp>
      <p:sp>
        <p:nvSpPr>
          <p:cNvPr id="23" name="Shape 21"/>
          <p:cNvSpPr/>
          <p:nvPr/>
        </p:nvSpPr>
        <p:spPr>
          <a:xfrm>
            <a:off x="4402836" y="320040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4402836" y="3429000"/>
            <a:ext cx="338328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4585716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UAT/QA SPOKE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85716" y="37124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Central-10.238.32.0/20  ·  East US2-10.239.32.0/20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85716" y="40690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UAT/QA subscriptions per application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165592" y="320040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</p:spPr>
      </p:sp>
      <p:sp>
        <p:nvSpPr>
          <p:cNvPr id="29" name="Shape 27"/>
          <p:cNvSpPr/>
          <p:nvPr/>
        </p:nvSpPr>
        <p:spPr>
          <a:xfrm>
            <a:off x="8165592" y="320040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30" name="Shape 28"/>
          <p:cNvSpPr/>
          <p:nvPr/>
        </p:nvSpPr>
        <p:spPr>
          <a:xfrm>
            <a:off x="8165592" y="3429000"/>
            <a:ext cx="338328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348472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SPOKE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348472" y="371246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ELK-10.235.32.0/20  ·  ASH-10.236.32.0/20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48472" y="40690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subscriptions per application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4480560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Spokes never connect directly to each other — only to the Hub.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489204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D9E3F5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489204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hub-spoke model centralizes connectivity and security once in the Hub,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keeping Prod, UAT/QA, and Dev fully isolated from each other — each spoke only talks to the Hub, never directly to another spoke.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40080" y="6428232"/>
            <a:ext cx="1090879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Networking: Hub-and-Spoke Model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DataHub Communicates: A Real Example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8696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path converges through the Hub before reaching Couchbase — nothing arrives directly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A: CONFLUENT → COUCHBASE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819656"/>
            <a:ext cx="2194560" cy="777240"/>
          </a:xfrm>
          <a:prstGeom prst="roundRect">
            <a:avLst>
              <a:gd name="adj" fmla="val 8235"/>
            </a:avLst>
          </a:prstGeom>
          <a:solidFill>
            <a:srgbClr val="F4F7F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19656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Cloud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80360" y="2125980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157276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Link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83280" y="1819656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819656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(Internal LB)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06440" y="2125980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0" y="157276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Peering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309360" y="1819656"/>
            <a:ext cx="2194560" cy="777240"/>
          </a:xfrm>
          <a:prstGeom prst="roundRect">
            <a:avLst>
              <a:gd name="adj" fmla="val 8235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819656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Spoke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49640" y="2125980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0" y="157276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Link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052560" y="1819656"/>
            <a:ext cx="219456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0" y="1819656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28346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B: MULESOFT → COUCHBASE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355848"/>
            <a:ext cx="2194560" cy="777240"/>
          </a:xfrm>
          <a:prstGeom prst="roundRect">
            <a:avLst>
              <a:gd name="adj" fmla="val 8235"/>
            </a:avLst>
          </a:prstGeom>
          <a:solidFill>
            <a:srgbClr val="F4F7FC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35584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(SaaS)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880360" y="366217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23" name="Text 21"/>
          <p:cNvSpPr/>
          <p:nvPr/>
        </p:nvSpPr>
        <p:spPr>
          <a:xfrm>
            <a:off x="2377440" y="310896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+ Firewall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83280" y="3355848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335584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(Internal LB)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06440" y="366217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310896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vNet Peering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309360" y="3355848"/>
            <a:ext cx="2194560" cy="777240"/>
          </a:xfrm>
          <a:prstGeom prst="roundRect">
            <a:avLst>
              <a:gd name="adj" fmla="val 8235"/>
            </a:avLst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335584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Spoke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549640" y="366217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0" y="310896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Link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052560" y="3355848"/>
            <a:ext cx="219456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0" y="335584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42976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MuleSoft's traffic enters through the Hub's vCSF firewall; Confluent's enters via Private Link. Both then travel the identical private, peered path into the Prod spoke.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4864608"/>
            <a:ext cx="10908792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4864608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9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MuleSoft's internet-facing API traffic is firewalled at the Hub boundary, then travels the same private, peered path as Confluent's streamed events.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service reaches Couchbase directly from the public internet — everything converges through the Hub first.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080" y="6428232"/>
            <a:ext cx="1090879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DataHub Communicates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Link &amp; Environment Addressing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Couchbase, Confluent, and Informatica each connect into the Hub via dedicated Private Link endpoints per environment (Prod / UAT-QA / Dev) — traffic never touches the public internet.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914400"/>
        </p:xfrm>
        <a:graphic>
          <a:graphicData uri="http://schemas.openxmlformats.org/drawingml/2006/table">
            <a:tbl>
              <a:tblPr/>
              <a:tblGrid>
                <a:gridCol w="2130552"/>
                <a:gridCol w="2194560"/>
                <a:gridCol w="219456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Environment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DataHub (ELK)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DataHub (ASH)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IDMC (ELK)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IDMC (ASH)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4304D"/>
                          </a:solidFill>
                        </a:rPr>
                        <a:t>PROD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04D"/>
                          </a:solidFill>
                        </a:rPr>
                        <a:t>10.238.64.0/26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04D"/>
                          </a:solidFill>
                        </a:rPr>
                        <a:t>10.239.64.0/26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04D"/>
                          </a:solidFill>
                        </a:rPr>
                        <a:t>10.238.78.0/26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04D"/>
                          </a:solidFill>
                        </a:rPr>
                        <a:t>10.239.78.0/26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4304D"/>
                          </a:solidFill>
                        </a:rPr>
                        <a:t>UAT/QA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04D"/>
                          </a:solidFill>
                        </a:rPr>
                        <a:t>10.238.32.0/26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04D"/>
                          </a:solidFill>
                        </a:rPr>
                        <a:t>10.239.32.0/26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04D"/>
                          </a:solidFill>
                        </a:rPr>
                        <a:t>10.238.46.0/26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04D"/>
                          </a:solidFill>
                        </a:rPr>
                        <a:t>10.239.46.0/26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4304D"/>
                          </a:solidFill>
                        </a:rPr>
                        <a:t>DEV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04D"/>
                          </a:solidFill>
                        </a:rPr>
                        <a:t>10.238.48.0/24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04D"/>
                          </a:solidFill>
                        </a:rPr>
                        <a:t>10.239.48.0/24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04D"/>
                          </a:solidFill>
                        </a:rPr>
                        <a:t>10.235.32.0/27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4304D"/>
                          </a:solidFill>
                        </a:rPr>
                        <a:t>10.236.32.0/27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703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Link endpoints by source system: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4041648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Couchbase: </a:t>
            </a:r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Private Link, QA/UAT Private Link, Dev Private Link — one dedicated endpoint per environment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Confluent: </a:t>
            </a:r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Private Link, QA/UAT Private Link, Dev Private Link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lang="en-US" sz="12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Informatica (IDMC): </a:t>
            </a:r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Private Link, QA/UAT Private Link, Dev Private Link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0080" y="516636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D9E3F5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51663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secure backbone underneath everything covered so far — every source-to-Couchbase and Couchbase-to-Business Hub path in this deck rides on this Private Link + ExpressRoute foundation.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6428232"/>
            <a:ext cx="1090879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Link &amp; Environment Addressing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Architecture Matters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3327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 down without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85232" cy="3063240"/>
          </a:xfrm>
          <a:prstGeom prst="roundRect">
            <a:avLst>
              <a:gd name="adj" fmla="val 2388"/>
            </a:avLst>
          </a:prstGeom>
          <a:solidFill>
            <a:srgbClr val="F4F7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00200"/>
            <a:ext cx="5285232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74520"/>
            <a:ext cx="5285232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00200"/>
            <a:ext cx="4828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HUB-SPOKE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377440"/>
            <a:ext cx="477316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spoke needs its own direct connection to on-prem and every shared service — connection sprawl instead of one shared backbone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natural isolation — a Dev misconfiguration could expose a path toward Prod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policy duplicated per environment instead of centralized once in the Hub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285232" cy="3063240"/>
          </a:xfrm>
          <a:prstGeom prst="roundRect">
            <a:avLst>
              <a:gd name="adj" fmla="val 2388"/>
            </a:avLst>
          </a:prstGeom>
          <a:solidFill>
            <a:srgbClr val="F4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6263640" y="1600200"/>
            <a:ext cx="5285232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6263640" y="1874520"/>
            <a:ext cx="5285232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600200"/>
            <a:ext cx="4828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PRIVATE LINK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19672" y="2377440"/>
            <a:ext cx="477316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8000"/>
              </a:lnSpc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 / Couchbase / Informatica traffic would traverse the public internet to reach the Hub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banking data exposed to internet attack surface</a:t>
            </a:r>
            <a:endParaRPr lang="en-US" sz="1200" dirty="0"/>
          </a:p>
          <a:p>
            <a:pPr marL="203200" indent="-203200">
              <a:lnSpc>
                <a:spcPct val="118000"/>
              </a:lnSpc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meet compliance expectations for private, non-internet-routable financial data paths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892040"/>
            <a:ext cx="10908792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89204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9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 plus Private Link together mean commercial banking data never touches the public internet,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every environment is isolated by design — not by convention.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6428232"/>
            <a:ext cx="1090879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Architecture Matters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Flow Recap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picture — from source to Business Hub, and who owns what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2286000" cy="914400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739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267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IBS · RTP/FedNow · Wires · ACH · Lockbox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971800" y="203911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141732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/ MuleSoft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74720" y="1664208"/>
            <a:ext cx="2286000" cy="914400"/>
          </a:xfrm>
          <a:prstGeom prst="roundRect">
            <a:avLst>
              <a:gd name="adj" fmla="val 7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7739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+ MuleSoft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2267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(filtered) &amp; MuleSoft inbound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06440" y="203911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141732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enrich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309360" y="1664208"/>
            <a:ext cx="2286000" cy="9144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7739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2267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→ process → semantic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641080" y="2039112"/>
            <a:ext cx="411480" cy="164592"/>
          </a:xfrm>
          <a:prstGeom prst="rightArrow">
            <a:avLst/>
          </a:prstGeom>
          <a:solidFill>
            <a:srgbClr val="5A6B87"/>
          </a:solidFill>
          <a:ln/>
        </p:spPr>
      </p:sp>
      <p:sp>
        <p:nvSpPr>
          <p:cNvPr id="18" name="Text 16"/>
          <p:cNvSpPr/>
          <p:nvPr/>
        </p:nvSpPr>
        <p:spPr>
          <a:xfrm>
            <a:off x="8138160" y="141732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API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144000" y="1664208"/>
            <a:ext cx="2286000" cy="914400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/>
        </p:spPr>
      </p:sp>
      <p:sp>
        <p:nvSpPr>
          <p:cNvPr id="20" name="Text 18"/>
          <p:cNvSpPr/>
          <p:nvPr/>
        </p:nvSpPr>
        <p:spPr>
          <a:xfrm>
            <a:off x="9235440" y="17739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Hub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235440" y="22677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MuleSoft API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267004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in motion travels through the Hub-and-Spoke network via Private Link — see Networking.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3063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OWNERSHIP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3364992"/>
            <a:ext cx="5285232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" y="34930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HUB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6112" y="3785616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operated by FIS — the client-facing portal for balances, transactions, reports, and search.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63640" y="3364992"/>
            <a:ext cx="5285232" cy="1325880"/>
          </a:xfrm>
          <a:prstGeom prst="roundRect">
            <a:avLst>
              <a:gd name="adj" fmla="val 5517"/>
            </a:avLst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6519672" y="34930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DATAHUB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19672" y="3785616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operated by Wintrust Enterprise DM — acquires, streams, integrates, and persists data in Couchbase for Business Hub to consume.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4937760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D9E3F5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4937760"/>
            <a:ext cx="10360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five source systems to one client-facing portal: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filtered, enriched, and reconciled through Couchbase, delivered through MuleSoft, and secured end-to-end by the Hub-and-Spoke network — this is DataHub.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" y="6428232"/>
            <a:ext cx="10908792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Recap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891272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Wintrust Commercial Banking  | 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2026-08-07T16:40:49Z</dcterms:created>
  <dcterms:modified xsi:type="dcterms:W3CDTF">2026-08-07T16:40:49Z</dcterms:modified>
</cp:coreProperties>
</file>