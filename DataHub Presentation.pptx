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1828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182880"/>
            <a:ext cx="1463040" cy="1371600"/>
          </a:xfrm>
          <a:prstGeom prst="rect">
            <a:avLst/>
          </a:prstGeom>
          <a:solidFill>
            <a:srgbClr val="3A7BD5">
              <a:alpha val="40000"/>
            </a:srgbClr>
          </a:solidFill>
          <a:ln w="12700">
            <a:solidFill>
              <a:srgbClr val="3A7BD5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960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300" kern="0" dirty="0">
                <a:solidFill>
                  <a:srgbClr val="8F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MODERNIZATION INITIATIVE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40080" y="132588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Hub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Architecture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640080" y="2852928"/>
            <a:ext cx="4114800" cy="36576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01752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F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FIS IBS Events to Couchbase — A Streaming-First Approach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44348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Data Engineering  |  Leadership Review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1605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64008" cy="1143000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97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A7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10972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We're Modernizing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55448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 by your teammate — business drivers &amp; legacy limitations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2304288"/>
            <a:ext cx="41605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304288"/>
            <a:ext cx="64008" cy="1143000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39572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A7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05840" y="239572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Event Ingestion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285292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 IBS → Confluent Cloud — how banking events flow in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3602736"/>
            <a:ext cx="41605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602736"/>
            <a:ext cx="64008" cy="1143000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694176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A7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05840" y="369417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Connect: Bridge to Couchbase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4151376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Confluent as source, Couchbase Capella as sink — landing layer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800600" y="1005840"/>
            <a:ext cx="41605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1005840"/>
            <a:ext cx="64008" cy="1143000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1097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A7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440680" y="10972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Processing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37760" y="155448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Couchbase eventing functions — landing → process → semantic layers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800600" y="2304288"/>
            <a:ext cx="41605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00600" y="2304288"/>
            <a:ext cx="64008" cy="1143000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239572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A7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440680" y="239572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Nightly Reconciliation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37760" y="285292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process — ensuring data integrity and correctness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00600" y="3602736"/>
            <a:ext cx="41605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00600" y="3602736"/>
            <a:ext cx="64008" cy="1143000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0" y="3694176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A7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440680" y="369417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Benefits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937760" y="4151376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Resilience, scalability, and real-time insight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Architecture Overview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1188720" cy="292608"/>
          </a:xfrm>
          <a:prstGeom prst="rect">
            <a:avLst/>
          </a:prstGeom>
          <a:solidFill>
            <a:srgbClr val="E87040"/>
          </a:solidFill>
          <a:ln w="12700">
            <a:solidFill>
              <a:srgbClr val="E870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207008"/>
            <a:ext cx="1188720" cy="1124712"/>
          </a:xfrm>
          <a:prstGeom prst="rect">
            <a:avLst/>
          </a:prstGeom>
          <a:solidFill>
            <a:srgbClr val="1E2761"/>
          </a:solidFill>
          <a:ln w="19050">
            <a:solidFill>
              <a:srgbClr val="E870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3444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 IBS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System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7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of Truth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554480" y="2011680"/>
            <a:ext cx="384048" cy="0"/>
          </a:xfrm>
          <a:prstGeom prst="line">
            <a:avLst/>
          </a:prstGeom>
          <a:noFill/>
          <a:ln w="25400">
            <a:solidFill>
              <a:srgbClr val="8FA8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29968" y="914400"/>
            <a:ext cx="1188720" cy="292608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29968" y="1207008"/>
            <a:ext cx="1188720" cy="1124712"/>
          </a:xfrm>
          <a:prstGeom prst="rect">
            <a:avLst/>
          </a:prstGeom>
          <a:solidFill>
            <a:srgbClr val="1E2761"/>
          </a:solidFill>
          <a:ln w="19050">
            <a:solidFill>
              <a:srgbClr val="3A7BD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75688" y="123444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Confluent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075688" y="18288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7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Streaming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64408" y="2011680"/>
            <a:ext cx="384048" cy="0"/>
          </a:xfrm>
          <a:prstGeom prst="line">
            <a:avLst/>
          </a:prstGeom>
          <a:noFill/>
          <a:ln w="25400">
            <a:solidFill>
              <a:srgbClr val="8FA8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39896" y="914400"/>
            <a:ext cx="1188720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39896" y="1207008"/>
            <a:ext cx="1188720" cy="1124712"/>
          </a:xfrm>
          <a:prstGeom prst="rect">
            <a:avLst/>
          </a:prstGeom>
          <a:solidFill>
            <a:srgbClr val="1E2761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85616" y="123444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785616" y="18288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Sink Connector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974336" y="2011680"/>
            <a:ext cx="384048" cy="0"/>
          </a:xfrm>
          <a:prstGeom prst="line">
            <a:avLst/>
          </a:prstGeom>
          <a:noFill/>
          <a:ln w="25400">
            <a:solidFill>
              <a:srgbClr val="8FA8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49824" y="914400"/>
            <a:ext cx="1188720" cy="292608"/>
          </a:xfrm>
          <a:prstGeom prst="rect">
            <a:avLst/>
          </a:prstGeom>
          <a:solidFill>
            <a:srgbClr val="1A936F"/>
          </a:solidFill>
          <a:ln w="12700">
            <a:solidFill>
              <a:srgbClr val="1A936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49824" y="1207008"/>
            <a:ext cx="1188720" cy="1124712"/>
          </a:xfrm>
          <a:prstGeom prst="rect">
            <a:avLst/>
          </a:prstGeom>
          <a:solidFill>
            <a:srgbClr val="1E2761"/>
          </a:solidFill>
          <a:ln w="19050">
            <a:solidFill>
              <a:srgbClr val="1A936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95544" y="123444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Couchbase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Capella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495544" y="18288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9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NoSQL Cloud DB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684264" y="2011680"/>
            <a:ext cx="384048" cy="0"/>
          </a:xfrm>
          <a:prstGeom prst="line">
            <a:avLst/>
          </a:prstGeom>
          <a:noFill/>
          <a:ln w="25400">
            <a:solidFill>
              <a:srgbClr val="8FA8D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59752" y="914400"/>
            <a:ext cx="1188720" cy="292608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59752" y="1207008"/>
            <a:ext cx="1188720" cy="1124712"/>
          </a:xfrm>
          <a:prstGeom prst="rect">
            <a:avLst/>
          </a:prstGeom>
          <a:solidFill>
            <a:srgbClr val="1E2761"/>
          </a:solidFill>
          <a:ln w="19050">
            <a:solidFill>
              <a:srgbClr val="8E44A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05472" y="123444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/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205472" y="18288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MuleSoft &amp; BI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65760" y="2560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8F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Couchbase Three-Layer Architecture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011680" y="2926080"/>
            <a:ext cx="1828800" cy="1005840"/>
          </a:xfrm>
          <a:prstGeom prst="rect">
            <a:avLst/>
          </a:prstGeom>
          <a:solidFill>
            <a:srgbClr val="141A45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011680" y="2926080"/>
            <a:ext cx="1828800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057400" y="294436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Layer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2057400" y="3182112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IBS events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as-received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840480" y="3429000"/>
            <a:ext cx="274320" cy="0"/>
          </a:xfrm>
          <a:prstGeom prst="line">
            <a:avLst/>
          </a:prstGeom>
          <a:noFill/>
          <a:ln w="19050">
            <a:solidFill>
              <a:srgbClr val="8FA8D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114800" y="2926080"/>
            <a:ext cx="1828800" cy="1005840"/>
          </a:xfrm>
          <a:prstGeom prst="rect">
            <a:avLst/>
          </a:prstGeom>
          <a:solidFill>
            <a:srgbClr val="141A45"/>
          </a:solidFill>
          <a:ln w="19050">
            <a:solidFill>
              <a:srgbClr val="3A7BD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114800" y="2926080"/>
            <a:ext cx="1828800" cy="201168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60520" y="294436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Layer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160520" y="3182112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Enriched &amp; transformed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data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943600" y="3429000"/>
            <a:ext cx="274320" cy="0"/>
          </a:xfrm>
          <a:prstGeom prst="line">
            <a:avLst/>
          </a:prstGeom>
          <a:noFill/>
          <a:ln w="19050">
            <a:solidFill>
              <a:srgbClr val="8FA8D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217920" y="2926080"/>
            <a:ext cx="1828800" cy="1005840"/>
          </a:xfrm>
          <a:prstGeom prst="rect">
            <a:avLst/>
          </a:prstGeom>
          <a:solidFill>
            <a:srgbClr val="141A45"/>
          </a:solidFill>
          <a:ln w="19050">
            <a:solidFill>
              <a:srgbClr val="1A936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217920" y="2926080"/>
            <a:ext cx="1828800" cy="201168"/>
          </a:xfrm>
          <a:prstGeom prst="rect">
            <a:avLst/>
          </a:prstGeom>
          <a:solidFill>
            <a:srgbClr val="1A936F"/>
          </a:solidFill>
          <a:ln w="12700">
            <a:solidFill>
              <a:srgbClr val="1A936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63640" y="294436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Layer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263640" y="3182112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Curated, query-ready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APIs &amp; reporting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840480" y="35478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7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Eventing Function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943600" y="35478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7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Eventing Function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Real-Time Event Ingestion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50292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64008" cy="1170432"/>
          </a:xfrm>
          <a:prstGeom prst="rect">
            <a:avLst/>
          </a:prstGeom>
          <a:solidFill>
            <a:srgbClr val="E87040"/>
          </a:solidFill>
          <a:ln w="12700">
            <a:solidFill>
              <a:srgbClr val="E870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515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 IBS — The Core Banking System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380744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deposit, payment, and transaction events originate from FIS IBS. Any state change — a new deposit, a balance update, a wire transfer — triggers a banking event.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65760" y="2286000"/>
            <a:ext cx="50292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286000"/>
            <a:ext cx="64008" cy="1170432"/>
          </a:xfrm>
          <a:prstGeom prst="rect">
            <a:avLst/>
          </a:prstGeom>
          <a:solidFill>
            <a:srgbClr val="E87040"/>
          </a:solidFill>
          <a:ln w="12700">
            <a:solidFill>
              <a:srgbClr val="E870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3774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Published to Confluent Cloud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706624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IBS writes these events in real time to Confluent Cloud Kafka topics. Each event type (e.g., DepositPosted, BalanceUpdated) lands on its designated topic, partitioned for parallel consumption.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3611880"/>
            <a:ext cx="50292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3611880"/>
            <a:ext cx="64008" cy="1170432"/>
          </a:xfrm>
          <a:prstGeom prst="rect">
            <a:avLst/>
          </a:prstGeom>
          <a:solidFill>
            <a:srgbClr val="E87040"/>
          </a:solidFill>
          <a:ln w="12700">
            <a:solidFill>
              <a:srgbClr val="E870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7033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Confluent Cloud?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4032504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Confluent provides a fully managed, enterprise-grade Kafka backbone with schema registry, dead-letter queuing, and audit-grade retention — critical for banking-grade compliance.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760720" y="960120"/>
            <a:ext cx="3017520" cy="868680"/>
          </a:xfrm>
          <a:prstGeom prst="rect">
            <a:avLst/>
          </a:prstGeom>
          <a:solidFill>
            <a:srgbClr val="E87040"/>
          </a:solidFill>
          <a:ln w="12700">
            <a:solidFill>
              <a:srgbClr val="E870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52160" y="1033272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 IBS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(Core Banking)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269480" y="1828800"/>
            <a:ext cx="0" cy="274320"/>
          </a:xfrm>
          <a:prstGeom prst="line">
            <a:avLst/>
          </a:prstGeom>
          <a:noFill/>
          <a:ln w="25400">
            <a:solidFill>
              <a:srgbClr val="8FA8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86600" y="18928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760720" y="2057400"/>
            <a:ext cx="3017520" cy="868680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52160" y="2130552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Confluent Cloud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(Kafka Topics)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269480" y="2926080"/>
            <a:ext cx="0" cy="274320"/>
          </a:xfrm>
          <a:prstGeom prst="line">
            <a:avLst/>
          </a:prstGeom>
          <a:noFill/>
          <a:ln w="25400">
            <a:solidFill>
              <a:srgbClr val="8FA8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86600" y="299008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760720" y="3154680"/>
            <a:ext cx="3017520" cy="914400"/>
          </a:xfrm>
          <a:prstGeom prst="rect">
            <a:avLst/>
          </a:prstGeom>
          <a:solidFill>
            <a:srgbClr val="028090">
              <a:alpha val="20000"/>
            </a:srgbClr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52160" y="3227832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IBS.Deposit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IBS.Payment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IBS.Balance...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760720" y="309067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Topics: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Kafka Connect: Bridge to Couchbase Landing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2194560" cy="1645920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515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Confluent Cloud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508760"/>
            <a:ext cx="19202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IBS.Deposits topic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IBS.Payments topic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IBS.Balances topic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...more event types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91840" y="1234440"/>
            <a:ext cx="2560320" cy="12801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0" y="12344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Connect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83280" y="169164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Couchbase Sink Connector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Reads from Confluent topics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Maps topic → Couchbase bucket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Handles schema translation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537960" y="1051560"/>
            <a:ext cx="2240280" cy="1645920"/>
          </a:xfrm>
          <a:prstGeom prst="rect">
            <a:avLst/>
          </a:prstGeom>
          <a:solidFill>
            <a:srgbClr val="1A936F"/>
          </a:solidFill>
          <a:ln w="12700">
            <a:solidFill>
              <a:srgbClr val="1A936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105156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Couchbase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Bucket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629400" y="1691640"/>
            <a:ext cx="2011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F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Raw event documents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8F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Immutable, as-received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8F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Indexed for eventing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8F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Dual-region replicated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560320" y="1874520"/>
            <a:ext cx="73152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1737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852160" y="1874520"/>
            <a:ext cx="68580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1737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3017520"/>
            <a:ext cx="2011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5488" y="30632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Real-Time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" y="3346704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flow within milliseconds of being written to Confluent — no polling, no batch delays.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560320" y="3017520"/>
            <a:ext cx="2011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670048" y="30632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Reliable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670048" y="3346704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Connect provides at-least-once delivery guarantees with retry and dead-letter queue support.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754880" y="3017520"/>
            <a:ext cx="2011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64608" y="30632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Secure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64608" y="3346704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in transit via TLS. Couchbase Capella enforces RBAC at bucket and collection level.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949440" y="3017520"/>
            <a:ext cx="2011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059168" y="30632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Observable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059168" y="3346704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 lag, throughput, and error rates monitored in Confluent Control Center.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Event-Driven Processing: The Three-Layer Architecture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365760" y="896112"/>
            <a:ext cx="274320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96112"/>
            <a:ext cx="2743200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9611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Layer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26187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Ingestion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746504"/>
            <a:ext cx="109728" cy="1097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682496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raw IBS events exactly as emitted from Confluent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2276856"/>
            <a:ext cx="109728" cy="1097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212848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are written by Kafka Connect automatically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" y="2807208"/>
            <a:ext cx="109728" cy="1097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743200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Serves as immutable audit log — data is never altered here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" y="3337560"/>
            <a:ext cx="109728" cy="1097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273552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mutation to a landing document triggers eventing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4270248"/>
            <a:ext cx="2743200" cy="329184"/>
          </a:xfrm>
          <a:prstGeom prst="rect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270248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CONNECT writes here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127248" y="228600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F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3310128" y="896112"/>
            <a:ext cx="274320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310128" y="896112"/>
            <a:ext cx="2743200" cy="685800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01568" y="89611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Layer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401568" y="126187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&amp; Enrichment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493008" y="1746504"/>
            <a:ext cx="109728" cy="109728"/>
          </a:xfrm>
          <a:prstGeom prst="ellipse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75888" y="1682496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Eventing Function listens for mutations on landing documents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493008" y="2276856"/>
            <a:ext cx="109728" cy="109728"/>
          </a:xfrm>
          <a:prstGeom prst="ellipse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75888" y="2212848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Transforms, enriches, and validates the raw event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493008" y="2807208"/>
            <a:ext cx="109728" cy="109728"/>
          </a:xfrm>
          <a:prstGeom prst="ellipse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75888" y="2743200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business rules — account lookups, categorization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493008" y="3337560"/>
            <a:ext cx="109728" cy="109728"/>
          </a:xfrm>
          <a:prstGeom prst="ellipse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75888" y="3273552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structured, enriched documents for downstream use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310128" y="4270248"/>
            <a:ext cx="2743200" cy="329184"/>
          </a:xfrm>
          <a:prstGeom prst="rect">
            <a:avLst/>
          </a:prstGeom>
          <a:solidFill>
            <a:srgbClr val="3A7BD5">
              <a:alpha val="15000"/>
            </a:srgbClr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01568" y="4270248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3A7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EVENTING FUNCTION 1 populates here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071616" y="228600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F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6254496" y="896112"/>
            <a:ext cx="274320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254496" y="896112"/>
            <a:ext cx="2743200" cy="685800"/>
          </a:xfrm>
          <a:prstGeom prst="rect">
            <a:avLst/>
          </a:prstGeom>
          <a:solidFill>
            <a:srgbClr val="1A936F"/>
          </a:solidFill>
          <a:ln w="12700">
            <a:solidFill>
              <a:srgbClr val="1A936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45936" y="89611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Layer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345936" y="126187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Output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437376" y="1746504"/>
            <a:ext cx="109728" cy="109728"/>
          </a:xfrm>
          <a:prstGeom prst="ellipse">
            <a:avLst/>
          </a:prstGeom>
          <a:solidFill>
            <a:srgbClr val="1A936F"/>
          </a:solidFill>
          <a:ln w="12700">
            <a:solidFill>
              <a:srgbClr val="1A936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20256" y="1682496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Eventing Function fires on process layer mutations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437376" y="2276856"/>
            <a:ext cx="109728" cy="109728"/>
          </a:xfrm>
          <a:prstGeom prst="ellipse">
            <a:avLst/>
          </a:prstGeom>
          <a:solidFill>
            <a:srgbClr val="1A936F"/>
          </a:solidFill>
          <a:ln w="12700">
            <a:solidFill>
              <a:srgbClr val="1A936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20256" y="2212848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clean, consumer-ready documents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437376" y="2807208"/>
            <a:ext cx="109728" cy="109728"/>
          </a:xfrm>
          <a:prstGeom prst="ellipse">
            <a:avLst/>
          </a:prstGeom>
          <a:solidFill>
            <a:srgbClr val="1A936F"/>
          </a:solidFill>
          <a:ln w="12700">
            <a:solidFill>
              <a:srgbClr val="1A936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20256" y="2743200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for API reads — MuleSoft queries this layer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437376" y="3337560"/>
            <a:ext cx="109728" cy="109728"/>
          </a:xfrm>
          <a:prstGeom prst="ellipse">
            <a:avLst/>
          </a:prstGeom>
          <a:solidFill>
            <a:srgbClr val="1A936F"/>
          </a:solidFill>
          <a:ln w="12700">
            <a:solidFill>
              <a:srgbClr val="1A936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620256" y="3273552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real-time dashboards, reporting, and analytics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254496" y="4270248"/>
            <a:ext cx="2743200" cy="329184"/>
          </a:xfrm>
          <a:prstGeom prst="rect">
            <a:avLst/>
          </a:prstGeom>
          <a:solidFill>
            <a:srgbClr val="1A936F">
              <a:alpha val="15000"/>
            </a:srgbClr>
          </a:solidFill>
          <a:ln w="12700">
            <a:solidFill>
              <a:srgbClr val="1A936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45936" y="4270248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1A9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EVENTING FUNCTION 2 populates here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Nightly Batch Reconciliation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every night?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353312"/>
            <a:ext cx="50292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5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1517904"/>
            <a:ext cx="457200" cy="457200"/>
          </a:xfrm>
          <a:prstGeom prst="ellipse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517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426464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Job Triggers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1719072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scheduled job (Stonebranch / scheduler) kicks off at a configured time, typically after close-of-business.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2267712"/>
            <a:ext cx="50292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5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84048" y="2432304"/>
            <a:ext cx="457200" cy="457200"/>
          </a:xfrm>
          <a:prstGeom prst="ellipse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24323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2340864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Landing vs Semantic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05840" y="2633472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job reconciles the raw events in the Landing layer against what was processed and stored in the Semantic layer.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3182112"/>
            <a:ext cx="50292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5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84048" y="3346704"/>
            <a:ext cx="457200" cy="457200"/>
          </a:xfrm>
          <a:prstGeom prst="ellipse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33467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3255264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Gaps or Discrepancies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05840" y="3547872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events that failed eventing, were out of order, or produced incorrect output are flagged for review.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4096512"/>
            <a:ext cx="50292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5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84048" y="4261104"/>
            <a:ext cx="457200" cy="457200"/>
          </a:xfrm>
          <a:prstGeom prst="ellipse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4261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05840" y="4169664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Remediate &amp; Re-process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05840" y="4462272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records are corrected and re-run through the eventing pipeline, ensuring final data accuracy.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760720" y="914400"/>
            <a:ext cx="3017520" cy="1828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97880" y="98755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Reconciliation?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897880" y="1389888"/>
            <a:ext cx="274320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demands zero data loss.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streaming is fast, but edge cases exist — network blips, schema changes, ordering anomalies.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Nightly reconciliation is the safety net that guarantees our Semantic layer is always 100% consistent with the source of truth.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760720" y="2816352"/>
            <a:ext cx="3017520" cy="1691640"/>
          </a:xfrm>
          <a:prstGeom prst="rect">
            <a:avLst/>
          </a:prstGeom>
          <a:solidFill>
            <a:srgbClr val="F4F6FB"/>
          </a:solidFill>
          <a:ln w="12700">
            <a:solidFill>
              <a:srgbClr val="D8E4F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97880" y="2880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Reconciliation Scope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897880" y="3355848"/>
            <a:ext cx="91440" cy="91440"/>
          </a:xfrm>
          <a:prstGeom prst="ellipse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62472" y="32918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IBS event types processed that day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897880" y="3657600"/>
            <a:ext cx="91440" cy="91440"/>
          </a:xfrm>
          <a:prstGeom prst="ellipse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62472" y="359359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Reconcile counts: events in vs documents out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897880" y="3959352"/>
            <a:ext cx="91440" cy="91440"/>
          </a:xfrm>
          <a:prstGeom prst="ellipse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62472" y="389534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Checksum validation on key financial fields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897880" y="4261104"/>
            <a:ext cx="91440" cy="91440"/>
          </a:xfrm>
          <a:prstGeom prst="ellipse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062472" y="419709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on any unexplained discrepancies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Benefits &amp; Key Takeaways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2788920" cy="1874520"/>
          </a:xfrm>
          <a:prstGeom prst="rect">
            <a:avLst/>
          </a:prstGeom>
          <a:solidFill>
            <a:srgbClr val="1E2761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14400"/>
            <a:ext cx="2788920" cy="457200"/>
          </a:xfrm>
          <a:prstGeom prst="rect">
            <a:avLst/>
          </a:prstGeom>
          <a:solidFill>
            <a:srgbClr val="3A7BD5">
              <a:alpha val="70000"/>
            </a:srgbClr>
          </a:solidFill>
          <a:ln w="12700">
            <a:solidFill>
              <a:srgbClr val="3A7BD5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8755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Real-Time Processing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flow from FIS IBS to queryable Couchbase documents in near-milliseconds — no overnight batch windows.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91840" y="914400"/>
            <a:ext cx="2788920" cy="1874520"/>
          </a:xfrm>
          <a:prstGeom prst="rect">
            <a:avLst/>
          </a:prstGeom>
          <a:solidFill>
            <a:srgbClr val="1E2761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91840" y="914400"/>
            <a:ext cx="2788920" cy="457200"/>
          </a:xfrm>
          <a:prstGeom prst="rect">
            <a:avLst/>
          </a:prstGeom>
          <a:solidFill>
            <a:srgbClr val="3A7BD5">
              <a:alpha val="70000"/>
            </a:srgbClr>
          </a:solidFill>
          <a:ln w="12700">
            <a:solidFill>
              <a:srgbClr val="3A7BD5">
                <a:alpha val="7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98755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  Clean Architecture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29000" y="146304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Three-layer design (Landing → Process → Semantic) enforces separation of concerns and simplifies debugging.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63640" y="914400"/>
            <a:ext cx="2788920" cy="1874520"/>
          </a:xfrm>
          <a:prstGeom prst="rect">
            <a:avLst/>
          </a:prstGeom>
          <a:solidFill>
            <a:srgbClr val="1E2761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63640" y="914400"/>
            <a:ext cx="2788920" cy="457200"/>
          </a:xfrm>
          <a:prstGeom prst="rect">
            <a:avLst/>
          </a:prstGeom>
          <a:solidFill>
            <a:srgbClr val="3A7BD5">
              <a:alpha val="70000"/>
            </a:srgbClr>
          </a:solidFill>
          <a:ln w="12700">
            <a:solidFill>
              <a:srgbClr val="3A7BD5">
                <a:alpha val="7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98755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Event-Driven Automation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0" y="146304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Couchbase Eventing Functions react to mutations automatically — no polling, no scheduled triggers needed.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2971800"/>
            <a:ext cx="2788920" cy="1874520"/>
          </a:xfrm>
          <a:prstGeom prst="rect">
            <a:avLst/>
          </a:prstGeom>
          <a:solidFill>
            <a:srgbClr val="1E2761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2971800"/>
            <a:ext cx="2788920" cy="457200"/>
          </a:xfrm>
          <a:prstGeom prst="rect">
            <a:avLst/>
          </a:prstGeom>
          <a:solidFill>
            <a:srgbClr val="3A7BD5">
              <a:alpha val="70000"/>
            </a:srgbClr>
          </a:solidFill>
          <a:ln w="12700">
            <a:solidFill>
              <a:srgbClr val="3A7BD5">
                <a:alpha val="7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04495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Banking-Grade Reliability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352044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At-least-once delivery from Kafka, dual-region XDR replication in Couchbase, and nightly reconciliation close the loop.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91840" y="2971800"/>
            <a:ext cx="2788920" cy="1874520"/>
          </a:xfrm>
          <a:prstGeom prst="rect">
            <a:avLst/>
          </a:prstGeom>
          <a:solidFill>
            <a:srgbClr val="1E2761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91840" y="2971800"/>
            <a:ext cx="2788920" cy="457200"/>
          </a:xfrm>
          <a:prstGeom prst="rect">
            <a:avLst/>
          </a:prstGeom>
          <a:solidFill>
            <a:srgbClr val="3A7BD5">
              <a:alpha val="70000"/>
            </a:srgbClr>
          </a:solidFill>
          <a:ln w="12700">
            <a:solidFill>
              <a:srgbClr val="3A7BD5">
                <a:alpha val="7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29000" y="304495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 Fully Cloud-Native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429000" y="352044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Confluent Cloud + Couchbase Capella eliminates on-prem infrastructure management and enables elastic scaling.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263640" y="2971800"/>
            <a:ext cx="2788920" cy="1874520"/>
          </a:xfrm>
          <a:prstGeom prst="rect">
            <a:avLst/>
          </a:prstGeom>
          <a:solidFill>
            <a:srgbClr val="1E2761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63640" y="2971800"/>
            <a:ext cx="2788920" cy="457200"/>
          </a:xfrm>
          <a:prstGeom prst="rect">
            <a:avLst/>
          </a:prstGeom>
          <a:solidFill>
            <a:srgbClr val="3A7BD5">
              <a:alpha val="70000"/>
            </a:srgbClr>
          </a:solidFill>
          <a:ln w="12700">
            <a:solidFill>
              <a:srgbClr val="3A7BD5">
                <a:alpha val="7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0" y="304495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Audit &amp; Compliance Ready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0" y="352044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layer preserves raw events immutably. Confluent retains topic history. Full lineage from source to API.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1A936F"/>
          </a:solidFill>
          <a:ln w="12700">
            <a:solidFill>
              <a:srgbClr val="1A936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2926080"/>
            <a:ext cx="2560320" cy="22174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972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8F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640080" y="2606040"/>
            <a:ext cx="3657600" cy="36576"/>
          </a:xfrm>
          <a:prstGeom prst="rect">
            <a:avLst/>
          </a:prstGeom>
          <a:solidFill>
            <a:srgbClr val="1A936F"/>
          </a:solidFill>
          <a:ln w="12700">
            <a:solidFill>
              <a:srgbClr val="1A936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78892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F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building a banking data platform that combines the speed of streaming with the reliability your business demands.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58368" y="3794760"/>
            <a:ext cx="109728" cy="109728"/>
          </a:xfrm>
          <a:prstGeom prst="ellipse">
            <a:avLst/>
          </a:prstGeom>
          <a:solidFill>
            <a:srgbClr val="1A936F"/>
          </a:solidFill>
          <a:ln w="12700">
            <a:solidFill>
              <a:srgbClr val="1A936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37033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 IBS → Confluent Cloud → Kafka Connect → Couchbase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58368" y="4114800"/>
            <a:ext cx="109728" cy="109728"/>
          </a:xfrm>
          <a:prstGeom prst="ellipse">
            <a:avLst/>
          </a:prstGeom>
          <a:solidFill>
            <a:srgbClr val="1A936F"/>
          </a:solidFill>
          <a:ln w="12700">
            <a:solidFill>
              <a:srgbClr val="1A936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0233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Three-layer eventing architecture: Landing · Process · Semantic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58368" y="4434840"/>
            <a:ext cx="109728" cy="109728"/>
          </a:xfrm>
          <a:prstGeom prst="ellipse">
            <a:avLst/>
          </a:prstGeom>
          <a:solidFill>
            <a:srgbClr val="1A936F"/>
          </a:solidFill>
          <a:ln w="12700">
            <a:solidFill>
              <a:srgbClr val="1A936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434340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Nightly reconciliation for banking-grade data integrity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58368" y="4754880"/>
            <a:ext cx="109728" cy="109728"/>
          </a:xfrm>
          <a:prstGeom prst="ellipse">
            <a:avLst/>
          </a:prstGeom>
          <a:solidFill>
            <a:srgbClr val="1A936F"/>
          </a:solidFill>
          <a:ln w="12700">
            <a:solidFill>
              <a:srgbClr val="1A936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46634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cloud-native, dual-region, observable, and scalable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Hub Cloud Modernization</dc:title>
  <dc:subject>PptxGenJS Presentation</dc:subject>
  <dc:creator>PptxGenJS</dc:creator>
  <cp:lastModifiedBy>PptxGenJS</cp:lastModifiedBy>
  <cp:revision>1</cp:revision>
  <dcterms:created xsi:type="dcterms:W3CDTF">2026-02-20T03:27:00Z</dcterms:created>
  <dcterms:modified xsi:type="dcterms:W3CDTF">2026-02-20T03:27:00Z</dcterms:modified>
</cp:coreProperties>
</file>