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Credits Consumed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Mar '25</c:v>
                  </c:pt>
                  <c:pt idx="1">
                    <c:v>Apr '25</c:v>
                  </c:pt>
                  <c:pt idx="2">
                    <c:v>May '25</c:v>
                  </c:pt>
                  <c:pt idx="3">
                    <c:v>Jun '25</c:v>
                  </c:pt>
                  <c:pt idx="4">
                    <c:v>Jul '25</c:v>
                  </c:pt>
                  <c:pt idx="5">
                    <c:v>Aug '25</c:v>
                  </c:pt>
                  <c:pt idx="6">
                    <c:v>Sep '25</c:v>
                  </c:pt>
                  <c:pt idx="7">
                    <c:v>Oct '25</c:v>
                  </c:pt>
                  <c:pt idx="8">
                    <c:v>Nov '25</c:v>
                  </c:pt>
                  <c:pt idx="9">
                    <c:v>Dec '25</c:v>
                  </c:pt>
                  <c:pt idx="10">
                    <c:v>Jan '26</c:v>
                  </c:pt>
                  <c:pt idx="11">
                    <c:v>Feb '26</c:v>
                  </c:pt>
                  <c:pt idx="12">
                    <c:v>Mar '26*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1800</c:v>
                </c:pt>
                <c:pt idx="1">
                  <c:v>2300</c:v>
                </c:pt>
                <c:pt idx="2">
                  <c:v>40000</c:v>
                </c:pt>
                <c:pt idx="3">
                  <c:v>40800</c:v>
                </c:pt>
                <c:pt idx="4">
                  <c:v>50000</c:v>
                </c:pt>
                <c:pt idx="5">
                  <c:v>25400</c:v>
                </c:pt>
                <c:pt idx="6">
                  <c:v>26400</c:v>
                </c:pt>
                <c:pt idx="7">
                  <c:v>31000</c:v>
                </c:pt>
                <c:pt idx="8">
                  <c:v>38000</c:v>
                </c:pt>
                <c:pt idx="9">
                  <c:v>50700</c:v>
                </c:pt>
                <c:pt idx="10">
                  <c:v>49900</c:v>
                </c:pt>
                <c:pt idx="11">
                  <c:v>64800</c:v>
                </c:pt>
                <c:pt idx="12">
                  <c:v>48708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CAPELLA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Analysis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Renewal Strategy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Financial Corporation  |  DataHub Engineering  |  April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A4A7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481888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Leadership Review  |  Based on Capella Billing Report — Period: 2026-03-01 to 2026-03-26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Period: March 1 – March 26, 2026  |  Report Generated: 3/26/2026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691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143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48,708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3776" y="17556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Credits Consumed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26 days (Mar 2026)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51560"/>
            <a:ext cx="64008" cy="1691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2596896" y="1143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1,948/day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96896" y="17556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Burn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96896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across all clusters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051560"/>
            <a:ext cx="1920240" cy="169164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051560"/>
            <a:ext cx="64008" cy="1691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700016" y="1143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days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0016" y="17556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Pro Expiry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0016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~22.5K credits remaining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1051560"/>
            <a:ext cx="1920240" cy="169164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1051560"/>
            <a:ext cx="64008" cy="1691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1143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109,839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03136" y="17556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Credits Left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days remaining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200400"/>
            <a:ext cx="8412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Developer Pro credits will be exhausted by April 22, 2026 — approximately 3 months before contract renewal on July 31, 2026.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Non-IaaS clusters (DEV, QA, UAT) account for ~45% of monthly credit consumption and are scheduled for decommission.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Production clusters (PRDCCDMAZCEN_001 and PRDCCDMAZEST2_001) consume 53% of monthly credits on the Enterprise plan — stable and predictable.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Monthly burn has grown from ~2K (Mar 2025) to ~56K annualized as of March 2026, driven primarily by environment expansion.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Plan Summary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2331720"/>
        </p:xfrm>
        <a:graphic>
          <a:graphicData uri="http://schemas.openxmlformats.org/drawingml/2006/table">
            <a:tbl>
              <a:tblPr/>
              <a:tblGrid>
                <a:gridCol w="1920240"/>
                <a:gridCol w="960120"/>
                <a:gridCol w="960120"/>
                <a:gridCol w="960120"/>
                <a:gridCol w="914400"/>
                <a:gridCol w="822960"/>
                <a:gridCol w="914400"/>
                <a:gridCol w="1051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Credits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Burn/Hr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Left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Proj. Expiry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(Jul 31, 2025 – Jul 31,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312,106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22,557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22,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(Jul 31, 2025 – Jul 31,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159,592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109,839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2,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471,698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339,300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132,396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182112"/>
            <a:ext cx="85039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3182112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475488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Developer Pro exhaustion projected April 22, 2026 — 100 days before contract end. Remaining usage will automatically roll into On-Demand billing at a higher per-credit rate.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20040" y="37490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(PAYG) Credit Exposure — Two Scenarios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005072"/>
          <a:ext cx="85039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118872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Exposed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PAYG Credits Needed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Non-IaaS clusters remain active through Jul 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918 credits/day (current Dev Pro burn)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~91,800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Non-IaaS clusters decommissioned before Apr 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~49 credits/day (IaaS Dev/QA only)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~4,900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Avoidance from Decommission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~86,900 credits saved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Credit Burn Trend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Capella Credit Report  |  Mar 2025 – Mar 2026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960120"/>
          <a:ext cx="8503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March 2026 figure covers 26 of 31 days (report generated 3/26). Annualized monthly run-rate estimated at ~56,000 credits.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903720" y="1005840"/>
            <a:ext cx="15544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1005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64,800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(Feb 2026)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Credit Usage — March 2026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406908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914400"/>
                <a:gridCol w="822960"/>
                <a:gridCol w="914400"/>
                <a:gridCol w="237744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Share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Daily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7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PRDCCDMAZCEN_001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19,038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(IaaS)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PRDCCDMAZEST2_001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DR (IaaS)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DEVCCDM001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(non-IaaS)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QACCDM001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(non-IaaS)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UATCCDM001_PVT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(non-IaaS)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UATCCDM001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(non-IaaS)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DEVCCDMAZCEN_001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(IaaS)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QACCDMAZCEN_001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(IaaS)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UATCCDM002_PVT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(non-IaaS)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48,708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828032"/>
            <a:ext cx="164592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1208" y="48097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— IaaS (keep, prepaid)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154680" y="4828032"/>
            <a:ext cx="164592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55848" y="48097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Dev/QA (keep, right-size prepaid)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89320" y="4828032"/>
            <a:ext cx="164592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48097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Non-IaaS (scheduled decommission)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Non-IaaS Cluster Decommission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Non-IaaS clusters are transitional environments that will be retired as IaaS equivalents become the standard.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3931920" cy="38404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424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(non-IaaS active)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DEVCCDM001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94560" y="14904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9,968 credits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37560" y="149047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9293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QACCDM001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94560" y="19293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6,794 credits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37560" y="192938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36829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UATCCDM001_PVT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94560" y="236829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2,903 credits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236829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8072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UATCCDM001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94560" y="28072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1,280 credits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28072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UATCCDM002_PVT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94560" y="32461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551 credits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32461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187952"/>
            <a:ext cx="3749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2336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Burn (non-IaaS)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40280" y="4233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21,496 credits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2743200"/>
            <a:ext cx="50292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5968" y="2514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224528" y="29260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19472" y="1024128"/>
            <a:ext cx="390448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19472" y="1024128"/>
            <a:ext cx="3904488" cy="38404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10424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POST-DECOMMISSION STATE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14904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PRDCCDMAZCEN_001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49440" y="149047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19,038 credits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01000" y="149047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39.1%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0" y="19933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PRDCCDMAZEST2_001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49440" y="19933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6,705 credits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01000" y="1993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0" y="24963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DEVCCDMAZCEN_001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49440" y="24963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829 credits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001000" y="249631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0" y="29992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QACCDMAZCEN_001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49440" y="29992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credits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001000" y="299923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0" y="4187952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4233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Monthly Burn (IaaS only)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49440" y="4233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~27,212 credits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70001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 non-IaaS clusters eliminates ~21,500 credits/month (~44% reduction) and resolves the Developer Pro exhaustion risk immediately.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Strategy — July 31,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Hybrid model — Prepaid for predictable workloads, Pay-As-You-Go for intermittent environments.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1207008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64008" cy="1207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Clusters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0972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— Prepaid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Clusters: PRDCCDMAZCEN_001, PRDCCDMAZEST2_001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~310,000 credits/year  |  Always-on, 24x7 workload with predictable burn. Prepaid offers the lowest per-credit rate and eliminates billing variability for mission-critical clusters.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350008"/>
            <a:ext cx="8503920" cy="12070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50008"/>
            <a:ext cx="64008" cy="1207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231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Dev / QA Clusters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24231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Pro — Prepaid (right-sized)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697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Clusters: DEVCCDMAZCEN_001, QACCDMAZCEN_001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91693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~20,000–30,000 credits/year  |  IaaS-based, stable workloads. Current Developer Pro allocation of 312K was severely over-provisioned due to non-IaaS cluster load. Right-size to actual post-decommission consumption.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675888"/>
            <a:ext cx="8503920" cy="120700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675888"/>
            <a:ext cx="64008" cy="1207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490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Environment (Future)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37490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Pro or Basic — Pay-As-You-Go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Clusters: TBD — new environment for external vendor testing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24281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Unknown — intermittent usage  |  Usage is unpredictable and non-continuous. Prepaid credits would be forfeited if unused at term end. Pay-As-You-Go avoids financial risk on a new, uncharted environment.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29844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12984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 (before April 22, 2026)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Accelerate decommission of non-IaaS clusters: DEVCCDM001, QACCDM001, UATCCDM001_PVT, UATCCDM001, UATCCDM002_PVT. This is the single highest-impact action.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Engage Couchbase (Nishant) to discuss emergency top-up options for Developer Pro if decommission cannot be completed before April 22.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Pull daily credit burn metrics from Capella to monitor pace against remaining Developer Pro balance.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8503920" cy="129844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94560"/>
            <a:ext cx="64008" cy="12984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58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 (April – June 2026)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Baseline post-decommission burn rate on IaaS Dev/QA clusters to size the Developer Pro renewal accurately.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Initiate sandbox environment scoping: define cluster sizing, data seeding strategy, and RBAC model before renewal negotiation.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Confirm with MuleSoft team that sandbox API layer can be isolated from dev/QA environments.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611880"/>
            <a:ext cx="8503920" cy="1298448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611880"/>
            <a:ext cx="64008" cy="12984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6758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 (July 2026)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95935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Renew Enterprise plan at ~310,000 credits prepaid for production clusters (PRDCCDMAZCEN_001 + PRDCCDMAZEST2_001).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Renew Developer Pro at 20,000–30,000 credits prepaid (right-sized) for IaaS Dev/QA. Avoid repeating the current 312K over-provisioning.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Register sandbox on Pay-As-You-Go — do not lock into prepaid until usage pattern is established.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Engineering  |  Wintrust Financial Corporation  |  April 2026  |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Couchbase Capella Credit Analysis</dc:title>
  <dc:subject>PptxGenJS Presentation</dc:subject>
  <dc:creator>DataHub Engineering</dc:creator>
  <cp:lastModifiedBy>DataHub Engineering</cp:lastModifiedBy>
  <cp:revision>1</cp:revision>
  <dcterms:created xsi:type="dcterms:W3CDTF">2026-04-03T20:15:34Z</dcterms:created>
  <dcterms:modified xsi:type="dcterms:W3CDTF">2026-04-03T20:15:34Z</dcterms:modified>
</cp:coreProperties>
</file>