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A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3A7BD5"/>
          </a:solidFill>
          <a:ln w="12700">
            <a:solidFill>
              <a:srgbClr val="3A7BD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0"/>
            <a:ext cx="2286000" cy="1828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182880"/>
            <a:ext cx="1463040" cy="1371600"/>
          </a:xfrm>
          <a:prstGeom prst="rect">
            <a:avLst/>
          </a:prstGeom>
          <a:solidFill>
            <a:srgbClr val="3A7BD5">
              <a:alpha val="40000"/>
            </a:srgbClr>
          </a:solidFill>
          <a:ln w="12700">
            <a:solidFill>
              <a:srgbClr val="3A7BD5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9601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300" kern="0" dirty="0">
                <a:solidFill>
                  <a:srgbClr val="8FA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MODERNIZATION INITIATIVE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40080" y="132588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Hub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640080" y="21031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Architecture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640080" y="2852928"/>
            <a:ext cx="4114800" cy="36576"/>
          </a:xfrm>
          <a:prstGeom prst="rect">
            <a:avLst/>
          </a:prstGeom>
          <a:solidFill>
            <a:srgbClr val="3A7BD5"/>
          </a:solidFill>
          <a:ln w="12700">
            <a:solidFill>
              <a:srgbClr val="3A7BD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01752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FA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FIS IBS Events to Couchbase — A Streaming-First Approach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44348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Data Engineering  |  Leadership Review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1605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05840"/>
            <a:ext cx="64008" cy="1143000"/>
          </a:xfrm>
          <a:prstGeom prst="rect">
            <a:avLst/>
          </a:prstGeom>
          <a:solidFill>
            <a:srgbClr val="3A7BD5"/>
          </a:solidFill>
          <a:ln w="12700">
            <a:solidFill>
              <a:srgbClr val="3A7BD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97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A7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10972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We're Modernizing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55448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4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Covered by your teammate — business drivers &amp; legacy limitations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65760" y="2304288"/>
            <a:ext cx="41605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2304288"/>
            <a:ext cx="64008" cy="1143000"/>
          </a:xfrm>
          <a:prstGeom prst="rect">
            <a:avLst/>
          </a:prstGeom>
          <a:solidFill>
            <a:srgbClr val="3A7BD5"/>
          </a:solidFill>
          <a:ln w="12700">
            <a:solidFill>
              <a:srgbClr val="3A7BD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395728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A7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05840" y="239572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Event Ingestion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" y="2852928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4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 IBS → Confluent Cloud — how banking events flow in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" y="3602736"/>
            <a:ext cx="41605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3602736"/>
            <a:ext cx="64008" cy="1143000"/>
          </a:xfrm>
          <a:prstGeom prst="rect">
            <a:avLst/>
          </a:prstGeom>
          <a:solidFill>
            <a:srgbClr val="3A7BD5"/>
          </a:solidFill>
          <a:ln w="12700">
            <a:solidFill>
              <a:srgbClr val="3A7BD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694176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A7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05840" y="3694176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Connect: Bridge to Couchbase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2920" y="4151376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4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Confluent as source, Couchbase Capella as sink — landing layer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800600" y="1005840"/>
            <a:ext cx="41605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00600" y="1005840"/>
            <a:ext cx="64008" cy="1143000"/>
          </a:xfrm>
          <a:prstGeom prst="rect">
            <a:avLst/>
          </a:prstGeom>
          <a:solidFill>
            <a:srgbClr val="3A7BD5"/>
          </a:solidFill>
          <a:ln w="12700">
            <a:solidFill>
              <a:srgbClr val="3A7BD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37760" y="1097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A7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440680" y="10972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Event-Driven Processing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937760" y="155448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4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Couchbase eventing functions — landing → process → semantic layers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800600" y="2304288"/>
            <a:ext cx="41605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00600" y="2304288"/>
            <a:ext cx="64008" cy="1143000"/>
          </a:xfrm>
          <a:prstGeom prst="rect">
            <a:avLst/>
          </a:prstGeom>
          <a:solidFill>
            <a:srgbClr val="3A7BD5"/>
          </a:solidFill>
          <a:ln w="12700">
            <a:solidFill>
              <a:srgbClr val="3A7BD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37760" y="2395728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A7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440680" y="239572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Nightly Reconciliation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937760" y="2852928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4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process — ensuring data integrity and correctness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800600" y="3602736"/>
            <a:ext cx="41605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00600" y="3602736"/>
            <a:ext cx="64008" cy="1143000"/>
          </a:xfrm>
          <a:prstGeom prst="rect">
            <a:avLst/>
          </a:prstGeom>
          <a:solidFill>
            <a:srgbClr val="3A7BD5"/>
          </a:solidFill>
          <a:ln w="12700">
            <a:solidFill>
              <a:srgbClr val="3A7BD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37760" y="3694176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A7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440680" y="3694176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Benefits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937760" y="4151376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4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Resilience, scalability, and real-time insight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A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Architecture Overview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1188720" cy="292608"/>
          </a:xfrm>
          <a:prstGeom prst="rect">
            <a:avLst/>
          </a:prstGeom>
          <a:solidFill>
            <a:srgbClr val="E87040"/>
          </a:solidFill>
          <a:ln w="12700">
            <a:solidFill>
              <a:srgbClr val="E870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207008"/>
            <a:ext cx="1188720" cy="1124712"/>
          </a:xfrm>
          <a:prstGeom prst="rect">
            <a:avLst/>
          </a:prstGeom>
          <a:solidFill>
            <a:srgbClr val="1E2761"/>
          </a:solidFill>
          <a:ln w="19050">
            <a:solidFill>
              <a:srgbClr val="E870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234440"/>
            <a:ext cx="1097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 IBS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System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65760" y="18288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7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of Truth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554480" y="2011680"/>
            <a:ext cx="384048" cy="0"/>
          </a:xfrm>
          <a:prstGeom prst="line">
            <a:avLst/>
          </a:prstGeom>
          <a:noFill/>
          <a:ln w="25400">
            <a:solidFill>
              <a:srgbClr val="8FA8D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29968" y="914400"/>
            <a:ext cx="1188720" cy="292608"/>
          </a:xfrm>
          <a:prstGeom prst="rect">
            <a:avLst/>
          </a:prstGeom>
          <a:solidFill>
            <a:srgbClr val="3A7BD5"/>
          </a:solidFill>
          <a:ln w="12700">
            <a:solidFill>
              <a:srgbClr val="3A7BD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029968" y="1207008"/>
            <a:ext cx="1188720" cy="1124712"/>
          </a:xfrm>
          <a:prstGeom prst="rect">
            <a:avLst/>
          </a:prstGeom>
          <a:solidFill>
            <a:srgbClr val="1E2761"/>
          </a:solidFill>
          <a:ln w="19050">
            <a:solidFill>
              <a:srgbClr val="3A7BD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75688" y="1234440"/>
            <a:ext cx="1097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Confluent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075688" y="18288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7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Streaming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64408" y="2011680"/>
            <a:ext cx="384048" cy="0"/>
          </a:xfrm>
          <a:prstGeom prst="line">
            <a:avLst/>
          </a:prstGeom>
          <a:noFill/>
          <a:ln w="25400">
            <a:solidFill>
              <a:srgbClr val="8FA8D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39896" y="914400"/>
            <a:ext cx="1188720" cy="2926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739896" y="1207008"/>
            <a:ext cx="1188720" cy="1124712"/>
          </a:xfrm>
          <a:prstGeom prst="rect">
            <a:avLst/>
          </a:prstGeom>
          <a:solidFill>
            <a:srgbClr val="1E2761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85616" y="1234440"/>
            <a:ext cx="1097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785616" y="18288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Sink Connector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974336" y="2011680"/>
            <a:ext cx="384048" cy="0"/>
          </a:xfrm>
          <a:prstGeom prst="line">
            <a:avLst/>
          </a:prstGeom>
          <a:noFill/>
          <a:ln w="25400">
            <a:solidFill>
              <a:srgbClr val="8FA8D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49824" y="914400"/>
            <a:ext cx="1188720" cy="292608"/>
          </a:xfrm>
          <a:prstGeom prst="rect">
            <a:avLst/>
          </a:prstGeom>
          <a:solidFill>
            <a:srgbClr val="1A936F"/>
          </a:solidFill>
          <a:ln w="12700">
            <a:solidFill>
              <a:srgbClr val="1A936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49824" y="1207008"/>
            <a:ext cx="1188720" cy="1124712"/>
          </a:xfrm>
          <a:prstGeom prst="rect">
            <a:avLst/>
          </a:prstGeom>
          <a:solidFill>
            <a:srgbClr val="1E2761"/>
          </a:solidFill>
          <a:ln w="19050">
            <a:solidFill>
              <a:srgbClr val="1A936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95544" y="1234440"/>
            <a:ext cx="1097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Couchbase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Capella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495544" y="18288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9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NoSQL Cloud DB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684264" y="2011680"/>
            <a:ext cx="384048" cy="0"/>
          </a:xfrm>
          <a:prstGeom prst="line">
            <a:avLst/>
          </a:prstGeom>
          <a:noFill/>
          <a:ln w="25400">
            <a:solidFill>
              <a:srgbClr val="8FA8D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159752" y="914400"/>
            <a:ext cx="1188720" cy="292608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159752" y="1207008"/>
            <a:ext cx="1188720" cy="1124712"/>
          </a:xfrm>
          <a:prstGeom prst="rect">
            <a:avLst/>
          </a:prstGeom>
          <a:solidFill>
            <a:srgbClr val="1E2761"/>
          </a:solidFill>
          <a:ln w="19050">
            <a:solidFill>
              <a:srgbClr val="8E44A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205472" y="1234440"/>
            <a:ext cx="1097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/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7205472" y="18288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MuleSoft &amp; BI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65760" y="2560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8FA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Couchbase Three-Layer Architecture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011680" y="2926080"/>
            <a:ext cx="1828800" cy="1005840"/>
          </a:xfrm>
          <a:prstGeom prst="rect">
            <a:avLst/>
          </a:prstGeom>
          <a:solidFill>
            <a:srgbClr val="141A45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011680" y="2926080"/>
            <a:ext cx="1828800" cy="2011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057400" y="294436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Layer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2057400" y="3182112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IBS events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as-received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840480" y="3429000"/>
            <a:ext cx="274320" cy="0"/>
          </a:xfrm>
          <a:prstGeom prst="line">
            <a:avLst/>
          </a:prstGeom>
          <a:noFill/>
          <a:ln w="19050">
            <a:solidFill>
              <a:srgbClr val="8FA8D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114800" y="2926080"/>
            <a:ext cx="1828800" cy="1005840"/>
          </a:xfrm>
          <a:prstGeom prst="rect">
            <a:avLst/>
          </a:prstGeom>
          <a:solidFill>
            <a:srgbClr val="141A45"/>
          </a:solidFill>
          <a:ln w="19050">
            <a:solidFill>
              <a:srgbClr val="3A7BD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114800" y="2926080"/>
            <a:ext cx="1828800" cy="201168"/>
          </a:xfrm>
          <a:prstGeom prst="rect">
            <a:avLst/>
          </a:prstGeom>
          <a:solidFill>
            <a:srgbClr val="3A7BD5"/>
          </a:solidFill>
          <a:ln w="12700">
            <a:solidFill>
              <a:srgbClr val="3A7BD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160520" y="294436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Layer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160520" y="3182112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Enriched &amp; transformed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data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5943600" y="3429000"/>
            <a:ext cx="274320" cy="0"/>
          </a:xfrm>
          <a:prstGeom prst="line">
            <a:avLst/>
          </a:prstGeom>
          <a:noFill/>
          <a:ln w="19050">
            <a:solidFill>
              <a:srgbClr val="8FA8D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217920" y="2926080"/>
            <a:ext cx="1828800" cy="1005840"/>
          </a:xfrm>
          <a:prstGeom prst="rect">
            <a:avLst/>
          </a:prstGeom>
          <a:solidFill>
            <a:srgbClr val="141A45"/>
          </a:solidFill>
          <a:ln w="19050">
            <a:solidFill>
              <a:srgbClr val="1A936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217920" y="2926080"/>
            <a:ext cx="1828800" cy="201168"/>
          </a:xfrm>
          <a:prstGeom prst="rect">
            <a:avLst/>
          </a:prstGeom>
          <a:solidFill>
            <a:srgbClr val="1A936F"/>
          </a:solidFill>
          <a:ln w="12700">
            <a:solidFill>
              <a:srgbClr val="1A936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263640" y="294436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Layer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6263640" y="3182112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Curated, query-ready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APIs &amp; reporting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3840480" y="354787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87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Eventing Function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5943600" y="354787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87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Eventing Function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Real-Time Event Ingestion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502920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60120"/>
            <a:ext cx="64008" cy="1170432"/>
          </a:xfrm>
          <a:prstGeom prst="rect">
            <a:avLst/>
          </a:prstGeom>
          <a:solidFill>
            <a:srgbClr val="E87040"/>
          </a:solidFill>
          <a:ln w="12700">
            <a:solidFill>
              <a:srgbClr val="E870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5156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 IBS — The Core Banking System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380744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4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deposit, payment, and transaction events originate from FIS IBS. Any state change — a new deposit, a balance update, a wire transfer — triggers a banking event.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65760" y="2286000"/>
            <a:ext cx="502920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2286000"/>
            <a:ext cx="64008" cy="1170432"/>
          </a:xfrm>
          <a:prstGeom prst="rect">
            <a:avLst/>
          </a:prstGeom>
          <a:solidFill>
            <a:srgbClr val="E87040"/>
          </a:solidFill>
          <a:ln w="12700">
            <a:solidFill>
              <a:srgbClr val="E8704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37744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Published to Confluent Cloud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2706624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4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IBS writes these events in real time to Confluent Cloud Kafka topics. Each event type (e.g., DepositPosted, BalanceUpdated) lands on its designated topic, partitioned for parallel consumption.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65760" y="3611880"/>
            <a:ext cx="502920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3611880"/>
            <a:ext cx="64008" cy="1170432"/>
          </a:xfrm>
          <a:prstGeom prst="rect">
            <a:avLst/>
          </a:prstGeom>
          <a:solidFill>
            <a:srgbClr val="E87040"/>
          </a:solidFill>
          <a:ln w="12700">
            <a:solidFill>
              <a:srgbClr val="E870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70332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Confluent Cloud?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4032504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4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Confluent provides a fully managed, enterprise-grade Kafka backbone with schema registry, dead-letter queuing, and audit-grade retention — critical for banking-grade compliance.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760720" y="960120"/>
            <a:ext cx="3017520" cy="868680"/>
          </a:xfrm>
          <a:prstGeom prst="rect">
            <a:avLst/>
          </a:prstGeom>
          <a:solidFill>
            <a:srgbClr val="E87040"/>
          </a:solidFill>
          <a:ln w="12700">
            <a:solidFill>
              <a:srgbClr val="E8704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52160" y="1033272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 IBS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(Core Banking)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269480" y="1828800"/>
            <a:ext cx="0" cy="274320"/>
          </a:xfrm>
          <a:prstGeom prst="line">
            <a:avLst/>
          </a:prstGeom>
          <a:noFill/>
          <a:ln w="25400">
            <a:solidFill>
              <a:srgbClr val="8FA8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086600" y="18928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760720" y="2057400"/>
            <a:ext cx="3017520" cy="868680"/>
          </a:xfrm>
          <a:prstGeom prst="rect">
            <a:avLst/>
          </a:prstGeom>
          <a:solidFill>
            <a:srgbClr val="3A7BD5"/>
          </a:solidFill>
          <a:ln w="12700">
            <a:solidFill>
              <a:srgbClr val="3A7BD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852160" y="2130552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Confluent Cloud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(Kafka Topics)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269480" y="2926080"/>
            <a:ext cx="0" cy="274320"/>
          </a:xfrm>
          <a:prstGeom prst="line">
            <a:avLst/>
          </a:prstGeom>
          <a:noFill/>
          <a:ln w="25400">
            <a:solidFill>
              <a:srgbClr val="8FA8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86600" y="299008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760720" y="3154680"/>
            <a:ext cx="3017520" cy="914400"/>
          </a:xfrm>
          <a:prstGeom prst="rect">
            <a:avLst/>
          </a:prstGeom>
          <a:solidFill>
            <a:srgbClr val="028090">
              <a:alpha val="20000"/>
            </a:srgbClr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852160" y="3227832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IBS.Deposit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IBS.Payment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IBS.Balance...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760720" y="309067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Topics: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Kafka Connect: Bridge to Couchbase Landing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2194560" cy="1645920"/>
          </a:xfrm>
          <a:prstGeom prst="rect">
            <a:avLst/>
          </a:prstGeom>
          <a:solidFill>
            <a:srgbClr val="3A7BD5"/>
          </a:solidFill>
          <a:ln w="12700">
            <a:solidFill>
              <a:srgbClr val="3A7BD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515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Confluent Cloud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1508760"/>
            <a:ext cx="19202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IBS.Deposits topic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IBS.Payments topic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IBS.Balances topic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...more event types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91840" y="1234440"/>
            <a:ext cx="2560320" cy="12801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91840" y="12344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Connect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383280" y="169164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Couchbase Sink Connector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Reads from Confluent topics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Maps topic → Couchbase bucket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Handles schema translation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537960" y="1051560"/>
            <a:ext cx="2240280" cy="1645920"/>
          </a:xfrm>
          <a:prstGeom prst="rect">
            <a:avLst/>
          </a:prstGeom>
          <a:solidFill>
            <a:srgbClr val="1A936F"/>
          </a:solidFill>
          <a:ln w="12700">
            <a:solidFill>
              <a:srgbClr val="1A936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37960" y="105156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Couchbase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Bucket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629400" y="1691640"/>
            <a:ext cx="20116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F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Raw event documents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8F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Immutable, as-received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8F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Indexed for eventing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8F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Dual-region replicated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560320" y="1874520"/>
            <a:ext cx="731520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0" y="1737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852160" y="1874520"/>
            <a:ext cx="685800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46520" y="1737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" y="3017520"/>
            <a:ext cx="20116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75488" y="30632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Real-Time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5488" y="3346704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D4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flow within milliseconds of being written to Confluent — no polling, no batch delays.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560320" y="3017520"/>
            <a:ext cx="20116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2670048" y="30632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Reliable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670048" y="3346704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D4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Connect provides at-least-once delivery guarantees with retry and dead-letter queue support.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754880" y="3017520"/>
            <a:ext cx="20116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864608" y="30632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Secure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64608" y="3346704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D4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in transit via TLS. Couchbase Capella enforces RBAC at bucket and collection level.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949440" y="3017520"/>
            <a:ext cx="20116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7059168" y="30632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Observable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059168" y="3346704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D4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Connector lag, throughput, and error rates monitored in Confluent Control Center.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— Event-Driven Processing: The Three-Layer Architecture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365760" y="896112"/>
            <a:ext cx="2743200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96112"/>
            <a:ext cx="2743200" cy="6858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96112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Layer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26187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Ingestion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746504"/>
            <a:ext cx="109728" cy="10972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682496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4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Receives raw IBS events exactly as emitted from Confluent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0" y="2276856"/>
            <a:ext cx="109728" cy="10972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212848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4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are written by Kafka Connect automatically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48640" y="2807208"/>
            <a:ext cx="109728" cy="10972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2743200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4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Serves as immutable audit log — data is never altered here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48640" y="3337560"/>
            <a:ext cx="109728" cy="10972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3273552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4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mutation to a landing document triggers eventing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65760" y="4270248"/>
            <a:ext cx="2743200" cy="329184"/>
          </a:xfrm>
          <a:prstGeom prst="rect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4270248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CONNECT writes here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127248" y="228600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FA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3310128" y="896112"/>
            <a:ext cx="2743200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310128" y="896112"/>
            <a:ext cx="2743200" cy="685800"/>
          </a:xfrm>
          <a:prstGeom prst="rect">
            <a:avLst/>
          </a:prstGeom>
          <a:solidFill>
            <a:srgbClr val="3A7BD5"/>
          </a:solidFill>
          <a:ln w="12700">
            <a:solidFill>
              <a:srgbClr val="3A7BD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01568" y="896112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Layer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401568" y="126187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&amp; Enrichment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493008" y="1746504"/>
            <a:ext cx="109728" cy="109728"/>
          </a:xfrm>
          <a:prstGeom prst="ellipse">
            <a:avLst/>
          </a:prstGeom>
          <a:solidFill>
            <a:srgbClr val="3A7BD5"/>
          </a:solidFill>
          <a:ln w="12700">
            <a:solidFill>
              <a:srgbClr val="3A7BD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75888" y="1682496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4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Eventing Function listens for mutations on landing documents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493008" y="2276856"/>
            <a:ext cx="109728" cy="109728"/>
          </a:xfrm>
          <a:prstGeom prst="ellipse">
            <a:avLst/>
          </a:prstGeom>
          <a:solidFill>
            <a:srgbClr val="3A7BD5"/>
          </a:solidFill>
          <a:ln w="12700">
            <a:solidFill>
              <a:srgbClr val="3A7BD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75888" y="2212848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4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Transforms, enriches, and validates the raw event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493008" y="2807208"/>
            <a:ext cx="109728" cy="109728"/>
          </a:xfrm>
          <a:prstGeom prst="ellipse">
            <a:avLst/>
          </a:prstGeom>
          <a:solidFill>
            <a:srgbClr val="3A7BD5"/>
          </a:solidFill>
          <a:ln w="12700">
            <a:solidFill>
              <a:srgbClr val="3A7BD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75888" y="2743200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4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business rules — account lookups, categorization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493008" y="3337560"/>
            <a:ext cx="109728" cy="109728"/>
          </a:xfrm>
          <a:prstGeom prst="ellipse">
            <a:avLst/>
          </a:prstGeom>
          <a:solidFill>
            <a:srgbClr val="3A7BD5"/>
          </a:solidFill>
          <a:ln w="12700">
            <a:solidFill>
              <a:srgbClr val="3A7BD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75888" y="3273552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4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structured, enriched documents for downstream use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310128" y="4270248"/>
            <a:ext cx="2743200" cy="329184"/>
          </a:xfrm>
          <a:prstGeom prst="rect">
            <a:avLst/>
          </a:prstGeom>
          <a:solidFill>
            <a:srgbClr val="3A7BD5">
              <a:alpha val="15000"/>
            </a:srgbClr>
          </a:solidFill>
          <a:ln w="12700">
            <a:solidFill>
              <a:srgbClr val="3A7BD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01568" y="4270248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50" kern="0" dirty="0">
                <a:solidFill>
                  <a:srgbClr val="3A7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EVENTING FUNCTION 1 populates here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071616" y="228600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FA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6254496" y="896112"/>
            <a:ext cx="2743200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254496" y="896112"/>
            <a:ext cx="2743200" cy="685800"/>
          </a:xfrm>
          <a:prstGeom prst="rect">
            <a:avLst/>
          </a:prstGeom>
          <a:solidFill>
            <a:srgbClr val="1A936F"/>
          </a:solidFill>
          <a:ln w="12700">
            <a:solidFill>
              <a:srgbClr val="1A936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45936" y="896112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Layer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345936" y="126187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 Output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437376" y="1746504"/>
            <a:ext cx="109728" cy="109728"/>
          </a:xfrm>
          <a:prstGeom prst="ellipse">
            <a:avLst/>
          </a:prstGeom>
          <a:solidFill>
            <a:srgbClr val="1A936F"/>
          </a:solidFill>
          <a:ln w="12700">
            <a:solidFill>
              <a:srgbClr val="1A936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620256" y="1682496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4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Eventing Function fires on process layer mutations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437376" y="2276856"/>
            <a:ext cx="109728" cy="109728"/>
          </a:xfrm>
          <a:prstGeom prst="ellipse">
            <a:avLst/>
          </a:prstGeom>
          <a:solidFill>
            <a:srgbClr val="1A936F"/>
          </a:solidFill>
          <a:ln w="12700">
            <a:solidFill>
              <a:srgbClr val="1A936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620256" y="2212848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4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clean, consumer-ready documents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437376" y="2807208"/>
            <a:ext cx="109728" cy="109728"/>
          </a:xfrm>
          <a:prstGeom prst="ellipse">
            <a:avLst/>
          </a:prstGeom>
          <a:solidFill>
            <a:srgbClr val="1A936F"/>
          </a:solidFill>
          <a:ln w="12700">
            <a:solidFill>
              <a:srgbClr val="1A936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620256" y="2743200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4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Optimized for API reads — MuleSoft queries this layer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6437376" y="3337560"/>
            <a:ext cx="109728" cy="109728"/>
          </a:xfrm>
          <a:prstGeom prst="ellipse">
            <a:avLst/>
          </a:prstGeom>
          <a:solidFill>
            <a:srgbClr val="1A936F"/>
          </a:solidFill>
          <a:ln w="12700">
            <a:solidFill>
              <a:srgbClr val="1A936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620256" y="3273552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4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 real-time dashboards, reporting, and analytics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254496" y="4270248"/>
            <a:ext cx="2743200" cy="329184"/>
          </a:xfrm>
          <a:prstGeom prst="rect">
            <a:avLst/>
          </a:prstGeom>
          <a:solidFill>
            <a:srgbClr val="1A936F">
              <a:alpha val="15000"/>
            </a:srgbClr>
          </a:solidFill>
          <a:ln w="12700">
            <a:solidFill>
              <a:srgbClr val="1A936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345936" y="4270248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50" kern="0" dirty="0">
                <a:solidFill>
                  <a:srgbClr val="1A9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EVENTING FUNCTION 2 populates here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— Nightly Batch Reconciliation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every night?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353312"/>
            <a:ext cx="50292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5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84048" y="1517904"/>
            <a:ext cx="457200" cy="457200"/>
          </a:xfrm>
          <a:prstGeom prst="ellipse">
            <a:avLst/>
          </a:prstGeom>
          <a:solidFill>
            <a:srgbClr val="3A7BD5"/>
          </a:solidFill>
          <a:ln w="12700">
            <a:solidFill>
              <a:srgbClr val="3A7BD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5179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1426464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Job Triggers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05840" y="1719072"/>
            <a:ext cx="4251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4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scheduled job (Stonebranch / scheduler) kicks off at a configured time, typically after close-of-business.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65760" y="2267712"/>
            <a:ext cx="50292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5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84048" y="2432304"/>
            <a:ext cx="457200" cy="457200"/>
          </a:xfrm>
          <a:prstGeom prst="ellipse">
            <a:avLst/>
          </a:prstGeom>
          <a:solidFill>
            <a:srgbClr val="3A7BD5"/>
          </a:solidFill>
          <a:ln w="12700">
            <a:solidFill>
              <a:srgbClr val="3A7BD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" y="24323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05840" y="2340864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Landing vs Semantic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05840" y="2633472"/>
            <a:ext cx="4251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4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job reconciles the raw events in the Landing layer against what was processed and stored in the Semantic layer.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5760" y="3182112"/>
            <a:ext cx="50292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5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84048" y="3346704"/>
            <a:ext cx="457200" cy="457200"/>
          </a:xfrm>
          <a:prstGeom prst="ellipse">
            <a:avLst/>
          </a:prstGeom>
          <a:solidFill>
            <a:srgbClr val="3A7BD5"/>
          </a:solidFill>
          <a:ln w="12700">
            <a:solidFill>
              <a:srgbClr val="3A7BD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" y="33467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05840" y="3255264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Gaps or Discrepancies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05840" y="3547872"/>
            <a:ext cx="4251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4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events that failed eventing, were out of order, or produced incorrect output are flagged for review.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65760" y="4096512"/>
            <a:ext cx="50292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5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84048" y="4261104"/>
            <a:ext cx="457200" cy="457200"/>
          </a:xfrm>
          <a:prstGeom prst="ellipse">
            <a:avLst/>
          </a:prstGeom>
          <a:solidFill>
            <a:srgbClr val="3A7BD5"/>
          </a:solidFill>
          <a:ln w="12700">
            <a:solidFill>
              <a:srgbClr val="3A7BD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4048" y="42611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05840" y="4169664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Remediate &amp; Re-process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05840" y="4462272"/>
            <a:ext cx="4251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4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Flagged records are corrected and re-run through the eventing pipeline, ensuring final data accuracy.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760720" y="914400"/>
            <a:ext cx="3017520" cy="1828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97880" y="98755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Reconciliation?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897880" y="1389888"/>
            <a:ext cx="274320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demands zero data loss.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streaming is fast, but edge cases exist — network blips, schema changes, ordering anomalies.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Nightly reconciliation is the safety net that guarantees our Semantic layer is always 100% consistent with the source of truth.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760720" y="2816352"/>
            <a:ext cx="3017520" cy="1691640"/>
          </a:xfrm>
          <a:prstGeom prst="rect">
            <a:avLst/>
          </a:prstGeom>
          <a:solidFill>
            <a:srgbClr val="F4F6FB"/>
          </a:solidFill>
          <a:ln w="12700">
            <a:solidFill>
              <a:srgbClr val="D8E4F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897880" y="28803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Reconciliation Scope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897880" y="3355848"/>
            <a:ext cx="91440" cy="91440"/>
          </a:xfrm>
          <a:prstGeom prst="ellipse">
            <a:avLst/>
          </a:prstGeom>
          <a:solidFill>
            <a:srgbClr val="3A7BD5"/>
          </a:solidFill>
          <a:ln w="12700">
            <a:solidFill>
              <a:srgbClr val="3A7BD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62472" y="329184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4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IBS event types processed that day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897880" y="3657600"/>
            <a:ext cx="91440" cy="91440"/>
          </a:xfrm>
          <a:prstGeom prst="ellipse">
            <a:avLst/>
          </a:prstGeom>
          <a:solidFill>
            <a:srgbClr val="3A7BD5"/>
          </a:solidFill>
          <a:ln w="12700">
            <a:solidFill>
              <a:srgbClr val="3A7BD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062472" y="359359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4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Reconcile counts: events in vs documents out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897880" y="3959352"/>
            <a:ext cx="91440" cy="91440"/>
          </a:xfrm>
          <a:prstGeom prst="ellipse">
            <a:avLst/>
          </a:prstGeom>
          <a:solidFill>
            <a:srgbClr val="3A7BD5"/>
          </a:solidFill>
          <a:ln w="12700">
            <a:solidFill>
              <a:srgbClr val="3A7BD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062472" y="3895344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4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Checksum validation on key financial fields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897880" y="4261104"/>
            <a:ext cx="91440" cy="91440"/>
          </a:xfrm>
          <a:prstGeom prst="ellipse">
            <a:avLst/>
          </a:prstGeom>
          <a:solidFill>
            <a:srgbClr val="3A7BD5"/>
          </a:solidFill>
          <a:ln w="12700">
            <a:solidFill>
              <a:srgbClr val="3A7BD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062472" y="4197096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4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on any unexplained discrepancies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A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Benefits &amp; Key Takeaways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2788920" cy="1874520"/>
          </a:xfrm>
          <a:prstGeom prst="rect">
            <a:avLst/>
          </a:prstGeom>
          <a:solidFill>
            <a:srgbClr val="1E2761"/>
          </a:solidFill>
          <a:ln w="12700">
            <a:solidFill>
              <a:srgbClr val="3A7BD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914400"/>
            <a:ext cx="2788920" cy="457200"/>
          </a:xfrm>
          <a:prstGeom prst="rect">
            <a:avLst/>
          </a:prstGeom>
          <a:solidFill>
            <a:srgbClr val="3A7BD5">
              <a:alpha val="70000"/>
            </a:srgbClr>
          </a:solidFill>
          <a:ln w="12700">
            <a:solidFill>
              <a:srgbClr val="3A7BD5">
                <a:alpha val="7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87552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Real-Time Processing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463040"/>
            <a:ext cx="2514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flow from FIS IBS to queryable Couchbase documents in near-milliseconds — no overnight batch windows.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291840" y="914400"/>
            <a:ext cx="2788920" cy="1874520"/>
          </a:xfrm>
          <a:prstGeom prst="rect">
            <a:avLst/>
          </a:prstGeom>
          <a:solidFill>
            <a:srgbClr val="1E2761"/>
          </a:solidFill>
          <a:ln w="12700">
            <a:solidFill>
              <a:srgbClr val="3A7BD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91840" y="914400"/>
            <a:ext cx="2788920" cy="457200"/>
          </a:xfrm>
          <a:prstGeom prst="rect">
            <a:avLst/>
          </a:prstGeom>
          <a:solidFill>
            <a:srgbClr val="3A7BD5">
              <a:alpha val="70000"/>
            </a:srgbClr>
          </a:solidFill>
          <a:ln w="12700">
            <a:solidFill>
              <a:srgbClr val="3A7BD5">
                <a:alpha val="7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29000" y="987552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🏗️  Clean Architecture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429000" y="1463040"/>
            <a:ext cx="2514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Three-layer design (Landing → Process → Semantic) enforces separation of concerns and simplifies debugging.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263640" y="914400"/>
            <a:ext cx="2788920" cy="1874520"/>
          </a:xfrm>
          <a:prstGeom prst="rect">
            <a:avLst/>
          </a:prstGeom>
          <a:solidFill>
            <a:srgbClr val="1E2761"/>
          </a:solidFill>
          <a:ln w="12700">
            <a:solidFill>
              <a:srgbClr val="3A7BD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63640" y="914400"/>
            <a:ext cx="2788920" cy="457200"/>
          </a:xfrm>
          <a:prstGeom prst="rect">
            <a:avLst/>
          </a:prstGeom>
          <a:solidFill>
            <a:srgbClr val="3A7BD5">
              <a:alpha val="70000"/>
            </a:srgbClr>
          </a:solidFill>
          <a:ln w="12700">
            <a:solidFill>
              <a:srgbClr val="3A7BD5">
                <a:alpha val="7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987552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Event-Driven Automation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0" y="1463040"/>
            <a:ext cx="2514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Couchbase Eventing Functions react to mutations automatically — no polling, no scheduled triggers needed.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0040" y="2971800"/>
            <a:ext cx="2788920" cy="1874520"/>
          </a:xfrm>
          <a:prstGeom prst="rect">
            <a:avLst/>
          </a:prstGeom>
          <a:solidFill>
            <a:srgbClr val="1E2761"/>
          </a:solidFill>
          <a:ln w="12700">
            <a:solidFill>
              <a:srgbClr val="3A7BD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" y="2971800"/>
            <a:ext cx="2788920" cy="457200"/>
          </a:xfrm>
          <a:prstGeom prst="rect">
            <a:avLst/>
          </a:prstGeom>
          <a:solidFill>
            <a:srgbClr val="3A7BD5">
              <a:alpha val="70000"/>
            </a:srgbClr>
          </a:solidFill>
          <a:ln w="12700">
            <a:solidFill>
              <a:srgbClr val="3A7BD5">
                <a:alpha val="7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044952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Banking-Grade Reliability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3520440"/>
            <a:ext cx="2514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At-least-once delivery from Kafka, dual-region XDR replication in Couchbase, and nightly reconciliation close the loop.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91840" y="2971800"/>
            <a:ext cx="2788920" cy="1874520"/>
          </a:xfrm>
          <a:prstGeom prst="rect">
            <a:avLst/>
          </a:prstGeom>
          <a:solidFill>
            <a:srgbClr val="1E2761"/>
          </a:solidFill>
          <a:ln w="12700">
            <a:solidFill>
              <a:srgbClr val="3A7BD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91840" y="2971800"/>
            <a:ext cx="2788920" cy="457200"/>
          </a:xfrm>
          <a:prstGeom prst="rect">
            <a:avLst/>
          </a:prstGeom>
          <a:solidFill>
            <a:srgbClr val="3A7BD5">
              <a:alpha val="70000"/>
            </a:srgbClr>
          </a:solidFill>
          <a:ln w="12700">
            <a:solidFill>
              <a:srgbClr val="3A7BD5">
                <a:alpha val="7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29000" y="3044952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☁️  Fully Cloud-Native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429000" y="3520440"/>
            <a:ext cx="2514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Confluent Cloud + Couchbase Capella eliminates on-prem infrastructure management and enables elastic scaling.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263640" y="2971800"/>
            <a:ext cx="2788920" cy="1874520"/>
          </a:xfrm>
          <a:prstGeom prst="rect">
            <a:avLst/>
          </a:prstGeom>
          <a:solidFill>
            <a:srgbClr val="1E2761"/>
          </a:solidFill>
          <a:ln w="12700">
            <a:solidFill>
              <a:srgbClr val="3A7BD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63640" y="2971800"/>
            <a:ext cx="2788920" cy="457200"/>
          </a:xfrm>
          <a:prstGeom prst="rect">
            <a:avLst/>
          </a:prstGeom>
          <a:solidFill>
            <a:srgbClr val="3A7BD5">
              <a:alpha val="70000"/>
            </a:srgbClr>
          </a:solidFill>
          <a:ln w="12700">
            <a:solidFill>
              <a:srgbClr val="3A7BD5">
                <a:alpha val="7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0" y="3044952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Audit &amp; Compliance Ready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00800" y="3520440"/>
            <a:ext cx="2514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layer preserves raw events immutably. Confluent retains topic history. Full lineage from source to API.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/ Future PROD Architecture — PrivateLink Networking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D4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Self-Managed Kafka Connect in Azure VNet  |  Private Networking (PrivateLink), AZURE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1170432"/>
            <a:ext cx="8503920" cy="2212848"/>
          </a:xfrm>
          <a:prstGeom prst="rect">
            <a:avLst/>
          </a:prstGeom>
          <a:solidFill>
            <a:srgbClr val="EEF3FC"/>
          </a:solidFill>
          <a:ln w="19050">
            <a:solidFill>
              <a:srgbClr val="3A7BD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0700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7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  Azure East US (Primary Region)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02920" y="1508760"/>
            <a:ext cx="25603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1A936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508760"/>
            <a:ext cx="2560320" cy="274320"/>
          </a:xfrm>
          <a:prstGeom prst="rect">
            <a:avLst/>
          </a:prstGeom>
          <a:solidFill>
            <a:srgbClr val="1A936F">
              <a:alpha val="80000"/>
            </a:srgbClr>
          </a:solidFill>
          <a:ln w="12700">
            <a:solidFill>
              <a:srgbClr val="1A936F">
                <a:alpha val="8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76072" y="150876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Couchbase VNet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76072" y="1828800"/>
            <a:ext cx="24231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Couchbase Capella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(Private Endpoint)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081528" y="2176272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A9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PrivateLink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3291840" y="1508760"/>
            <a:ext cx="25603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704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91840" y="1508760"/>
            <a:ext cx="2560320" cy="274320"/>
          </a:xfrm>
          <a:prstGeom prst="rect">
            <a:avLst/>
          </a:prstGeom>
          <a:solidFill>
            <a:srgbClr val="E87040">
              <a:alpha val="80000"/>
            </a:srgbClr>
          </a:solidFill>
          <a:ln w="12700">
            <a:solidFill>
              <a:srgbClr val="E87040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64992" y="150876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Wintrust VNet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364992" y="1828800"/>
            <a:ext cx="24231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VM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Connect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(Couchbase Sink)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870448" y="2176272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A9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PrivateLink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6080760" y="1508760"/>
            <a:ext cx="25603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3A7BD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80760" y="1508760"/>
            <a:ext cx="2560320" cy="274320"/>
          </a:xfrm>
          <a:prstGeom prst="rect">
            <a:avLst/>
          </a:prstGeom>
          <a:solidFill>
            <a:srgbClr val="3A7BD5">
              <a:alpha val="80000"/>
            </a:srgbClr>
          </a:solidFill>
          <a:ln w="12700">
            <a:solidFill>
              <a:srgbClr val="3A7BD5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53912" y="150876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CCloud VNet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153912" y="1828800"/>
            <a:ext cx="24231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Confluent Cloud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Cluster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(Private Endpoint)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0040" y="3493008"/>
            <a:ext cx="2286000" cy="1078992"/>
          </a:xfrm>
          <a:prstGeom prst="rect">
            <a:avLst/>
          </a:prstGeom>
          <a:solidFill>
            <a:srgbClr val="FFF3E0"/>
          </a:solidFill>
          <a:ln w="12700">
            <a:solidFill>
              <a:srgbClr val="E8704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3529584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 External Data Center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11480" y="38404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D4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 Event Manager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D4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 Business Hub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834640" y="3493008"/>
            <a:ext cx="3291840" cy="1078992"/>
          </a:xfrm>
          <a:prstGeom prst="rect">
            <a:avLst/>
          </a:prstGeom>
          <a:solidFill>
            <a:srgbClr val="F0F0F0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926080" y="352958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Wintrust On-Prem Data Center (Chicago)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926080" y="3803904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D4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Network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D4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Route / VPN to Azure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400800" y="3493008"/>
            <a:ext cx="2423160" cy="1078992"/>
          </a:xfrm>
          <a:prstGeom prst="rect">
            <a:avLst/>
          </a:prstGeom>
          <a:solidFill>
            <a:srgbClr val="E8F5E9"/>
          </a:solidFill>
          <a:ln w="12700">
            <a:solidFill>
              <a:srgbClr val="1A936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92240" y="3529584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us-east-1 — MuleSoft VPC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492240" y="3803904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D4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Services Layer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20040" y="4681728"/>
            <a:ext cx="8503920" cy="292608"/>
          </a:xfrm>
          <a:prstGeom prst="rect">
            <a:avLst/>
          </a:prstGeom>
          <a:solidFill>
            <a:srgbClr val="FFF9C4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11480" y="468172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A4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MPLS: FIS→Wintrust On-Prem  |  ② ExpressRoute/VPN: On-Prem→Azure  |  ③ PrivateLink: VNet↔Confluent  |  ④ PrivateLink: VNet↔Couchbase  |  ⑤ Azure VM: Kafka Connect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We've Built — Infrastructure &amp; IaaS Achievements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320040" y="886968"/>
            <a:ext cx="43434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86968"/>
            <a:ext cx="64008" cy="914400"/>
          </a:xfrm>
          <a:prstGeom prst="rect">
            <a:avLst/>
          </a:prstGeom>
          <a:solidFill>
            <a:srgbClr val="3A7BD5"/>
          </a:solidFill>
          <a:ln w="12700">
            <a:solidFill>
              <a:srgbClr val="3A7BD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29768" y="978408"/>
            <a:ext cx="347472" cy="347472"/>
          </a:xfrm>
          <a:prstGeom prst="ellipse">
            <a:avLst/>
          </a:prstGeom>
          <a:solidFill>
            <a:srgbClr val="3A7BD5"/>
          </a:solidFill>
          <a:ln w="12700">
            <a:solidFill>
              <a:srgbClr val="3A7BD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9768" y="9784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68680" y="9418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Dual-Region Confluent Clusters + Cluster Linking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868680" y="1225296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D4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Confluent Kafka clusters provisioned in Central US (primary) and East US 2 (DR). Cluster Linking configured between both regions for seamless topic mirroring and DR failover.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20040" y="1911096"/>
            <a:ext cx="43434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1911096"/>
            <a:ext cx="64008" cy="9144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9768" y="2002536"/>
            <a:ext cx="347472" cy="34747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9768" y="20025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68680" y="1965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Connect — Dual-Region, Ready to Activate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868680" y="2249424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D4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Connect deployed and configured in both regions. Services are currently stopped, standing by for activation. Couchbase Sink Connector pre-configured to route events from Confluent topics into the Couchbase Landing bucket.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20040" y="2935224"/>
            <a:ext cx="43434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2935224"/>
            <a:ext cx="64008" cy="914400"/>
          </a:xfrm>
          <a:prstGeom prst="rect">
            <a:avLst/>
          </a:prstGeom>
          <a:solidFill>
            <a:srgbClr val="1A936F"/>
          </a:solidFill>
          <a:ln w="12700">
            <a:solidFill>
              <a:srgbClr val="1A936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29768" y="3026664"/>
            <a:ext cx="347472" cy="347472"/>
          </a:xfrm>
          <a:prstGeom prst="ellipse">
            <a:avLst/>
          </a:prstGeom>
          <a:solidFill>
            <a:srgbClr val="1A936F"/>
          </a:solidFill>
          <a:ln w="12700">
            <a:solidFill>
              <a:srgbClr val="1A936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9768" y="30266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68680" y="29900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Couchbase Capella Clusters + XDCR Replication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868680" y="3273552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D4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Couchbase clusters created in both regions. Cross Datacenter Replication (XDCR) ensures real-time data sync from primary to DR cluster, guaranteeing zero data loss during failover.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20040" y="3959352"/>
            <a:ext cx="43434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" y="3959352"/>
            <a:ext cx="64008" cy="91440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29768" y="4050792"/>
            <a:ext cx="347472" cy="347472"/>
          </a:xfrm>
          <a:prstGeom prst="ellipse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29768" y="40507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68680" y="401421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Endpoints + Azure PrivateLink Networking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868680" y="4297680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D4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endpoints established for Couchbase Capella and Confluent Cloud. PrivateLink ensures all traffic stays within the private network — no public internet exposure. Networking team partnered on full PrivateLink delivery.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937760" y="886968"/>
            <a:ext cx="43434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937760" y="886968"/>
            <a:ext cx="64008" cy="914400"/>
          </a:xfrm>
          <a:prstGeom prst="rect">
            <a:avLst/>
          </a:prstGeom>
          <a:solidFill>
            <a:srgbClr val="E87040"/>
          </a:solidFill>
          <a:ln w="12700">
            <a:solidFill>
              <a:srgbClr val="E8704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047488" y="978408"/>
            <a:ext cx="347472" cy="347472"/>
          </a:xfrm>
          <a:prstGeom prst="ellipse">
            <a:avLst/>
          </a:prstGeom>
          <a:solidFill>
            <a:srgbClr val="E87040"/>
          </a:solidFill>
          <a:ln w="12700">
            <a:solidFill>
              <a:srgbClr val="E8704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47488" y="9784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486400" y="9418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DR Testing + Cross-Region Validation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486400" y="1225296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D4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DR and cross-region testing completed on UAT clusters — validated failover sequences, cross-region data consistency, event replay, and Couchbase XDCR behavior under simulated outage conditions.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937760" y="1911096"/>
            <a:ext cx="43434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937760" y="1911096"/>
            <a:ext cx="64008" cy="9144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047488" y="2002536"/>
            <a:ext cx="347472" cy="347472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47488" y="20025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486400" y="1965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Pipelines — Infrastructure &amp; Code Deployment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5486400" y="2249424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D4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CI/CD pipelines configured for both infrastructure (IaaS) changes and application code deployments. Manual processes eliminated, enabling repeatable, auditable, and fast delivery cycles.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937760" y="2935224"/>
            <a:ext cx="43434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937760" y="2935224"/>
            <a:ext cx="64008" cy="914400"/>
          </a:xfrm>
          <a:prstGeom prst="rect">
            <a:avLst/>
          </a:prstGeom>
          <a:solidFill>
            <a:srgbClr val="1A936F"/>
          </a:solidFill>
          <a:ln w="12700">
            <a:solidFill>
              <a:srgbClr val="1A936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047488" y="3026664"/>
            <a:ext cx="347472" cy="347472"/>
          </a:xfrm>
          <a:prstGeom prst="ellipse">
            <a:avLst/>
          </a:prstGeom>
          <a:solidFill>
            <a:srgbClr val="1A936F"/>
          </a:solidFill>
          <a:ln w="12700">
            <a:solidFill>
              <a:srgbClr val="1A936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047488" y="30266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486400" y="29900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Onboarding: 6–7 Live, 16 Banks Total Planned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5486400" y="3273552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D4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6–7 banks are already enrolled and actively posting real events to Confluent topics. The remaining banks (16 total) are scheduled for event enrollment in the coming weeks, completing full production onboarding.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A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 Prod Timeline — March 6, 2026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8412480" cy="621792"/>
          </a:xfrm>
          <a:prstGeom prst="rect">
            <a:avLst/>
          </a:prstGeom>
          <a:solidFill>
            <a:srgbClr val="E87040">
              <a:alpha val="85000"/>
            </a:srgbClr>
          </a:solidFill>
          <a:ln w="12700">
            <a:solidFill>
              <a:srgbClr val="E870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868680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Target: March 6, 2026 — Silent Production Go-Live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47472" y="1627632"/>
            <a:ext cx="1536192" cy="2148840"/>
          </a:xfrm>
          <a:prstGeom prst="rect">
            <a:avLst/>
          </a:prstGeom>
          <a:solidFill>
            <a:srgbClr val="1E2761"/>
          </a:solidFill>
          <a:ln w="19050">
            <a:solidFill>
              <a:srgbClr val="3A7BD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7472" y="1627632"/>
            <a:ext cx="1536192" cy="365760"/>
          </a:xfrm>
          <a:prstGeom prst="rect">
            <a:avLst/>
          </a:prstGeom>
          <a:solidFill>
            <a:srgbClr val="3A7BD5"/>
          </a:solidFill>
          <a:ln w="12700">
            <a:solidFill>
              <a:srgbClr val="3A7BD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62763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🏦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02336" y="2029968"/>
            <a:ext cx="142646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02336" y="2871216"/>
            <a:ext cx="142646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16 banks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posting events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Confluent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883664" y="2542032"/>
            <a:ext cx="182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FA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066544" y="1627632"/>
            <a:ext cx="1536192" cy="2148840"/>
          </a:xfrm>
          <a:prstGeom prst="rect">
            <a:avLst/>
          </a:prstGeom>
          <a:solidFill>
            <a:srgbClr val="1E2761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066544" y="1627632"/>
            <a:ext cx="1536192" cy="3657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103120" y="162763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121408" y="2029968"/>
            <a:ext cx="142646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Couchbase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121408" y="2871216"/>
            <a:ext cx="142646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Indexes, prepared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statements &amp;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eventing functions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602736" y="2542032"/>
            <a:ext cx="182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FA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785616" y="1627632"/>
            <a:ext cx="1536192" cy="2148840"/>
          </a:xfrm>
          <a:prstGeom prst="rect">
            <a:avLst/>
          </a:prstGeom>
          <a:solidFill>
            <a:srgbClr val="1E2761"/>
          </a:solidFill>
          <a:ln w="19050">
            <a:solidFill>
              <a:srgbClr val="1A936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785616" y="1627632"/>
            <a:ext cx="1536192" cy="365760"/>
          </a:xfrm>
          <a:prstGeom prst="rect">
            <a:avLst/>
          </a:prstGeom>
          <a:solidFill>
            <a:srgbClr val="1A936F"/>
          </a:solidFill>
          <a:ln w="12700">
            <a:solidFill>
              <a:srgbClr val="1A936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22192" y="162763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840480" y="2029968"/>
            <a:ext cx="142646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Flow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Landing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840480" y="2871216"/>
            <a:ext cx="142646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Confluent topics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Kafka Connect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CB Landing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321808" y="2542032"/>
            <a:ext cx="182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FA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504688" y="1627632"/>
            <a:ext cx="1536192" cy="2148840"/>
          </a:xfrm>
          <a:prstGeom prst="rect">
            <a:avLst/>
          </a:prstGeom>
          <a:solidFill>
            <a:srgbClr val="1E2761"/>
          </a:solidFill>
          <a:ln w="19050">
            <a:solidFill>
              <a:srgbClr val="8E44A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504688" y="1627632"/>
            <a:ext cx="1536192" cy="36576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541264" y="162763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559552" y="2029968"/>
            <a:ext cx="142646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Layers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Activated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559552" y="2871216"/>
            <a:ext cx="142646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→ Process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Semantic via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eventing functions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7040880" y="2542032"/>
            <a:ext cx="182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FA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7223760" y="1627632"/>
            <a:ext cx="1536192" cy="2148840"/>
          </a:xfrm>
          <a:prstGeom prst="rect">
            <a:avLst/>
          </a:prstGeom>
          <a:solidFill>
            <a:srgbClr val="1E2761"/>
          </a:solidFill>
          <a:ln w="19050">
            <a:solidFill>
              <a:srgbClr val="E8704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223760" y="1627632"/>
            <a:ext cx="1536192" cy="365760"/>
          </a:xfrm>
          <a:prstGeom prst="rect">
            <a:avLst/>
          </a:prstGeom>
          <a:solidFill>
            <a:srgbClr val="E87040"/>
          </a:solidFill>
          <a:ln w="12700">
            <a:solidFill>
              <a:srgbClr val="E8704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260336" y="162763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278624" y="2029968"/>
            <a:ext cx="142646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✅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278624" y="2871216"/>
            <a:ext cx="142646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traffic flows,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active,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client impact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365760" y="3886200"/>
            <a:ext cx="841248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8640" y="39319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'Silent Prod' Means: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48640" y="4187952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banking events flow end-to-end through the entire platform — FIS → Confluent → Kafka Connect → Couchbase (Landing → Process → Semantic) — with all objects fully deployed. The system operates under live production traffic before formal customer cutover, giving full confidence in stability, throughput, and data accuracy.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Reconciliation Rules — ACH, RTP &amp; Wire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D4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source system follows specific rules depending on whether a transaction matched at EOD, is present only in Intraday, or only in Batch EOD: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1161288"/>
            <a:ext cx="1005840" cy="5486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61288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325880" y="1161288"/>
            <a:ext cx="2468880" cy="548640"/>
          </a:xfrm>
          <a:prstGeom prst="rect">
            <a:avLst/>
          </a:prstGeom>
          <a:solidFill>
            <a:srgbClr val="3A7BD5"/>
          </a:solidFill>
          <a:ln w="12700">
            <a:solidFill>
              <a:srgbClr val="3A7BD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0" y="116128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Match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EOD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794760" y="1161288"/>
            <a:ext cx="2468880" cy="5486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0" y="116128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Present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Intraday ONLY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263640" y="1161288"/>
            <a:ext cx="2468880" cy="54864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09360" y="116128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Present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Batch EOD Only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0040" y="1709928"/>
            <a:ext cx="1005840" cy="886968"/>
          </a:xfrm>
          <a:prstGeom prst="rect">
            <a:avLst/>
          </a:prstGeom>
          <a:solidFill>
            <a:srgbClr val="1E2761"/>
          </a:solidFill>
          <a:ln w="12700">
            <a:solidFill>
              <a:srgbClr val="D8E4F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709928"/>
            <a:ext cx="91440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325880" y="1709928"/>
            <a:ext cx="2468880" cy="8869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99032" y="1755648"/>
            <a:ext cx="233172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794760" y="1709928"/>
            <a:ext cx="2468880" cy="8869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67912" y="1755648"/>
            <a:ext cx="233172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D4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Move txns to queue collection; monitor for 7 calendar days.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3D4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If no match after 7 days → exception collection.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263640" y="1709928"/>
            <a:ext cx="2468880" cy="8869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755648"/>
            <a:ext cx="233172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20040" y="2670048"/>
            <a:ext cx="1005840" cy="886968"/>
          </a:xfrm>
          <a:prstGeom prst="rect">
            <a:avLst/>
          </a:prstGeom>
          <a:solidFill>
            <a:srgbClr val="1E2761"/>
          </a:solidFill>
          <a:ln w="12700">
            <a:solidFill>
              <a:srgbClr val="D8E4F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2670048"/>
            <a:ext cx="91440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RTP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1325880" y="2670048"/>
            <a:ext cx="2468880" cy="886968"/>
          </a:xfrm>
          <a:prstGeom prst="rect">
            <a:avLst/>
          </a:prstGeom>
          <a:solidFill>
            <a:srgbClr val="F7F9FF"/>
          </a:solidFill>
          <a:ln w="12700">
            <a:solidFill>
              <a:srgbClr val="D8E4F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399032" y="2715768"/>
            <a:ext cx="233172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D4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txns info from Intraday to Prior Day collection.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794760" y="2670048"/>
            <a:ext cx="2468880" cy="886968"/>
          </a:xfrm>
          <a:prstGeom prst="rect">
            <a:avLst/>
          </a:prstGeom>
          <a:solidFill>
            <a:srgbClr val="F7F9FF"/>
          </a:solidFill>
          <a:ln w="12700">
            <a:solidFill>
              <a:srgbClr val="D8E4F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67912" y="2715768"/>
            <a:ext cx="233172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D4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Retain txn in Intraday; monitor for 1 calendar day.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3D4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If no match after 2 days → exception collection.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263640" y="2670048"/>
            <a:ext cx="2468880" cy="886968"/>
          </a:xfrm>
          <a:prstGeom prst="rect">
            <a:avLst/>
          </a:prstGeom>
          <a:solidFill>
            <a:srgbClr val="F7F9FF"/>
          </a:solidFill>
          <a:ln w="12700">
            <a:solidFill>
              <a:srgbClr val="D8E4F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36792" y="2715768"/>
            <a:ext cx="233172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D4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txn to pending collection with unenriched information.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20040" y="3630168"/>
            <a:ext cx="1005840" cy="886968"/>
          </a:xfrm>
          <a:prstGeom prst="rect">
            <a:avLst/>
          </a:prstGeom>
          <a:solidFill>
            <a:srgbClr val="1E2761"/>
          </a:solidFill>
          <a:ln w="12700">
            <a:solidFill>
              <a:srgbClr val="D8E4F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3630168"/>
            <a:ext cx="91440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1325880" y="3630168"/>
            <a:ext cx="2468880" cy="8869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399032" y="3675888"/>
            <a:ext cx="233172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794760" y="3630168"/>
            <a:ext cx="2468880" cy="8869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867912" y="3675888"/>
            <a:ext cx="233172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D4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txns directly into exception collection.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6263640" y="3630168"/>
            <a:ext cx="2468880" cy="8869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36792" y="3675888"/>
            <a:ext cx="233172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320040" y="4617720"/>
            <a:ext cx="850392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4617720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ACH Reconciliation Flow: A two-pass strategy — Batch EOD and Intraday — cross-matches transactions using recon_stats flags and an is_checked marker. Unmatched items are retained in queue collections and escalated to exception or prior-day collections based on age thresholds and match outcomes.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1A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1A936F"/>
          </a:solidFill>
          <a:ln w="12700">
            <a:solidFill>
              <a:srgbClr val="1A936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2926080"/>
            <a:ext cx="2560320" cy="22174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9728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8FA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60020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640080" y="2606040"/>
            <a:ext cx="3657600" cy="36576"/>
          </a:xfrm>
          <a:prstGeom prst="rect">
            <a:avLst/>
          </a:prstGeom>
          <a:solidFill>
            <a:srgbClr val="1A936F"/>
          </a:solidFill>
          <a:ln w="12700">
            <a:solidFill>
              <a:srgbClr val="1A936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78892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FA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We're building a banking data platform that combines the speed of streaming with the reliability your business demands.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58368" y="3794760"/>
            <a:ext cx="109728" cy="109728"/>
          </a:xfrm>
          <a:prstGeom prst="ellipse">
            <a:avLst/>
          </a:prstGeom>
          <a:solidFill>
            <a:srgbClr val="1A936F"/>
          </a:solidFill>
          <a:ln w="12700">
            <a:solidFill>
              <a:srgbClr val="1A936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370332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 IBS → Confluent Cloud → Kafka Connect → Couchbase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58368" y="4114800"/>
            <a:ext cx="109728" cy="109728"/>
          </a:xfrm>
          <a:prstGeom prst="ellipse">
            <a:avLst/>
          </a:prstGeom>
          <a:solidFill>
            <a:srgbClr val="1A936F"/>
          </a:solidFill>
          <a:ln w="12700">
            <a:solidFill>
              <a:srgbClr val="1A936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402336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Three-layer eventing architecture: Landing · Process · Semantic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58368" y="4434840"/>
            <a:ext cx="109728" cy="109728"/>
          </a:xfrm>
          <a:prstGeom prst="ellipse">
            <a:avLst/>
          </a:prstGeom>
          <a:solidFill>
            <a:srgbClr val="1A936F"/>
          </a:solidFill>
          <a:ln w="12700">
            <a:solidFill>
              <a:srgbClr val="1A936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434340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Nightly reconciliation for banking-grade data integrity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58368" y="4754880"/>
            <a:ext cx="109728" cy="109728"/>
          </a:xfrm>
          <a:prstGeom prst="ellipse">
            <a:avLst/>
          </a:prstGeom>
          <a:solidFill>
            <a:srgbClr val="1A936F"/>
          </a:solidFill>
          <a:ln w="12700">
            <a:solidFill>
              <a:srgbClr val="1A936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466344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cloud-native, dual-region, observable, and scalable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Hub Cloud Modernization</dc:title>
  <dc:subject>PptxGenJS Presentation</dc:subject>
  <dc:creator>PptxGenJS</dc:creator>
  <cp:lastModifiedBy>PptxGenJS</cp:lastModifiedBy>
  <cp:revision>1</cp:revision>
  <dcterms:created xsi:type="dcterms:W3CDTF">2026-02-20T14:56:58Z</dcterms:created>
  <dcterms:modified xsi:type="dcterms:W3CDTF">2026-02-20T14:56:58Z</dcterms:modified>
</cp:coreProperties>
</file>