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029200"/>
            <a:ext cx="914400" cy="-365760"/>
          </a:xfrm>
          <a:prstGeom prst="line">
            <a:avLst/>
          </a:prstGeom>
          <a:noFill/>
          <a:ln w="19050">
            <a:solidFill>
              <a:srgbClr val="3A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663440"/>
            <a:ext cx="822960" cy="548640"/>
          </a:xfrm>
          <a:prstGeom prst="line">
            <a:avLst/>
          </a:prstGeom>
          <a:noFill/>
          <a:ln w="19050">
            <a:solidFill>
              <a:srgbClr val="3A4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5029200"/>
            <a:ext cx="457200" cy="731520"/>
          </a:xfrm>
          <a:prstGeom prst="line">
            <a:avLst/>
          </a:prstGeom>
          <a:noFill/>
          <a:ln w="19050">
            <a:solidFill>
              <a:srgbClr val="3A4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4663440"/>
            <a:ext cx="640080" cy="1371600"/>
          </a:xfrm>
          <a:prstGeom prst="line">
            <a:avLst/>
          </a:prstGeom>
          <a:noFill/>
          <a:ln w="19050">
            <a:solidFill>
              <a:srgbClr val="3A4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5760720"/>
            <a:ext cx="-731520" cy="274320"/>
          </a:xfrm>
          <a:prstGeom prst="line">
            <a:avLst/>
          </a:prstGeom>
          <a:noFill/>
          <a:ln w="19050">
            <a:solidFill>
              <a:srgbClr val="3A4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5760720"/>
            <a:ext cx="1097280" cy="274320"/>
          </a:xfrm>
          <a:prstGeom prst="line">
            <a:avLst/>
          </a:prstGeom>
          <a:noFill/>
          <a:ln w="19050">
            <a:solidFill>
              <a:srgbClr val="3A4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10344" y="4946904"/>
            <a:ext cx="164592" cy="164592"/>
          </a:xfrm>
          <a:prstGeom prst="ellipse">
            <a:avLst/>
          </a:prstGeom>
          <a:solidFill>
            <a:srgbClr val="D9E3F5"/>
          </a:solidFill>
          <a:ln/>
        </p:spPr>
      </p:sp>
      <p:sp>
        <p:nvSpPr>
          <p:cNvPr id="9" name="Shape 7"/>
          <p:cNvSpPr/>
          <p:nvPr/>
        </p:nvSpPr>
        <p:spPr>
          <a:xfrm>
            <a:off x="10524744" y="458114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1347704" y="5129784"/>
            <a:ext cx="164592" cy="164592"/>
          </a:xfrm>
          <a:prstGeom prst="ellipse">
            <a:avLst/>
          </a:prstGeom>
          <a:solidFill>
            <a:srgbClr val="D9E3F5"/>
          </a:solidFill>
          <a:ln/>
        </p:spPr>
      </p:sp>
      <p:sp>
        <p:nvSpPr>
          <p:cNvPr id="11" name="Shape 9"/>
          <p:cNvSpPr/>
          <p:nvPr/>
        </p:nvSpPr>
        <p:spPr>
          <a:xfrm>
            <a:off x="10067544" y="5678424"/>
            <a:ext cx="164592" cy="164592"/>
          </a:xfrm>
          <a:prstGeom prst="ellipse">
            <a:avLst/>
          </a:prstGeom>
          <a:solidFill>
            <a:srgbClr val="D9E3F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4824" y="5952744"/>
            <a:ext cx="164592" cy="164592"/>
          </a:xfrm>
          <a:prstGeom prst="ellipse">
            <a:avLst/>
          </a:prstGeom>
          <a:solidFill>
            <a:srgbClr val="D9E3F5"/>
          </a:solidFill>
          <a:ln/>
        </p:spPr>
      </p:sp>
      <p:sp>
        <p:nvSpPr>
          <p:cNvPr id="13" name="Shape 11"/>
          <p:cNvSpPr/>
          <p:nvPr/>
        </p:nvSpPr>
        <p:spPr>
          <a:xfrm>
            <a:off x="9336024" y="5952744"/>
            <a:ext cx="164592" cy="164592"/>
          </a:xfrm>
          <a:prstGeom prst="ellipse">
            <a:avLst/>
          </a:prstGeom>
          <a:solidFill>
            <a:srgbClr val="D9E3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COUCHBASE PLATFORM ARCHITECTURE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Flow: Sources, Streaming, Integration &amp; Deployment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Chief Data Office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reference for how data flows from source systems into Couchbase, how the platform is structured, and how it is secured.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44752"/>
            <a:ext cx="3383280" cy="2450592"/>
          </a:xfrm>
          <a:prstGeom prst="roundRect">
            <a:avLst>
              <a:gd name="adj" fmla="val 2985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44752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9928"/>
            <a:ext cx="3383280" cy="2651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4475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444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21579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493008" y="215798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77824" y="24917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Overview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493008" y="24917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402836" y="1444752"/>
            <a:ext cx="3383280" cy="2450592"/>
          </a:xfrm>
          <a:prstGeom prst="roundRect">
            <a:avLst>
              <a:gd name="adj" fmla="val 2985"/>
            </a:avLst>
          </a:prstGeom>
          <a:solidFill>
            <a:srgbClr val="F4F7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402836" y="1444752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4402836" y="1709928"/>
            <a:ext cx="3383280" cy="2651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85716" y="144475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34356" y="1444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40580" y="21579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255764" y="215798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640580" y="24917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Layer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255764" y="24917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640580" y="28254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Inbound Integration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255764" y="282549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640580" y="31592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Process (Nightly)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7255764" y="31592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8165592" y="1444752"/>
            <a:ext cx="3383280" cy="2450592"/>
          </a:xfrm>
          <a:prstGeom prst="roundRect">
            <a:avLst>
              <a:gd name="adj" fmla="val 2985"/>
            </a:avLst>
          </a:prstGeom>
          <a:solidFill>
            <a:srgbClr val="F4F7FC"/>
          </a:solidFill>
          <a:ln/>
        </p:spPr>
      </p:sp>
      <p:sp>
        <p:nvSpPr>
          <p:cNvPr id="27" name="Shape 25"/>
          <p:cNvSpPr/>
          <p:nvPr/>
        </p:nvSpPr>
        <p:spPr>
          <a:xfrm>
            <a:off x="8165592" y="1444752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8165592" y="1709928"/>
            <a:ext cx="3383280" cy="2651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8348472" y="144475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97112" y="1444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Couchbase Platform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03336" y="21579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Overview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11018520" y="215798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8403336" y="24917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&amp; Process Collections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1018520" y="24917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8403336" y="28254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Reporting Collections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11018520" y="282549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8403336" y="31592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Hub Reports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11018520" y="31592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403336" y="34930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Couchbase?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11018520" y="34930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640080" y="4078224"/>
            <a:ext cx="7146036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080" y="4078224"/>
            <a:ext cx="7146036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" y="4343400"/>
            <a:ext cx="7146036" cy="2651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407822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71600" y="4078224"/>
            <a:ext cx="62316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Security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77824" y="4791456"/>
            <a:ext cx="6414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Model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7255764" y="47914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80" dirty="0"/>
          </a:p>
        </p:txBody>
      </p:sp>
      <p:sp>
        <p:nvSpPr>
          <p:cNvPr id="48" name="Text 46"/>
          <p:cNvSpPr/>
          <p:nvPr/>
        </p:nvSpPr>
        <p:spPr>
          <a:xfrm>
            <a:off x="877824" y="5125212"/>
            <a:ext cx="6414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DataHub Communicates: A Real Example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7255764" y="512521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80" dirty="0"/>
          </a:p>
        </p:txBody>
      </p:sp>
      <p:sp>
        <p:nvSpPr>
          <p:cNvPr id="50" name="Text 48"/>
          <p:cNvSpPr/>
          <p:nvPr/>
        </p:nvSpPr>
        <p:spPr>
          <a:xfrm>
            <a:off x="877824" y="5458968"/>
            <a:ext cx="6414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 &amp; Environment Addressing</a:t>
            </a:r>
            <a:endParaRPr lang="en-US" sz="1080" dirty="0"/>
          </a:p>
        </p:txBody>
      </p:sp>
      <p:sp>
        <p:nvSpPr>
          <p:cNvPr id="51" name="Text 49"/>
          <p:cNvSpPr/>
          <p:nvPr/>
        </p:nvSpPr>
        <p:spPr>
          <a:xfrm>
            <a:off x="7255764" y="545896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877824" y="5792724"/>
            <a:ext cx="64145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 Matters</a:t>
            </a:r>
            <a:endParaRPr lang="en-US" sz="1080" dirty="0"/>
          </a:p>
        </p:txBody>
      </p:sp>
      <p:sp>
        <p:nvSpPr>
          <p:cNvPr id="53" name="Text 51"/>
          <p:cNvSpPr/>
          <p:nvPr/>
        </p:nvSpPr>
        <p:spPr>
          <a:xfrm>
            <a:off x="7255764" y="57927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8165592" y="4078224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F4F7FC"/>
          </a:solidFill>
          <a:ln/>
        </p:spPr>
      </p:sp>
      <p:sp>
        <p:nvSpPr>
          <p:cNvPr id="55" name="Shape 53"/>
          <p:cNvSpPr/>
          <p:nvPr/>
        </p:nvSpPr>
        <p:spPr>
          <a:xfrm>
            <a:off x="8165592" y="4078224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</p:sp>
      <p:sp>
        <p:nvSpPr>
          <p:cNvPr id="56" name="Shape 54"/>
          <p:cNvSpPr/>
          <p:nvPr/>
        </p:nvSpPr>
        <p:spPr>
          <a:xfrm>
            <a:off x="8165592" y="4343400"/>
            <a:ext cx="3383280" cy="2651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7" name="Text 55"/>
          <p:cNvSpPr/>
          <p:nvPr/>
        </p:nvSpPr>
        <p:spPr>
          <a:xfrm>
            <a:off x="8348472" y="407822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897112" y="407822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403336" y="4791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Recap</a:t>
            </a:r>
            <a:endParaRPr lang="en-US" sz="1080" dirty="0"/>
          </a:p>
        </p:txBody>
      </p:sp>
      <p:sp>
        <p:nvSpPr>
          <p:cNvPr id="60" name="Text 58"/>
          <p:cNvSpPr/>
          <p:nvPr/>
        </p:nvSpPr>
        <p:spPr>
          <a:xfrm>
            <a:off x="11018520" y="47914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Background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Banking Enhanced Reporting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105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Wintrust Commercial Banking – Treasury Management (TM) initiative to expand TM services to a new market segment: Large Commercial and Corporate clients. The project builds the business, technology, processing, and service capabilities needed to meet the demands of this segment.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Needs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Prior-day and same-day visibility into balances and transactions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and custom reports at the BAI code level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position and cash-flow forecasting from near real-time data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of transaction information for context and clarity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search across current and historical data spanning 7 years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85232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830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HUB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0574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UI portal — built &amp; operated by FIS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377440"/>
            <a:ext cx="4736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commercial clients a single place to view balances, transactions, cash position and forecast, run standard or custom reports, and search transaction history.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520440"/>
            <a:ext cx="5285232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70332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97764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data layer — built &amp; operated by Wintrust Enterprise DM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4297680"/>
            <a:ext cx="4736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Acquires data from core banking and TPS systems, ingests it at near real-time and end-of-day frequencies, processes and enriches it to a standardized BAI code level, and provisions it to Business Hub.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532120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D9E3F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53212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— powered by Couchbase and the streaming/integration architecture covered in this deck —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backbone that makes real-time, enriched, historical reporting possible.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Architecture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Producers  →  Data Processing / Persistence  →  Destination / Consumers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200400" cy="3794760"/>
          </a:xfrm>
          <a:prstGeom prst="roundRect">
            <a:avLst>
              <a:gd name="adj" fmla="val 2286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81328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32004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PRODUCERS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194560"/>
            <a:ext cx="279806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Events: Kafka streams real-time deposit and transaction events published by FIS IBS.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Messages: IBM MQ delivers RTP, FedNow, and wire notifications from FIS OPF and GPP.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Files/DB: nightly batch files from BIC EOD, ACH, and Lockbox feed historical loads.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481328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1481328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279392" y="1737360"/>
            <a:ext cx="3566160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1481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/ PERSISTENCE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194560"/>
            <a:ext cx="31638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(Datahub Kafka) ingests and brokers real-time events from source systems.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 streams processed events into the Couchbase persistence layer.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stores enriched, queryable data as the single source of truth for reporting.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84464" y="1481328"/>
            <a:ext cx="3264408" cy="3794760"/>
          </a:xfrm>
          <a:prstGeom prst="roundRect">
            <a:avLst>
              <a:gd name="adj" fmla="val 2241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84464" y="1481328"/>
            <a:ext cx="3264408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8284464" y="1737360"/>
            <a:ext cx="3264408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467344" y="1481328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/ CONSUMERS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85632" y="2194560"/>
            <a:ext cx="286207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Hub retrieves balances, transactions, and reports via MuleSoft APIs.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exports deliver data to downstream systems via the Couchbase SDK.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RESTful API consumers access data through MuleSoft-brokered endpoints.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95344" y="3259836"/>
            <a:ext cx="329184" cy="237744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0" name="Shape 18"/>
          <p:cNvSpPr/>
          <p:nvPr/>
        </p:nvSpPr>
        <p:spPr>
          <a:xfrm>
            <a:off x="7900416" y="3259836"/>
            <a:ext cx="329184" cy="237744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4406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4406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ingestion patterns — real-time events, message queues, and batch files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in Couchbase as the central persistence layer, then fan out to consumers via MuleSoft.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Overview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ingestion pattern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74520"/>
            <a:ext cx="338328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2871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(FIS Core Banking):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for deposit accounts and core transaction processing.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60020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874520"/>
            <a:ext cx="338328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2377440"/>
            <a:ext cx="2871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 / FedNow: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payment rails processed through FIS OPF in real time.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inbound/outbound transfers confirmed via GPP advice messages.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0" y="1600200"/>
            <a:ext cx="3593592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1874520"/>
            <a:ext cx="359359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60020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BATCH-BASED TPS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11312" y="2377440"/>
            <a:ext cx="3081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origination, receipt, and return transactions from FIS ACH Tracker.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Lockbox: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summary files produced by Deluxe, loaded nightly.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transaction settlement captured through core batch processing.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D9E3F5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377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span three velocities —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(continuous), real-time payment rails (instant), and batch TPS (scheduled)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converging into a single ingestion layer before reaching Couchbase.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ingestion via Kafka — with commercial account filtering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3852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IBS Event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22905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16916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Event – Real time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54680" y="1938528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93852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Kafka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22905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6916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Event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77840" y="1938528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0482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4963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accounts only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22905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6916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543800" y="1938528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9385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Couchbase DB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10128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4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31012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OPF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51760" y="36621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2" name="Text 20"/>
          <p:cNvSpPr/>
          <p:nvPr/>
        </p:nvSpPr>
        <p:spPr>
          <a:xfrm>
            <a:off x="2148840" y="30632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– RTP Credit/Debit XML – Real time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54680" y="3310128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331012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Kafka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36621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0632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 message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77840" y="3310128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B08D57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34198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38679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accounts only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40880" y="36621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0632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543800" y="3310128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7635240" y="33101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Couchbase DB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27939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Deposits (top) and RTP / FedNow (bottom) are the two sources that stream through Kafka.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75488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754880"/>
            <a:ext cx="10360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isn't just a pass-through — it's the filtering checkpoint that scopes real-time events to commercial accounts before they ever reach Couchbase.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Wires, ACH, and Lockbox reach Couchbase through other real-time or batch paths, covered next in Mulesoft Inbound Integration.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Layer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Mulesoft Inbound Integration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broker for Wires &amp; ACH — universal outbound gateway to Business Hub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INBOUND: SOURCE → COUCHBASE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55648"/>
            <a:ext cx="1920240" cy="731520"/>
          </a:xfrm>
          <a:prstGeom prst="roundRect">
            <a:avLst>
              <a:gd name="adj" fmla="val 8750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556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203911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5087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– Wires Advice XML – Real time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08960" y="1755648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7556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203911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5087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trans data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0" y="1755648"/>
            <a:ext cx="237744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1755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Couchbase 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816352"/>
            <a:ext cx="2788920" cy="731520"/>
          </a:xfrm>
          <a:prstGeom prst="roundRect">
            <a:avLst>
              <a:gd name="adj" fmla="val 8750"/>
            </a:avLst>
          </a:prstGeom>
          <a:solidFill>
            <a:srgbClr val="F4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1635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Tracker / IBS Event Broker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3099816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8" name="Text 16"/>
          <p:cNvSpPr/>
          <p:nvPr/>
        </p:nvSpPr>
        <p:spPr>
          <a:xfrm>
            <a:off x="2971800" y="25694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/ origination / return files; prefunding debit event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77640" y="2816352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069080" y="281635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3099816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25694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Trans. data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37960" y="2816352"/>
            <a:ext cx="237744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8163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Couchbase DB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64845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OUTBOUND: COUCHBASE → BUSINESS HUB — CONSISTENT ACROSS EVERY SOURCE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178808"/>
            <a:ext cx="260604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1788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Couchbase DB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44622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9" name="Text 27"/>
          <p:cNvSpPr/>
          <p:nvPr/>
        </p:nvSpPr>
        <p:spPr>
          <a:xfrm>
            <a:off x="2788920" y="39319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94760" y="4178808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3886200" y="417880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44622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39319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55080" y="4178808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4F7FC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417880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Hub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49560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 IBS  ·  RTP / FedNow  ·  Wires  ·  ACH  ·  Lockbox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D9E3F5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is the universal outbound gateway to Business Hub, and the direct inbound broker for Wires and ACH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two sources that bypass Kafka entirely.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Inbound Integration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 Process (Nightly)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sameday data against the true source of record before it becomes prior-day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556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Sameday Collection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77640" y="210769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5087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EOD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480560" y="1755648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7556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Reconciliation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92440" y="210769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15087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595360" y="1755648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18653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(FIS Core)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2313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source of record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5285232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788920"/>
            <a:ext cx="5285232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044952"/>
            <a:ext cx="5285232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2788920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3474720"/>
            <a:ext cx="4773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is confirmed against BIC and written to the Prior-Day collection — ready for prior-day reporting.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788920"/>
            <a:ext cx="5285232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2788920"/>
            <a:ext cx="5285232" cy="502920"/>
          </a:xfrm>
          <a:prstGeom prst="roundRect">
            <a:avLst>
              <a:gd name="adj" fmla="val 14545"/>
            </a:avLst>
          </a:prstGeom>
          <a:solidFill>
            <a:srgbClr val="B08D57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3044952"/>
            <a:ext cx="5285232" cy="246888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2788920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3474720"/>
            <a:ext cx="4773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is routed to an Exception collection. It's re-checked against BIC on each subsequent cycle, for a period based on the source system's data retention window. Once matched, it writes through to Prior-Day like any other reconciled record.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9834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9834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exists so prior-day reporting is always confirmed against the true source of record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marked complete because sameday processing finished.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Process (Nightly)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Couchbase Platform: Cluster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PRDCCDMAZCEN_001  —  Healthy  —  13/27 nodes across 4 service groups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GROUPS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109087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2377440"/>
                <a:gridCol w="1645920"/>
                <a:gridCol w="1463040"/>
                <a:gridCol w="23134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Nodes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CPU / RAM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Disk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IOPS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Disk Type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Data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16 vCPU / 64GB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1024GB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5000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P30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Index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16 vCPU / 64GB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256GB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1100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P15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Query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16 vCPU / 64GB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64GB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240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P6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Eventing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8 vCPU / 32GB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128GB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500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P10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1272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ARCHITECTURE</a:t>
            </a:r>
            <a:endParaRPr lang="en-US" sz="11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01568"/>
          <a:ext cx="109087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772400"/>
                <a:gridCol w="139903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Bucket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Scale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landing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Raw ingested data — batch EOD files, intraday TPS/MQ events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1.1M docs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process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Enriched &amp; reconciled data — BAI detail/status/summary, prior-day &amp; same-day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630K docs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semantic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Reporting-ready data — scheduled, standard, user-defined reports for Business Hub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history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7-day rolling reference copy of landing &amp; process data, for operational lookback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13.9M docs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audit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Audit trail records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1.1M docs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486400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B08D57"/>
          </a:solidFill>
          <a:ln/>
        </p:spPr>
      </p:sp>
      <p:sp>
        <p:nvSpPr>
          <p:cNvPr id="9" name="Text 5"/>
          <p:cNvSpPr/>
          <p:nvPr/>
        </p:nvSpPr>
        <p:spPr>
          <a:xfrm>
            <a:off x="914400" y="548640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bucket holds a 7-day reference window of landing/process data for operational lookback — it is not the 7-year archive.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historical reporting is served from the Wintrust Data Warehouse via nightly EOD loads, not directly from Couchbase.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Platform: Cluster Overview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&amp; Process: Scopes &amp; Collections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data becomes reconciled, BAI-enriched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148072" cy="3977640"/>
          </a:xfrm>
          <a:prstGeom prst="roundRect">
            <a:avLst>
              <a:gd name="adj" fmla="val 1839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14807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27632"/>
            <a:ext cx="5148072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71600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371600"/>
            <a:ext cx="5148072" cy="3977640"/>
          </a:xfrm>
          <a:prstGeom prst="roundRect">
            <a:avLst>
              <a:gd name="adj" fmla="val 1839"/>
            </a:avLst>
          </a:prstGeom>
          <a:solidFill>
            <a:srgbClr val="F4F7FC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0" y="1371600"/>
            <a:ext cx="5148072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0" y="1627632"/>
            <a:ext cx="5148072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371600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96112" y="2084832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batch_eod 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359152"/>
            <a:ext cx="4636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ach_origination_indv_to_settlement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ach_return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tran_cms_detail / tran_cms_status / tran_cms_summary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tran_deposit_detail / tran_deposit_status / tran_deposit_status_hist / tran_deposit_summary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896112" y="3886200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scope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4160520"/>
            <a:ext cx="4636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tps_events_deposits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tps_file_ach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tps_file_lockbox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tps_mq_opf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tps_mq_wires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291072" y="2084832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batch_eod scope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2359152"/>
            <a:ext cx="4636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recon_matched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tran_bai_detail_priorday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tran_bai_status_priorday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tran_bai_summary_priorday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291072" y="3886200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scope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4160520"/>
            <a:ext cx="4636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ach_intraday_match_queued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tran_bai_detail_sameday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tran_bai_status_sameday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tran_bai_summary_sameday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D9E3F5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394960"/>
            <a:ext cx="10360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shows the transformation: </a:t>
            </a:r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tran_deposit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(landing) becomes </a:t>
            </a:r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(process) — enriched to the BAI code level — split into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priorday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sameday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collections matching the client's reporting requirement.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&amp; Process: Scopes &amp; Collections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Semantic: Reporting Collections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Business Hub actually queries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269748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93392"/>
            <a:ext cx="33832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46888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collection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862072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recurring reports delivered on a fixed schedule.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383280" cy="269748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6916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993392"/>
            <a:ext cx="338328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691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REPORTS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53712" y="246888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collections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3712" y="2862072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Out-of-the-box reports covering common commercial banking needs.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691640"/>
            <a:ext cx="3593592" cy="269748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1691640"/>
            <a:ext cx="3593592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7955280" y="1993392"/>
            <a:ext cx="3593592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169164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REPORTS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11312" y="246888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collections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11312" y="2862072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reports configured to specific client or admin requirements.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70916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bucket is what Business Hub actually queries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and custom reports built directly from the enriched process-layer data.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Semantic: Reporting Collections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Hub Reports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clients see, and when they see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TYPES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36192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64792"/>
            <a:ext cx="338328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36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Position (BP)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084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balance and position reporting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2836" y="1536192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4402836" y="1536192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2836" y="1764792"/>
            <a:ext cx="338328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85716" y="1536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(UD)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85716" y="2084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Custom, client-configured reports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65592" y="1536192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65592" y="1536192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8165592" y="1764792"/>
            <a:ext cx="338328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48472" y="1536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Statement (DS)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48472" y="2084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transaction statements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274320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TIMING — SHARED BY ALL THREE REPORT TYPES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999232"/>
            <a:ext cx="5285232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3136392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/ Sameday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345643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from the sameday collection as transactions arrive (e.g., balance_position_sameday).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2999232"/>
            <a:ext cx="5285232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3136392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 / Prior Day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3456432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EOD reconciliation completes, sameday data rolls into the prior-day collection (e.g., balance_position_priorday).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409651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USE-CASE FILTERS (BP, UD &amp; DS)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352544"/>
            <a:ext cx="1269187" cy="365760"/>
          </a:xfrm>
          <a:prstGeom prst="roundRect">
            <a:avLst>
              <a:gd name="adj" fmla="val 50000"/>
            </a:avLst>
          </a:prstGeom>
          <a:solidFill>
            <a:srgbClr val="D9E3F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352544"/>
            <a:ext cx="12691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Month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92147" y="4352544"/>
            <a:ext cx="1108253" cy="365760"/>
          </a:xfrm>
          <a:prstGeom prst="roundRect">
            <a:avLst>
              <a:gd name="adj" fmla="val 50000"/>
            </a:avLst>
          </a:prstGeom>
          <a:solidFill>
            <a:srgbClr val="D9E3F5"/>
          </a:solidFill>
          <a:ln/>
        </p:spPr>
      </p:sp>
      <p:sp>
        <p:nvSpPr>
          <p:cNvPr id="31" name="Text 29"/>
          <p:cNvSpPr/>
          <p:nvPr/>
        </p:nvSpPr>
        <p:spPr>
          <a:xfrm>
            <a:off x="2092147" y="4352544"/>
            <a:ext cx="11082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Day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4352544"/>
            <a:ext cx="1430122" cy="365760"/>
          </a:xfrm>
          <a:prstGeom prst="roundRect">
            <a:avLst>
              <a:gd name="adj" fmla="val 50000"/>
            </a:avLst>
          </a:prstGeom>
          <a:solidFill>
            <a:srgbClr val="D9E3F5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0" y="4352544"/>
            <a:ext cx="14301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Month-to-Date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96282" y="4352544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D9E3F5"/>
          </a:solidFill>
          <a:ln/>
        </p:spPr>
      </p:sp>
      <p:sp>
        <p:nvSpPr>
          <p:cNvPr id="35" name="Text 33"/>
          <p:cNvSpPr/>
          <p:nvPr/>
        </p:nvSpPr>
        <p:spPr>
          <a:xfrm>
            <a:off x="4996282" y="43525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489204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A SEPARATE CAPABILITY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51389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search by amount, description, reference number, bank name, and more — against either sameday or prior-day data.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" y="5596128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D9E3F5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5596128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it's a standard report or a free-form search, Couchbase serves every use case through prepared statements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consistent retrieval pattern across Balance Position, User-Defined, Daily Statement, and Search.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Hub Reports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Couchbase?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theoretical capability — the actual mechanics behind DataHub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3337560"/>
          </a:xfrm>
          <a:prstGeom prst="roundRect">
            <a:avLst>
              <a:gd name="adj" fmla="val 2192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601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Data Model: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IBS deposit JSON events, RTP/Wires XML messages, and ACH/Lockbox batch files into one document store — no rigid upfront schema across formats.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Real-Time Access: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Business Hub's prior-day/same-day balance visibility, sourced from Kafka-streamed IBS/RTP events filtered to commercial accounts.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Query + Search (N1QL):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BAI-code level reporting from the process bucket (tran_bai_detail/status/summary, priorday/sameday) into the semantic bucket's standard, scheduled, and user-defined reports.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Scalable Services: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Index / Query / Eventing service groups scale separately as commercial transaction volume grows (13/27 nodes currently provisioned).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Multi-Model, Single Platform: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→ process → semantic lifecycle replaces what would otherwise be a separate staging DB, cache, and search engine.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XDCR for Resilience: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Central US ↔ East US2 replication gives Large Commercial/Corporate client data multi-region disaster recovery.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12064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already load-bearing in this deck — the actual mechanics of how DataHub ingests, enriches, and serves commercial banking data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Couchbase?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Networking: Hub-and-Spoke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backbone in the middle, isolated environments around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Data Centers (ELK-DC &amp; ASH-DC) — connected via redundant 10G-LR ExpressRoute circuits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52744" y="1463040"/>
            <a:ext cx="274320" cy="219456"/>
          </a:xfrm>
          <a:prstGeom prst="downArrow">
            <a:avLst/>
          </a:prstGeom>
          <a:solidFill>
            <a:srgbClr val="5A6B8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47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579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US 10.238.0.0/19  ·  East US2 10.239.0.0/19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41401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connectivity &amp; security backbone — Virtual Network Gateway (ExpressRoute), vCSF firewalls, internal load balancer, and shared resource subscriptions.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7249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12848" y="2907792"/>
            <a:ext cx="237744" cy="182880"/>
          </a:xfrm>
          <a:prstGeom prst="downArrow">
            <a:avLst/>
          </a:prstGeom>
          <a:solidFill>
            <a:srgbClr val="5A6B87"/>
          </a:solidFill>
          <a:ln/>
        </p:spPr>
      </p:sp>
      <p:sp>
        <p:nvSpPr>
          <p:cNvPr id="12" name="Text 10"/>
          <p:cNvSpPr/>
          <p:nvPr/>
        </p:nvSpPr>
        <p:spPr>
          <a:xfrm>
            <a:off x="4402836" y="27249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75604" y="2907792"/>
            <a:ext cx="237744" cy="182880"/>
          </a:xfrm>
          <a:prstGeom prst="downArrow">
            <a:avLst/>
          </a:prstGeom>
          <a:solidFill>
            <a:srgbClr val="5A6B87"/>
          </a:solidFill>
          <a:ln/>
        </p:spPr>
      </p:sp>
      <p:sp>
        <p:nvSpPr>
          <p:cNvPr id="14" name="Text 12"/>
          <p:cNvSpPr/>
          <p:nvPr/>
        </p:nvSpPr>
        <p:spPr>
          <a:xfrm>
            <a:off x="8165592" y="27249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738360" y="2907792"/>
            <a:ext cx="237744" cy="182880"/>
          </a:xfrm>
          <a:prstGeom prst="downArrow">
            <a:avLst/>
          </a:prstGeom>
          <a:solidFill>
            <a:srgbClr val="5A6B8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2004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429000"/>
            <a:ext cx="338328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SPOKE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3712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Central-10.238.64.0/20  ·  East US2-10.239.64.0/20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069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Production subscriptions per application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02836" y="32004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402836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4402836" y="3429000"/>
            <a:ext cx="338328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585716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UAT/QA SPOKE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85716" y="3712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Central-10.238.32.0/20  ·  East US2-10.239.32.0/20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85716" y="4069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UAT/QA subscriptions per application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65592" y="32004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165592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8165592" y="3429000"/>
            <a:ext cx="338328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48472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SPOKE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48472" y="3712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ELK-10.235.32.0/20  ·  ASH-10.236.32.0/20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48472" y="4069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subscriptions per application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480560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Spokes never connect directly to each other — only to the Hub.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8920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D9E3F5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8920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hub-spoke model centralizes connectivity and security once in the Hub,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keeping Prod, UAT/QA, and Dev fully isolated from each other — each spoke only talks to the Hub, never directly to another spoke.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Networking: Hub-and-Spoke Model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DataHub Communicates: A Real Example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 services connect directly to the spoke — only internet traffic routes through the Hub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A: CONFLUENT → COUCHBASE  (Private Link — direct to spoke)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92808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928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11880" y="219913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16459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Private Link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0" y="1892808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8928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Spoke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86600" y="219913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6459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Private Link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589520" y="1892808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189280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606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the Hub entirely — each environment (Prod / UAT-QA / Dev) has its own dedicated Private Link straight into that spoke.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B: MULESOFT → COUCHBASE  (Internet — via the Hub)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584448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844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(SaaS)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38907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33375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+ Firewall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83280" y="3584448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58444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(vCSF → Internal LB)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38907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33375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37960" y="3584448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35844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Spoke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8240" y="38907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33375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Private Link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281160" y="3584448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372600" y="35844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3159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MuleSoft's SaaS traffic has no Private Link, so it enters over the internet through the Hub's vCSF firewall and Internal LB, then peers into the Prod spoke — a different path than Confluent's.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892040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8920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Private-Link services (Couchbase, Confluent, Informatica) connect straight into the relevant spoke.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internet-sourced traffic like MuleSoft's is firewalled and routed through the Hub first. Either way, nothing reaches Couchbase directly from the public internet.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DataHub Communicates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Link &amp; Environment Addressing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Couchbase, Confluent, and Informatica each connect into the Hub via dedicated Private Link endpoints per environment (Prod / UAT-QA / Dev) — traffic never touches the public internet.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2130552"/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Environment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DataHub (ELK)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DataHub (ASH)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IDMC (ELK)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IDMC (ASH)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4304D"/>
                          </a:solidFill>
                        </a:rPr>
                        <a:t>PROD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10.238.64.0/26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10.239.64.0/26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10.238.78.0/26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10.239.78.0/26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4304D"/>
                          </a:solidFill>
                        </a:rPr>
                        <a:t>UAT/QA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10.238.32.0/26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10.239.32.0/26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10.238.46.0/26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10.239.46.0/26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4304D"/>
                          </a:solidFill>
                        </a:rPr>
                        <a:t>DEV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10.238.48.0/24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10.239.48.0/24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10.235.32.0/27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10.236.32.0/27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 endpoints by source system: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4041648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Couchbase: 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Private Link, QA/UAT Private Link, Dev Private Link — one dedicated endpoint per environment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Confluent: 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Private Link, QA/UAT Private Link, Dev Private Link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(IDMC): 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Private Link, QA/UAT Private Link, Dev Private Link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51663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D9E3F5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1663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secure backbone underneath everything covered so far — every source-to-Couchbase and Couchbase-to-Business Hub path in this deck rides on this Private Link + ExpressRoute foundation.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 &amp; Environment Addressing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Architecture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down without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85232" cy="3063240"/>
          </a:xfrm>
          <a:prstGeom prst="roundRect">
            <a:avLst>
              <a:gd name="adj" fmla="val 2388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5285232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74520"/>
            <a:ext cx="528523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HUB-SPOKE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47731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spoke needs its own direct connection to on-prem and every shared service — connection sprawl instead of one shared backbone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isolation — a Dev misconfiguration could expose a path toward Prod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policy duplicated per environment instead of centralized once in the Hub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85232" cy="3063240"/>
          </a:xfrm>
          <a:prstGeom prst="roundRect">
            <a:avLst>
              <a:gd name="adj" fmla="val 2388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600200"/>
            <a:ext cx="5285232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874520"/>
            <a:ext cx="5285232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00200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PRIVATE LINK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9672" y="2377440"/>
            <a:ext cx="47731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/ Couchbase / Informatica traffic would traverse the public internet to reach the Hub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banking data exposed to internet attack surface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meet compliance expectations for private, non-internet-routable financial data paths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920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plus Private Link together mean commercial banking data never touches the public internet,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environment is isolated by design — not by convention.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 Matters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Flow 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 — from source to Business Hub, and who owns what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739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· RTP/FedNow · Wires · ACH · Lockbox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71800" y="203911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4173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MuleSoft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0" y="1664208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7739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+ MuleSoft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(filtered) &amp; MuleSoft inbound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06440" y="203911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4173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enrich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309360" y="1664208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739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→ process → semantic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41080" y="203911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4173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API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0" y="1664208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7739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Hub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3544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MuleSoft API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2670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motion travels through the Hub-and-Spoke network via Private Link — see Networking.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3063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OWNERSHIP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364992"/>
            <a:ext cx="5285232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HUB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378561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operated by FIS — the client-facing portal for balances, transactions, reports, and search.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3364992"/>
            <a:ext cx="5285232" cy="1325880"/>
          </a:xfrm>
          <a:prstGeom prst="roundRect">
            <a:avLst>
              <a:gd name="adj" fmla="val 5517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519672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9672" y="378561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operated by Wintrust Enterprise DM — acquires, streams, integrates, and persists data in Couchbase for Business Hub to consume.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9377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D9E3F5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93776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five source systems to one client-facing portal: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filtered, enriched, and reconciled through Couchbase, delivered through MuleSoft, and secured end-to-end by the Hub-and-Spoke network — this is DataHub.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Recap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2026-08-11T19:57:31Z</dcterms:created>
  <dcterms:modified xsi:type="dcterms:W3CDTF">2026-08-11T19:57:31Z</dcterms:modified>
</cp:coreProperties>
</file>