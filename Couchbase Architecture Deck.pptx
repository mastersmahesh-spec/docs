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5029200"/>
            <a:ext cx="914400" cy="-365760"/>
          </a:xfrm>
          <a:prstGeom prst="line">
            <a:avLst/>
          </a:prstGeom>
          <a:noFill/>
          <a:ln w="19050">
            <a:solidFill>
              <a:srgbClr val="3A4A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4663440"/>
            <a:ext cx="822960" cy="548640"/>
          </a:xfrm>
          <a:prstGeom prst="line">
            <a:avLst/>
          </a:prstGeom>
          <a:noFill/>
          <a:ln w="19050">
            <a:solidFill>
              <a:srgbClr val="3A4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92640" y="5029200"/>
            <a:ext cx="457200" cy="731520"/>
          </a:xfrm>
          <a:prstGeom prst="line">
            <a:avLst/>
          </a:prstGeom>
          <a:noFill/>
          <a:ln w="19050">
            <a:solidFill>
              <a:srgbClr val="3A4A8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607040" y="4663440"/>
            <a:ext cx="640080" cy="1371600"/>
          </a:xfrm>
          <a:prstGeom prst="line">
            <a:avLst/>
          </a:prstGeom>
          <a:noFill/>
          <a:ln w="19050">
            <a:solidFill>
              <a:srgbClr val="3A4A8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49840" y="5760720"/>
            <a:ext cx="-731520" cy="274320"/>
          </a:xfrm>
          <a:prstGeom prst="line">
            <a:avLst/>
          </a:prstGeom>
          <a:noFill/>
          <a:ln w="19050">
            <a:solidFill>
              <a:srgbClr val="3A4A8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49840" y="5760720"/>
            <a:ext cx="1097280" cy="274320"/>
          </a:xfrm>
          <a:prstGeom prst="line">
            <a:avLst/>
          </a:prstGeom>
          <a:noFill/>
          <a:ln w="19050">
            <a:solidFill>
              <a:srgbClr val="3A4A8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10344" y="4946904"/>
            <a:ext cx="164592" cy="164592"/>
          </a:xfrm>
          <a:prstGeom prst="ellipse">
            <a:avLst/>
          </a:prstGeom>
          <a:solidFill>
            <a:srgbClr val="D9E3F5"/>
          </a:solidFill>
          <a:ln/>
        </p:spPr>
      </p:sp>
      <p:sp>
        <p:nvSpPr>
          <p:cNvPr id="9" name="Shape 7"/>
          <p:cNvSpPr/>
          <p:nvPr/>
        </p:nvSpPr>
        <p:spPr>
          <a:xfrm>
            <a:off x="10524744" y="4581144"/>
            <a:ext cx="164592" cy="16459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0" name="Shape 8"/>
          <p:cNvSpPr/>
          <p:nvPr/>
        </p:nvSpPr>
        <p:spPr>
          <a:xfrm>
            <a:off x="11347704" y="5129784"/>
            <a:ext cx="164592" cy="164592"/>
          </a:xfrm>
          <a:prstGeom prst="ellipse">
            <a:avLst/>
          </a:prstGeom>
          <a:solidFill>
            <a:srgbClr val="D9E3F5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7544" y="5678424"/>
            <a:ext cx="164592" cy="164592"/>
          </a:xfrm>
          <a:prstGeom prst="ellipse">
            <a:avLst/>
          </a:prstGeom>
          <a:solidFill>
            <a:srgbClr val="D9E3F5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4824" y="5952744"/>
            <a:ext cx="164592" cy="164592"/>
          </a:xfrm>
          <a:prstGeom prst="ellipse">
            <a:avLst/>
          </a:prstGeom>
          <a:solidFill>
            <a:srgbClr val="D9E3F5"/>
          </a:solidFill>
          <a:ln/>
        </p:spPr>
      </p:sp>
      <p:sp>
        <p:nvSpPr>
          <p:cNvPr id="13" name="Shape 11"/>
          <p:cNvSpPr/>
          <p:nvPr/>
        </p:nvSpPr>
        <p:spPr>
          <a:xfrm>
            <a:off x="9336024" y="5952744"/>
            <a:ext cx="164592" cy="164592"/>
          </a:xfrm>
          <a:prstGeom prst="ellipse">
            <a:avLst/>
          </a:prstGeom>
          <a:solidFill>
            <a:srgbClr val="D9E3F5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2331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COUCHBASE PLATFORM ARCHITECTURE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822960" y="32461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D9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Data Flow: Sources, Streaming, Integration &amp; Deployment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263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Wintrust Commercial Banking  |  Chief Data Office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932688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reference for how data flows from source systems into Couchbase, how the platform is structured, and how it is secured.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40080" y="1444752"/>
            <a:ext cx="3383280" cy="2450592"/>
          </a:xfrm>
          <a:prstGeom prst="roundRect">
            <a:avLst>
              <a:gd name="adj" fmla="val 2985"/>
            </a:avLst>
          </a:prstGeom>
          <a:solidFill>
            <a:srgbClr val="F4F7FC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444752"/>
            <a:ext cx="3383280" cy="530352"/>
          </a:xfrm>
          <a:prstGeom prst="roundRect">
            <a:avLst>
              <a:gd name="adj" fmla="val 13793"/>
            </a:avLst>
          </a:prstGeom>
          <a:solidFill>
            <a:srgbClr val="1E2761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9928"/>
            <a:ext cx="3383280" cy="26517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444752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71600" y="1444752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&amp; Overview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77824" y="215798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Background</a:t>
            </a:r>
            <a:endParaRPr lang="en-US" sz="1080" dirty="0"/>
          </a:p>
        </p:txBody>
      </p:sp>
      <p:sp>
        <p:nvSpPr>
          <p:cNvPr id="10" name="Text 8"/>
          <p:cNvSpPr/>
          <p:nvPr/>
        </p:nvSpPr>
        <p:spPr>
          <a:xfrm>
            <a:off x="3493008" y="2157984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80" dirty="0"/>
          </a:p>
        </p:txBody>
      </p:sp>
      <p:sp>
        <p:nvSpPr>
          <p:cNvPr id="11" name="Text 9"/>
          <p:cNvSpPr/>
          <p:nvPr/>
        </p:nvSpPr>
        <p:spPr>
          <a:xfrm>
            <a:off x="877824" y="24917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High-Level Architecture Overview</a:t>
            </a:r>
            <a:endParaRPr lang="en-US" sz="1080" dirty="0"/>
          </a:p>
        </p:txBody>
      </p:sp>
      <p:sp>
        <p:nvSpPr>
          <p:cNvPr id="12" name="Text 10"/>
          <p:cNvSpPr/>
          <p:nvPr/>
        </p:nvSpPr>
        <p:spPr>
          <a:xfrm>
            <a:off x="3493008" y="2491740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4402836" y="1444752"/>
            <a:ext cx="3383280" cy="2450592"/>
          </a:xfrm>
          <a:prstGeom prst="roundRect">
            <a:avLst>
              <a:gd name="adj" fmla="val 2985"/>
            </a:avLst>
          </a:prstGeom>
          <a:solidFill>
            <a:srgbClr val="F4F7FC"/>
          </a:solidFill>
          <a:ln/>
        </p:spPr>
      </p:sp>
      <p:sp>
        <p:nvSpPr>
          <p:cNvPr id="14" name="Shape 12"/>
          <p:cNvSpPr/>
          <p:nvPr/>
        </p:nvSpPr>
        <p:spPr>
          <a:xfrm>
            <a:off x="4402836" y="1444752"/>
            <a:ext cx="3383280" cy="530352"/>
          </a:xfrm>
          <a:prstGeom prst="roundRect">
            <a:avLst>
              <a:gd name="adj" fmla="val 13793"/>
            </a:avLst>
          </a:prstGeom>
          <a:solidFill>
            <a:srgbClr val="1C7293"/>
          </a:solidFill>
          <a:ln/>
        </p:spPr>
      </p:sp>
      <p:sp>
        <p:nvSpPr>
          <p:cNvPr id="15" name="Shape 13"/>
          <p:cNvSpPr/>
          <p:nvPr/>
        </p:nvSpPr>
        <p:spPr>
          <a:xfrm>
            <a:off x="4402836" y="1709928"/>
            <a:ext cx="3383280" cy="26517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4585716" y="1444752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134356" y="1444752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40580" y="215798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080" dirty="0"/>
          </a:p>
        </p:txBody>
      </p:sp>
      <p:sp>
        <p:nvSpPr>
          <p:cNvPr id="19" name="Text 17"/>
          <p:cNvSpPr/>
          <p:nvPr/>
        </p:nvSpPr>
        <p:spPr>
          <a:xfrm>
            <a:off x="7255764" y="2157984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80" dirty="0"/>
          </a:p>
        </p:txBody>
      </p:sp>
      <p:sp>
        <p:nvSpPr>
          <p:cNvPr id="20" name="Text 18"/>
          <p:cNvSpPr/>
          <p:nvPr/>
        </p:nvSpPr>
        <p:spPr>
          <a:xfrm>
            <a:off x="4640580" y="24917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Layer</a:t>
            </a:r>
            <a:endParaRPr lang="en-US" sz="1080" dirty="0"/>
          </a:p>
        </p:txBody>
      </p:sp>
      <p:sp>
        <p:nvSpPr>
          <p:cNvPr id="21" name="Text 19"/>
          <p:cNvSpPr/>
          <p:nvPr/>
        </p:nvSpPr>
        <p:spPr>
          <a:xfrm>
            <a:off x="7255764" y="2491740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80" dirty="0"/>
          </a:p>
        </p:txBody>
      </p:sp>
      <p:sp>
        <p:nvSpPr>
          <p:cNvPr id="22" name="Text 20"/>
          <p:cNvSpPr/>
          <p:nvPr/>
        </p:nvSpPr>
        <p:spPr>
          <a:xfrm>
            <a:off x="4640580" y="282549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Mulesoft Inbound Integration</a:t>
            </a:r>
            <a:endParaRPr lang="en-US" sz="1080" dirty="0"/>
          </a:p>
        </p:txBody>
      </p:sp>
      <p:sp>
        <p:nvSpPr>
          <p:cNvPr id="23" name="Text 21"/>
          <p:cNvSpPr/>
          <p:nvPr/>
        </p:nvSpPr>
        <p:spPr>
          <a:xfrm>
            <a:off x="7255764" y="2825496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80" dirty="0"/>
          </a:p>
        </p:txBody>
      </p:sp>
      <p:sp>
        <p:nvSpPr>
          <p:cNvPr id="24" name="Text 22"/>
          <p:cNvSpPr/>
          <p:nvPr/>
        </p:nvSpPr>
        <p:spPr>
          <a:xfrm>
            <a:off x="4640580" y="315925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 Process (Nightly)</a:t>
            </a:r>
            <a:endParaRPr lang="en-US" sz="1080" dirty="0"/>
          </a:p>
        </p:txBody>
      </p:sp>
      <p:sp>
        <p:nvSpPr>
          <p:cNvPr id="25" name="Text 23"/>
          <p:cNvSpPr/>
          <p:nvPr/>
        </p:nvSpPr>
        <p:spPr>
          <a:xfrm>
            <a:off x="7255764" y="3159252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80" dirty="0"/>
          </a:p>
        </p:txBody>
      </p:sp>
      <p:sp>
        <p:nvSpPr>
          <p:cNvPr id="26" name="Shape 24"/>
          <p:cNvSpPr/>
          <p:nvPr/>
        </p:nvSpPr>
        <p:spPr>
          <a:xfrm>
            <a:off x="8165592" y="1444752"/>
            <a:ext cx="3383280" cy="2450592"/>
          </a:xfrm>
          <a:prstGeom prst="roundRect">
            <a:avLst>
              <a:gd name="adj" fmla="val 2985"/>
            </a:avLst>
          </a:prstGeom>
          <a:solidFill>
            <a:srgbClr val="F4F7FC"/>
          </a:solidFill>
          <a:ln/>
        </p:spPr>
      </p:sp>
      <p:sp>
        <p:nvSpPr>
          <p:cNvPr id="27" name="Shape 25"/>
          <p:cNvSpPr/>
          <p:nvPr/>
        </p:nvSpPr>
        <p:spPr>
          <a:xfrm>
            <a:off x="8165592" y="1444752"/>
            <a:ext cx="3383280" cy="530352"/>
          </a:xfrm>
          <a:prstGeom prst="roundRect">
            <a:avLst>
              <a:gd name="adj" fmla="val 13793"/>
            </a:avLst>
          </a:prstGeom>
          <a:solidFill>
            <a:srgbClr val="1E2761"/>
          </a:solidFill>
          <a:ln/>
        </p:spPr>
      </p:sp>
      <p:sp>
        <p:nvSpPr>
          <p:cNvPr id="28" name="Shape 26"/>
          <p:cNvSpPr/>
          <p:nvPr/>
        </p:nvSpPr>
        <p:spPr>
          <a:xfrm>
            <a:off x="8165592" y="1709928"/>
            <a:ext cx="3383280" cy="26517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/>
          <p:nvPr/>
        </p:nvSpPr>
        <p:spPr>
          <a:xfrm>
            <a:off x="8348472" y="1444752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897112" y="1444752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Couchbase Platform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403336" y="215798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Overview</a:t>
            </a:r>
            <a:endParaRPr lang="en-US" sz="1080" dirty="0"/>
          </a:p>
        </p:txBody>
      </p:sp>
      <p:sp>
        <p:nvSpPr>
          <p:cNvPr id="32" name="Text 30"/>
          <p:cNvSpPr/>
          <p:nvPr/>
        </p:nvSpPr>
        <p:spPr>
          <a:xfrm>
            <a:off x="11018520" y="2157984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80" dirty="0"/>
          </a:p>
        </p:txBody>
      </p:sp>
      <p:sp>
        <p:nvSpPr>
          <p:cNvPr id="33" name="Text 31"/>
          <p:cNvSpPr/>
          <p:nvPr/>
        </p:nvSpPr>
        <p:spPr>
          <a:xfrm>
            <a:off x="8403336" y="24917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&amp; Process Collections</a:t>
            </a:r>
            <a:endParaRPr lang="en-US" sz="1080" dirty="0"/>
          </a:p>
        </p:txBody>
      </p:sp>
      <p:sp>
        <p:nvSpPr>
          <p:cNvPr id="34" name="Text 32"/>
          <p:cNvSpPr/>
          <p:nvPr/>
        </p:nvSpPr>
        <p:spPr>
          <a:xfrm>
            <a:off x="11018520" y="2491740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80" dirty="0"/>
          </a:p>
        </p:txBody>
      </p:sp>
      <p:sp>
        <p:nvSpPr>
          <p:cNvPr id="35" name="Text 33"/>
          <p:cNvSpPr/>
          <p:nvPr/>
        </p:nvSpPr>
        <p:spPr>
          <a:xfrm>
            <a:off x="8403336" y="282549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Reporting Collections</a:t>
            </a:r>
            <a:endParaRPr lang="en-US" sz="1080" dirty="0"/>
          </a:p>
        </p:txBody>
      </p:sp>
      <p:sp>
        <p:nvSpPr>
          <p:cNvPr id="36" name="Text 34"/>
          <p:cNvSpPr/>
          <p:nvPr/>
        </p:nvSpPr>
        <p:spPr>
          <a:xfrm>
            <a:off x="11018520" y="2825496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80" dirty="0"/>
          </a:p>
        </p:txBody>
      </p:sp>
      <p:sp>
        <p:nvSpPr>
          <p:cNvPr id="37" name="Text 35"/>
          <p:cNvSpPr/>
          <p:nvPr/>
        </p:nvSpPr>
        <p:spPr>
          <a:xfrm>
            <a:off x="8403336" y="315925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Hub Reports</a:t>
            </a:r>
            <a:endParaRPr lang="en-US" sz="1080" dirty="0"/>
          </a:p>
        </p:txBody>
      </p:sp>
      <p:sp>
        <p:nvSpPr>
          <p:cNvPr id="38" name="Text 36"/>
          <p:cNvSpPr/>
          <p:nvPr/>
        </p:nvSpPr>
        <p:spPr>
          <a:xfrm>
            <a:off x="11018520" y="3159252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80" dirty="0"/>
          </a:p>
        </p:txBody>
      </p:sp>
      <p:sp>
        <p:nvSpPr>
          <p:cNvPr id="39" name="Text 37"/>
          <p:cNvSpPr/>
          <p:nvPr/>
        </p:nvSpPr>
        <p:spPr>
          <a:xfrm>
            <a:off x="8403336" y="349300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Couchbase?</a:t>
            </a:r>
            <a:endParaRPr lang="en-US" sz="1080" dirty="0"/>
          </a:p>
        </p:txBody>
      </p:sp>
      <p:sp>
        <p:nvSpPr>
          <p:cNvPr id="40" name="Text 38"/>
          <p:cNvSpPr/>
          <p:nvPr/>
        </p:nvSpPr>
        <p:spPr>
          <a:xfrm>
            <a:off x="11018520" y="3493008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80" dirty="0"/>
          </a:p>
        </p:txBody>
      </p:sp>
      <p:sp>
        <p:nvSpPr>
          <p:cNvPr id="41" name="Shape 39"/>
          <p:cNvSpPr/>
          <p:nvPr/>
        </p:nvSpPr>
        <p:spPr>
          <a:xfrm>
            <a:off x="640080" y="4078224"/>
            <a:ext cx="7146036" cy="2148840"/>
          </a:xfrm>
          <a:prstGeom prst="roundRect">
            <a:avLst>
              <a:gd name="adj" fmla="val 3404"/>
            </a:avLst>
          </a:prstGeom>
          <a:solidFill>
            <a:srgbClr val="F4F7FC"/>
          </a:solidFill>
          <a:ln/>
        </p:spPr>
      </p:sp>
      <p:sp>
        <p:nvSpPr>
          <p:cNvPr id="42" name="Shape 40"/>
          <p:cNvSpPr/>
          <p:nvPr/>
        </p:nvSpPr>
        <p:spPr>
          <a:xfrm>
            <a:off x="640080" y="4078224"/>
            <a:ext cx="7146036" cy="530352"/>
          </a:xfrm>
          <a:prstGeom prst="roundRect">
            <a:avLst>
              <a:gd name="adj" fmla="val 13793"/>
            </a:avLst>
          </a:prstGeom>
          <a:solidFill>
            <a:srgbClr val="1C7293"/>
          </a:solidFill>
          <a:ln/>
        </p:spPr>
      </p:sp>
      <p:sp>
        <p:nvSpPr>
          <p:cNvPr id="43" name="Shape 41"/>
          <p:cNvSpPr/>
          <p:nvPr/>
        </p:nvSpPr>
        <p:spPr>
          <a:xfrm>
            <a:off x="640080" y="4343400"/>
            <a:ext cx="7146036" cy="26517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4" name="Text 42"/>
          <p:cNvSpPr/>
          <p:nvPr/>
        </p:nvSpPr>
        <p:spPr>
          <a:xfrm>
            <a:off x="822960" y="4078224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1371600" y="4078224"/>
            <a:ext cx="62316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Networking &amp; Security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877824" y="4791456"/>
            <a:ext cx="64145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Hub-and-Spoke Model</a:t>
            </a:r>
            <a:endParaRPr lang="en-US" sz="1080" dirty="0"/>
          </a:p>
        </p:txBody>
      </p:sp>
      <p:sp>
        <p:nvSpPr>
          <p:cNvPr id="47" name="Text 45"/>
          <p:cNvSpPr/>
          <p:nvPr/>
        </p:nvSpPr>
        <p:spPr>
          <a:xfrm>
            <a:off x="7255764" y="4791456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80" dirty="0"/>
          </a:p>
        </p:txBody>
      </p:sp>
      <p:sp>
        <p:nvSpPr>
          <p:cNvPr id="48" name="Text 46"/>
          <p:cNvSpPr/>
          <p:nvPr/>
        </p:nvSpPr>
        <p:spPr>
          <a:xfrm>
            <a:off x="877824" y="5125212"/>
            <a:ext cx="64145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DataHub Communicates: A Real Example</a:t>
            </a:r>
            <a:endParaRPr lang="en-US" sz="1080" dirty="0"/>
          </a:p>
        </p:txBody>
      </p:sp>
      <p:sp>
        <p:nvSpPr>
          <p:cNvPr id="49" name="Text 47"/>
          <p:cNvSpPr/>
          <p:nvPr/>
        </p:nvSpPr>
        <p:spPr>
          <a:xfrm>
            <a:off x="7255764" y="5125212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80" dirty="0"/>
          </a:p>
        </p:txBody>
      </p:sp>
      <p:sp>
        <p:nvSpPr>
          <p:cNvPr id="50" name="Text 48"/>
          <p:cNvSpPr/>
          <p:nvPr/>
        </p:nvSpPr>
        <p:spPr>
          <a:xfrm>
            <a:off x="877824" y="5458968"/>
            <a:ext cx="64145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Link &amp; Environment Addressing</a:t>
            </a:r>
            <a:endParaRPr lang="en-US" sz="1080" dirty="0"/>
          </a:p>
        </p:txBody>
      </p:sp>
      <p:sp>
        <p:nvSpPr>
          <p:cNvPr id="51" name="Text 49"/>
          <p:cNvSpPr/>
          <p:nvPr/>
        </p:nvSpPr>
        <p:spPr>
          <a:xfrm>
            <a:off x="7255764" y="5458968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80" dirty="0"/>
          </a:p>
        </p:txBody>
      </p:sp>
      <p:sp>
        <p:nvSpPr>
          <p:cNvPr id="52" name="Text 50"/>
          <p:cNvSpPr/>
          <p:nvPr/>
        </p:nvSpPr>
        <p:spPr>
          <a:xfrm>
            <a:off x="877824" y="5792724"/>
            <a:ext cx="64145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Architecture Matters</a:t>
            </a:r>
            <a:endParaRPr lang="en-US" sz="1080" dirty="0"/>
          </a:p>
        </p:txBody>
      </p:sp>
      <p:sp>
        <p:nvSpPr>
          <p:cNvPr id="53" name="Text 51"/>
          <p:cNvSpPr/>
          <p:nvPr/>
        </p:nvSpPr>
        <p:spPr>
          <a:xfrm>
            <a:off x="7255764" y="5792724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80" dirty="0"/>
          </a:p>
        </p:txBody>
      </p:sp>
      <p:sp>
        <p:nvSpPr>
          <p:cNvPr id="54" name="Shape 52"/>
          <p:cNvSpPr/>
          <p:nvPr/>
        </p:nvSpPr>
        <p:spPr>
          <a:xfrm>
            <a:off x="8165592" y="4078224"/>
            <a:ext cx="3383280" cy="2148840"/>
          </a:xfrm>
          <a:prstGeom prst="roundRect">
            <a:avLst>
              <a:gd name="adj" fmla="val 3404"/>
            </a:avLst>
          </a:prstGeom>
          <a:solidFill>
            <a:srgbClr val="F4F7FC"/>
          </a:solidFill>
          <a:ln/>
        </p:spPr>
      </p:sp>
      <p:sp>
        <p:nvSpPr>
          <p:cNvPr id="55" name="Shape 53"/>
          <p:cNvSpPr/>
          <p:nvPr/>
        </p:nvSpPr>
        <p:spPr>
          <a:xfrm>
            <a:off x="8165592" y="4078224"/>
            <a:ext cx="3383280" cy="530352"/>
          </a:xfrm>
          <a:prstGeom prst="roundRect">
            <a:avLst>
              <a:gd name="adj" fmla="val 13793"/>
            </a:avLst>
          </a:prstGeom>
          <a:solidFill>
            <a:srgbClr val="1E2761"/>
          </a:solidFill>
          <a:ln/>
        </p:spPr>
      </p:sp>
      <p:sp>
        <p:nvSpPr>
          <p:cNvPr id="56" name="Shape 54"/>
          <p:cNvSpPr/>
          <p:nvPr/>
        </p:nvSpPr>
        <p:spPr>
          <a:xfrm>
            <a:off x="8165592" y="4343400"/>
            <a:ext cx="3383280" cy="26517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7" name="Text 55"/>
          <p:cNvSpPr/>
          <p:nvPr/>
        </p:nvSpPr>
        <p:spPr>
          <a:xfrm>
            <a:off x="8348472" y="4078224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8897112" y="4078224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8403336" y="479145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Flow Recap</a:t>
            </a:r>
            <a:endParaRPr lang="en-US" sz="1080" dirty="0"/>
          </a:p>
        </p:txBody>
      </p:sp>
      <p:sp>
        <p:nvSpPr>
          <p:cNvPr id="60" name="Text 58"/>
          <p:cNvSpPr/>
          <p:nvPr/>
        </p:nvSpPr>
        <p:spPr>
          <a:xfrm>
            <a:off x="11018520" y="4791456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80" dirty="0"/>
          </a:p>
        </p:txBody>
      </p:sp>
      <p:sp>
        <p:nvSpPr>
          <p:cNvPr id="61" name="Shape 59"/>
          <p:cNvSpPr/>
          <p:nvPr/>
        </p:nvSpPr>
        <p:spPr>
          <a:xfrm>
            <a:off x="640080" y="6428232"/>
            <a:ext cx="10908792" cy="0"/>
          </a:xfrm>
          <a:prstGeom prst="line">
            <a:avLst/>
          </a:prstGeom>
          <a:noFill/>
          <a:ln w="12700">
            <a:solidFill>
              <a:srgbClr val="E3E9F2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40080" y="647395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7891272" y="647395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Wintrust Commercial Banking  |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Background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33272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Banking Enhanced Reporting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49240" cy="3794760"/>
          </a:xfrm>
          <a:prstGeom prst="roundRect">
            <a:avLst>
              <a:gd name="adj" fmla="val 1928"/>
            </a:avLst>
          </a:prstGeom>
          <a:solidFill>
            <a:srgbClr val="F4F7FC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81051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Initiative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Wintrust Commercial Banking – Treasury Management (TM) initiative to expand TM services to a new market segment: Large Commercial and Corporate clients. The project builds the business, technology, processing, and service capabilities needed to meet the demands of this segment.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914400" y="318211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Needs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3520440"/>
            <a:ext cx="48463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Prior-day and same-day visibility into balances and transactions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and custom reports at the BAI code level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position and cash-flow forecasting from near real-time data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Enrichment of transaction information for context and clarity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search across current and historical data spanning 7 years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63640" y="1600200"/>
            <a:ext cx="5285232" cy="1737360"/>
          </a:xfrm>
          <a:prstGeom prst="roundRect">
            <a:avLst>
              <a:gd name="adj" fmla="val 4211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6537960" y="178308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D9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HUB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537960" y="20574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9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Client-facing UI portal — built &amp; operated by FIS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37960" y="2377440"/>
            <a:ext cx="4736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Gives commercial clients a single place to view balances, transactions, cash position and forecast, run standard or custom reports, and search transaction history.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3520440"/>
            <a:ext cx="5285232" cy="1737360"/>
          </a:xfrm>
          <a:prstGeom prst="roundRect">
            <a:avLst>
              <a:gd name="adj" fmla="val 4211"/>
            </a:avLst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6537960" y="370332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DATAHUB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37960" y="397764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9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&amp; data layer — built &amp; operated by Wintrust Enterprise DM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37960" y="4297680"/>
            <a:ext cx="4736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Acquires data from core banking and TPS systems, ingests it at near real-time and end-of-day frequencies, processes and enriches it to a standardized BAI code level, and provisions it to Business Hub.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5532120"/>
            <a:ext cx="10908792" cy="822960"/>
          </a:xfrm>
          <a:prstGeom prst="roundRect">
            <a:avLst>
              <a:gd name="adj" fmla="val 8889"/>
            </a:avLst>
          </a:prstGeom>
          <a:solidFill>
            <a:srgbClr val="D9E3F5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5532120"/>
            <a:ext cx="10360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Datahub — powered by Couchbase and the streaming/integration architecture covered in this deck —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backbone that makes real-time, enriched, historical reporting possible.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6428232"/>
            <a:ext cx="10908792" cy="0"/>
          </a:xfrm>
          <a:prstGeom prst="line">
            <a:avLst/>
          </a:prstGeom>
          <a:noFill/>
          <a:ln w="12700">
            <a:solidFill>
              <a:srgbClr val="E3E9F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647395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Background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Wintrust Commercial Banking  |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High-Level Architecture Overview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/ Producers  →  Data Processing / Persistence  →  Destination / Consumers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200400" cy="3794760"/>
          </a:xfrm>
          <a:prstGeom prst="roundRect">
            <a:avLst>
              <a:gd name="adj" fmla="val 2286"/>
            </a:avLst>
          </a:prstGeom>
          <a:solidFill>
            <a:srgbClr val="F4F7FC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481328"/>
            <a:ext cx="3200400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37360"/>
            <a:ext cx="3200400" cy="24688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48132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/ PRODUCERS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2194560"/>
            <a:ext cx="279806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1200"/>
              </a:spcAft>
              <a:buSzPct val="100000"/>
              <a:buChar char="●"/>
            </a:pPr>
            <a:r>
              <a:rPr lang="en-US" sz="115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Events: Kafka streams real-time deposit and transaction events published by FIS IBS.</a:t>
            </a:r>
            <a:endParaRPr lang="en-US" sz="1150" dirty="0"/>
          </a:p>
          <a:p>
            <a:pPr marL="203200" indent="-203200">
              <a:lnSpc>
                <a:spcPct val="118000"/>
              </a:lnSpc>
              <a:spcAft>
                <a:spcPts val="1200"/>
              </a:spcAft>
              <a:buSzPct val="100000"/>
              <a:buChar char="●"/>
            </a:pPr>
            <a:r>
              <a:rPr lang="en-US" sz="115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Messages: IBM MQ delivers RTP, FedNow, and wire notifications from FIS OPF and GPP.</a:t>
            </a:r>
            <a:endParaRPr lang="en-US" sz="1150" dirty="0"/>
          </a:p>
          <a:p>
            <a:pPr marL="203200" indent="-203200">
              <a:lnSpc>
                <a:spcPct val="118000"/>
              </a:lnSpc>
              <a:spcAft>
                <a:spcPts val="1200"/>
              </a:spcAft>
              <a:buSzPct val="100000"/>
              <a:buChar char="●"/>
            </a:pPr>
            <a:r>
              <a:rPr lang="en-US" sz="115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Files/DB: nightly batch files from BIC EOD, ACH, and Lockbox feed historical loads.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79392" y="1481328"/>
            <a:ext cx="3566160" cy="3794760"/>
          </a:xfrm>
          <a:prstGeom prst="roundRect">
            <a:avLst>
              <a:gd name="adj" fmla="val 2051"/>
            </a:avLst>
          </a:prstGeom>
          <a:solidFill>
            <a:srgbClr val="F4F7FC"/>
          </a:solidFill>
          <a:ln/>
        </p:spPr>
      </p:sp>
      <p:sp>
        <p:nvSpPr>
          <p:cNvPr id="10" name="Shape 8"/>
          <p:cNvSpPr/>
          <p:nvPr/>
        </p:nvSpPr>
        <p:spPr>
          <a:xfrm>
            <a:off x="4279392" y="1481328"/>
            <a:ext cx="3566160" cy="502920"/>
          </a:xfrm>
          <a:prstGeom prst="roundRect">
            <a:avLst>
              <a:gd name="adj" fmla="val 14545"/>
            </a:avLst>
          </a:prstGeom>
          <a:solidFill>
            <a:srgbClr val="1C7293"/>
          </a:solidFill>
          <a:ln/>
        </p:spPr>
      </p:sp>
      <p:sp>
        <p:nvSpPr>
          <p:cNvPr id="11" name="Shape 9"/>
          <p:cNvSpPr/>
          <p:nvPr/>
        </p:nvSpPr>
        <p:spPr>
          <a:xfrm>
            <a:off x="4279392" y="1737360"/>
            <a:ext cx="3566160" cy="24688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4462272" y="148132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PROCESSING / PERSISTENCE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80560" y="2194560"/>
            <a:ext cx="316382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1200"/>
              </a:spcAft>
              <a:buSzPct val="100000"/>
              <a:buChar char="●"/>
            </a:pPr>
            <a:r>
              <a:rPr lang="en-US" sz="115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Confluent (Datahub Kafka) ingests and brokers real-time events from source systems.</a:t>
            </a:r>
            <a:endParaRPr lang="en-US" sz="1150" dirty="0"/>
          </a:p>
          <a:p>
            <a:pPr marL="203200" indent="-203200">
              <a:lnSpc>
                <a:spcPct val="118000"/>
              </a:lnSpc>
              <a:spcAft>
                <a:spcPts val="1200"/>
              </a:spcAft>
              <a:buSzPct val="100000"/>
              <a:buChar char="●"/>
            </a:pPr>
            <a:r>
              <a:rPr lang="en-US" sz="115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Connect streams processed events into the Couchbase persistence layer.</a:t>
            </a:r>
            <a:endParaRPr lang="en-US" sz="1150" dirty="0"/>
          </a:p>
          <a:p>
            <a:pPr marL="203200" indent="-203200">
              <a:lnSpc>
                <a:spcPct val="118000"/>
              </a:lnSpc>
              <a:spcAft>
                <a:spcPts val="1200"/>
              </a:spcAft>
              <a:buSzPct val="100000"/>
              <a:buChar char="●"/>
            </a:pPr>
            <a:r>
              <a:rPr lang="en-US" sz="115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Couchbase stores enriched, queryable data as the single source of truth for reporting.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84464" y="1481328"/>
            <a:ext cx="3264408" cy="3794760"/>
          </a:xfrm>
          <a:prstGeom prst="roundRect">
            <a:avLst>
              <a:gd name="adj" fmla="val 2241"/>
            </a:avLst>
          </a:prstGeom>
          <a:solidFill>
            <a:srgbClr val="F4F7FC"/>
          </a:solidFill>
          <a:ln/>
        </p:spPr>
      </p:sp>
      <p:sp>
        <p:nvSpPr>
          <p:cNvPr id="15" name="Shape 13"/>
          <p:cNvSpPr/>
          <p:nvPr/>
        </p:nvSpPr>
        <p:spPr>
          <a:xfrm>
            <a:off x="8284464" y="1481328"/>
            <a:ext cx="3264408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</p:sp>
      <p:sp>
        <p:nvSpPr>
          <p:cNvPr id="16" name="Shape 14"/>
          <p:cNvSpPr/>
          <p:nvPr/>
        </p:nvSpPr>
        <p:spPr>
          <a:xfrm>
            <a:off x="8284464" y="1737360"/>
            <a:ext cx="3264408" cy="24688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467344" y="1481328"/>
            <a:ext cx="28986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DESTINATION / CONSUMERS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485632" y="2194560"/>
            <a:ext cx="2862072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1200"/>
              </a:spcAft>
              <a:buSzPct val="100000"/>
              <a:buChar char="●"/>
            </a:pPr>
            <a:r>
              <a:rPr lang="en-US" sz="115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Hub retrieves balances, transactions, and reports via MuleSoft APIs.</a:t>
            </a:r>
            <a:endParaRPr lang="en-US" sz="1150" dirty="0"/>
          </a:p>
          <a:p>
            <a:pPr marL="203200" indent="-203200">
              <a:lnSpc>
                <a:spcPct val="118000"/>
              </a:lnSpc>
              <a:spcAft>
                <a:spcPts val="1200"/>
              </a:spcAft>
              <a:buSzPct val="100000"/>
              <a:buChar char="●"/>
            </a:pPr>
            <a:r>
              <a:rPr lang="en-US" sz="115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exports deliver data to downstream systems via the Couchbase SDK.</a:t>
            </a:r>
            <a:endParaRPr lang="en-US" sz="1150" dirty="0"/>
          </a:p>
          <a:p>
            <a:pPr marL="203200" indent="-203200">
              <a:lnSpc>
                <a:spcPct val="118000"/>
              </a:lnSpc>
              <a:spcAft>
                <a:spcPts val="1200"/>
              </a:spcAft>
              <a:buSzPct val="100000"/>
              <a:buChar char="●"/>
            </a:pPr>
            <a:r>
              <a:rPr lang="en-US" sz="115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RESTful API consumers access data through MuleSoft-brokered endpoints.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895344" y="3259836"/>
            <a:ext cx="329184" cy="237744"/>
          </a:xfrm>
          <a:prstGeom prst="rightArrow">
            <a:avLst/>
          </a:prstGeom>
          <a:solidFill>
            <a:srgbClr val="5A6B87"/>
          </a:solidFill>
          <a:ln/>
        </p:spPr>
      </p:sp>
      <p:sp>
        <p:nvSpPr>
          <p:cNvPr id="20" name="Shape 18"/>
          <p:cNvSpPr/>
          <p:nvPr/>
        </p:nvSpPr>
        <p:spPr>
          <a:xfrm>
            <a:off x="7900416" y="3259836"/>
            <a:ext cx="329184" cy="237744"/>
          </a:xfrm>
          <a:prstGeom prst="rightArrow">
            <a:avLst/>
          </a:prstGeom>
          <a:solidFill>
            <a:srgbClr val="5A6B87"/>
          </a:solidFill>
          <a:ln/>
        </p:spPr>
      </p:sp>
      <p:sp>
        <p:nvSpPr>
          <p:cNvPr id="21" name="Shape 19"/>
          <p:cNvSpPr/>
          <p:nvPr/>
        </p:nvSpPr>
        <p:spPr>
          <a:xfrm>
            <a:off x="640080" y="5440680"/>
            <a:ext cx="10908792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544068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D9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ingestion patterns — real-time events, message queues, and batch files —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converge in Couchbase as the central persistence layer, then fan out to consumers via MuleSoft.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6428232"/>
            <a:ext cx="10908792" cy="0"/>
          </a:xfrm>
          <a:prstGeom prst="line">
            <a:avLst/>
          </a:prstGeom>
          <a:noFill/>
          <a:ln w="12700">
            <a:solidFill>
              <a:srgbClr val="E3E9F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47395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High-Level Architecture Overview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891272" y="647395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Wintrust Commercial Banking  | 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Sources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3327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Grouped by ingestion pattern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3383280" cy="3017520"/>
          </a:xfrm>
          <a:prstGeom prst="roundRect">
            <a:avLst>
              <a:gd name="adj" fmla="val 2424"/>
            </a:avLst>
          </a:prstGeom>
          <a:solidFill>
            <a:srgbClr val="F4F7FC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600200"/>
            <a:ext cx="338328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874520"/>
            <a:ext cx="3383280" cy="2743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6002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96112" y="2377440"/>
            <a:ext cx="287121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1400"/>
              </a:spcAft>
              <a:buSzPct val="100000"/>
              <a:buChar char="●"/>
            </a:pPr>
            <a:r>
              <a:rPr lang="en-US" sz="1200" b="1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IBS (FIS Core Banking): </a:t>
            </a:r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20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of record for deposit accounts and core transaction processing.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600200"/>
            <a:ext cx="3383280" cy="3017520"/>
          </a:xfrm>
          <a:prstGeom prst="roundRect">
            <a:avLst>
              <a:gd name="adj" fmla="val 2424"/>
            </a:avLst>
          </a:prstGeom>
          <a:solidFill>
            <a:srgbClr val="F4F7FC"/>
          </a:solidFill>
          <a:ln/>
        </p:spPr>
      </p:sp>
      <p:sp>
        <p:nvSpPr>
          <p:cNvPr id="10" name="Shape 8"/>
          <p:cNvSpPr/>
          <p:nvPr/>
        </p:nvSpPr>
        <p:spPr>
          <a:xfrm>
            <a:off x="4297680" y="1600200"/>
            <a:ext cx="3383280" cy="548640"/>
          </a:xfrm>
          <a:prstGeom prst="roundRect">
            <a:avLst>
              <a:gd name="adj" fmla="val 13333"/>
            </a:avLst>
          </a:prstGeom>
          <a:solidFill>
            <a:srgbClr val="1C7293"/>
          </a:solidFill>
          <a:ln/>
        </p:spPr>
      </p:sp>
      <p:sp>
        <p:nvSpPr>
          <p:cNvPr id="11" name="Shape 9"/>
          <p:cNvSpPr/>
          <p:nvPr/>
        </p:nvSpPr>
        <p:spPr>
          <a:xfrm>
            <a:off x="4297680" y="1874520"/>
            <a:ext cx="3383280" cy="2743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4526280" y="16002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INTEGRATIONS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53712" y="2377440"/>
            <a:ext cx="287121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1400"/>
              </a:spcAft>
              <a:buSzPct val="100000"/>
              <a:buChar char="●"/>
            </a:pPr>
            <a:r>
              <a:rPr lang="en-US" sz="1200" b="1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RTP / FedNow: </a:t>
            </a:r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20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payment rails processed through FIS OPF in real time.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1400"/>
              </a:spcAft>
              <a:buSzPct val="100000"/>
              <a:buChar char="●"/>
            </a:pPr>
            <a:r>
              <a:rPr lang="en-US" sz="1200" b="1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Wires: </a:t>
            </a:r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20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inbound/outbound transfers confirmed via GPP advice messages.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55280" y="1600200"/>
            <a:ext cx="3593592" cy="3017520"/>
          </a:xfrm>
          <a:prstGeom prst="roundRect">
            <a:avLst>
              <a:gd name="adj" fmla="val 2424"/>
            </a:avLst>
          </a:prstGeom>
          <a:solidFill>
            <a:srgbClr val="F4F7FC"/>
          </a:solidFill>
          <a:ln/>
        </p:spPr>
      </p:sp>
      <p:sp>
        <p:nvSpPr>
          <p:cNvPr id="15" name="Shape 13"/>
          <p:cNvSpPr/>
          <p:nvPr/>
        </p:nvSpPr>
        <p:spPr>
          <a:xfrm>
            <a:off x="7955280" y="1600200"/>
            <a:ext cx="3593592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6" name="Shape 14"/>
          <p:cNvSpPr/>
          <p:nvPr/>
        </p:nvSpPr>
        <p:spPr>
          <a:xfrm>
            <a:off x="7955280" y="1874520"/>
            <a:ext cx="3593592" cy="2743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183880" y="1600200"/>
            <a:ext cx="3136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BATCH-BASED TPS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11312" y="2377440"/>
            <a:ext cx="308152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1400"/>
              </a:spcAft>
              <a:buSzPct val="100000"/>
              <a:buChar char="●"/>
            </a:pPr>
            <a:r>
              <a:rPr lang="en-US" sz="1200" b="1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ACH: </a:t>
            </a:r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20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origination, receipt, and return transactions from FIS ACH Tracker.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1400"/>
              </a:spcAft>
              <a:buSzPct val="100000"/>
              <a:buChar char="●"/>
            </a:pPr>
            <a:r>
              <a:rPr lang="en-US" sz="1200" b="1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Lockbox: </a:t>
            </a:r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20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summary files produced by Deluxe, loaded nightly.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1400"/>
              </a:spcAft>
              <a:buSzPct val="100000"/>
              <a:buChar char="●"/>
            </a:pPr>
            <a:r>
              <a:rPr lang="en-US" sz="1200" b="1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Cards: </a:t>
            </a:r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20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transaction settlement captured through core batch processing.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937760"/>
            <a:ext cx="10908792" cy="914400"/>
          </a:xfrm>
          <a:prstGeom prst="roundRect">
            <a:avLst>
              <a:gd name="adj" fmla="val 8000"/>
            </a:avLst>
          </a:prstGeom>
          <a:solidFill>
            <a:srgbClr val="D9E3F5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9377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span three velocities —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(continuous), real-time payment rails (instant), and batch TPS (scheduled)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all converging into a single ingestion layer before reaching Couchbase.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6428232"/>
            <a:ext cx="10908792" cy="0"/>
          </a:xfrm>
          <a:prstGeom prst="line">
            <a:avLst/>
          </a:prstGeom>
          <a:noFill/>
          <a:ln w="12700">
            <a:solidFill>
              <a:srgbClr val="E3E9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647395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891272" y="647395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Wintrust Commercial Banking  | 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Streaming Layer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ingestion via Kafka — with commercial account filtering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938528"/>
            <a:ext cx="1965960" cy="868680"/>
          </a:xfrm>
          <a:prstGeom prst="roundRect">
            <a:avLst>
              <a:gd name="adj" fmla="val 7368"/>
            </a:avLst>
          </a:prstGeom>
          <a:solidFill>
            <a:srgbClr val="F4F7FC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38528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 IBS Event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651760" y="2290572"/>
            <a:ext cx="411480" cy="164592"/>
          </a:xfrm>
          <a:prstGeom prst="rightArrow">
            <a:avLst/>
          </a:prstGeom>
          <a:solidFill>
            <a:srgbClr val="5A6B87"/>
          </a:solidFill>
          <a:ln/>
        </p:spPr>
      </p:sp>
      <p:sp>
        <p:nvSpPr>
          <p:cNvPr id="7" name="Text 5"/>
          <p:cNvSpPr/>
          <p:nvPr/>
        </p:nvSpPr>
        <p:spPr>
          <a:xfrm>
            <a:off x="2148840" y="1691640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Event – Real time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154680" y="1938528"/>
            <a:ext cx="1874520" cy="868680"/>
          </a:xfrm>
          <a:prstGeom prst="roundRect">
            <a:avLst>
              <a:gd name="adj" fmla="val 7368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3246120" y="1938528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DataHub Kafka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74920" y="2290572"/>
            <a:ext cx="411480" cy="164592"/>
          </a:xfrm>
          <a:prstGeom prst="rightArrow">
            <a:avLst/>
          </a:prstGeom>
          <a:solidFill>
            <a:srgbClr val="5A6B87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1691640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Event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577840" y="1938528"/>
            <a:ext cx="1417320" cy="868680"/>
          </a:xfrm>
          <a:prstGeom prst="roundRect">
            <a:avLst>
              <a:gd name="adj" fmla="val 7368"/>
            </a:avLst>
          </a:prstGeom>
          <a:solidFill>
            <a:srgbClr val="B08D57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0" y="2048256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0" y="249631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accounts only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040880" y="2290572"/>
            <a:ext cx="411480" cy="164592"/>
          </a:xfrm>
          <a:prstGeom prst="rightArrow">
            <a:avLst/>
          </a:prstGeom>
          <a:solidFill>
            <a:srgbClr val="5A6B87"/>
          </a:solidFill>
          <a:ln/>
        </p:spPr>
      </p:sp>
      <p:sp>
        <p:nvSpPr>
          <p:cNvPr id="16" name="Text 14"/>
          <p:cNvSpPr/>
          <p:nvPr/>
        </p:nvSpPr>
        <p:spPr>
          <a:xfrm>
            <a:off x="6537960" y="1691640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Filtered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7543800" y="1938528"/>
            <a:ext cx="2377440" cy="868680"/>
          </a:xfrm>
          <a:prstGeom prst="roundRect">
            <a:avLst>
              <a:gd name="adj" fmla="val 7368"/>
            </a:avLst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7635240" y="1938528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DataHub Couchbase DB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310128"/>
            <a:ext cx="1965960" cy="868680"/>
          </a:xfrm>
          <a:prstGeom prst="roundRect">
            <a:avLst>
              <a:gd name="adj" fmla="val 7368"/>
            </a:avLst>
          </a:prstGeom>
          <a:solidFill>
            <a:srgbClr val="F4F7FC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310128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 OPF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651760" y="3662172"/>
            <a:ext cx="411480" cy="164592"/>
          </a:xfrm>
          <a:prstGeom prst="rightArrow">
            <a:avLst/>
          </a:prstGeom>
          <a:solidFill>
            <a:srgbClr val="5A6B87"/>
          </a:solidFill>
          <a:ln/>
        </p:spPr>
      </p:sp>
      <p:sp>
        <p:nvSpPr>
          <p:cNvPr id="22" name="Text 20"/>
          <p:cNvSpPr/>
          <p:nvPr/>
        </p:nvSpPr>
        <p:spPr>
          <a:xfrm>
            <a:off x="2148840" y="3063240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 – RTP Credit/Debit XML – Real time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154680" y="3310128"/>
            <a:ext cx="1874520" cy="868680"/>
          </a:xfrm>
          <a:prstGeom prst="roundRect">
            <a:avLst>
              <a:gd name="adj" fmla="val 7368"/>
            </a:avLst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3246120" y="3310128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DataHub Kafka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74920" y="3662172"/>
            <a:ext cx="411480" cy="164592"/>
          </a:xfrm>
          <a:prstGeom prst="rightArrow">
            <a:avLst/>
          </a:prstGeom>
          <a:solidFill>
            <a:srgbClr val="5A6B87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0" y="3063240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RTP message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5577840" y="3310128"/>
            <a:ext cx="1417320" cy="868680"/>
          </a:xfrm>
          <a:prstGeom prst="roundRect">
            <a:avLst>
              <a:gd name="adj" fmla="val 7368"/>
            </a:avLst>
          </a:prstGeom>
          <a:solidFill>
            <a:srgbClr val="B08D57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0" y="3419856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0" y="386791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accounts only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040880" y="3662172"/>
            <a:ext cx="411480" cy="164592"/>
          </a:xfrm>
          <a:prstGeom prst="rightArrow">
            <a:avLst/>
          </a:prstGeom>
          <a:solidFill>
            <a:srgbClr val="5A6B87"/>
          </a:solidFill>
          <a:ln/>
        </p:spPr>
      </p:sp>
      <p:sp>
        <p:nvSpPr>
          <p:cNvPr id="31" name="Text 29"/>
          <p:cNvSpPr/>
          <p:nvPr/>
        </p:nvSpPr>
        <p:spPr>
          <a:xfrm>
            <a:off x="6537960" y="3063240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Filtered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7543800" y="3310128"/>
            <a:ext cx="2377440" cy="868680"/>
          </a:xfrm>
          <a:prstGeom prst="roundRect">
            <a:avLst>
              <a:gd name="adj" fmla="val 7368"/>
            </a:avLst>
          </a:prstGeom>
          <a:solidFill>
            <a:srgbClr val="1C7293"/>
          </a:solidFill>
          <a:ln/>
        </p:spPr>
      </p:sp>
      <p:sp>
        <p:nvSpPr>
          <p:cNvPr id="33" name="Text 31"/>
          <p:cNvSpPr/>
          <p:nvPr/>
        </p:nvSpPr>
        <p:spPr>
          <a:xfrm>
            <a:off x="7635240" y="3310128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DataHub Couchbase DB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427939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IBS Deposits (top) and RTP / FedNow (bottom) are the two sources that stream through Kafka.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4754880"/>
            <a:ext cx="10908792" cy="1417320"/>
          </a:xfrm>
          <a:prstGeom prst="roundRect">
            <a:avLst>
              <a:gd name="adj" fmla="val 5161"/>
            </a:avLst>
          </a:prstGeom>
          <a:solidFill>
            <a:srgbClr val="1E2761"/>
          </a:solidFill>
          <a:ln/>
        </p:spPr>
      </p:sp>
      <p:sp>
        <p:nvSpPr>
          <p:cNvPr id="36" name="Text 34"/>
          <p:cNvSpPr/>
          <p:nvPr/>
        </p:nvSpPr>
        <p:spPr>
          <a:xfrm>
            <a:off x="914400" y="4754880"/>
            <a:ext cx="10360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D9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isn't just a pass-through — it's the filtering checkpoint that scopes real-time events to commercial accounts before they ever reach Couchbase. 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Wires, ACH, and Lockbox reach Couchbase through other real-time or batch paths, covered next in Mulesoft Inbound Integration.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40080" y="6428232"/>
            <a:ext cx="10908792" cy="0"/>
          </a:xfrm>
          <a:prstGeom prst="line">
            <a:avLst/>
          </a:prstGeom>
          <a:noFill/>
          <a:ln w="12700">
            <a:solidFill>
              <a:srgbClr val="E3E9F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47395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Layer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891272" y="647395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Wintrust Commercial Banking  | 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Mulesoft Inbound Integration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broker for Wires &amp; ACH — universal outbound gateway to Business Hub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23444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INBOUND: SOURCE → COUCHBASE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40080" y="1755648"/>
            <a:ext cx="1920240" cy="731520"/>
          </a:xfrm>
          <a:prstGeom prst="roundRect">
            <a:avLst>
              <a:gd name="adj" fmla="val 8750"/>
            </a:avLst>
          </a:prstGeom>
          <a:solidFill>
            <a:srgbClr val="F4F7F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55648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GPP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606040" y="2039112"/>
            <a:ext cx="411480" cy="164592"/>
          </a:xfrm>
          <a:prstGeom prst="rightArrow">
            <a:avLst/>
          </a:prstGeom>
          <a:solidFill>
            <a:srgbClr val="5A6B87"/>
          </a:solidFill>
          <a:ln/>
        </p:spPr>
      </p:sp>
      <p:sp>
        <p:nvSpPr>
          <p:cNvPr id="8" name="Text 6"/>
          <p:cNvSpPr/>
          <p:nvPr/>
        </p:nvSpPr>
        <p:spPr>
          <a:xfrm>
            <a:off x="2103120" y="1508760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 – Wires Advice XML – Real time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108960" y="1755648"/>
            <a:ext cx="2011680" cy="731520"/>
          </a:xfrm>
          <a:prstGeom prst="roundRect">
            <a:avLst>
              <a:gd name="adj" fmla="val 8750"/>
            </a:avLst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3200400" y="1755648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MuleSoft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166360" y="2039112"/>
            <a:ext cx="411480" cy="164592"/>
          </a:xfrm>
          <a:prstGeom prst="rightArrow">
            <a:avLst/>
          </a:prstGeom>
          <a:solidFill>
            <a:srgbClr val="5A6B87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1508760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trans data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669280" y="1755648"/>
            <a:ext cx="237744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5760720" y="17556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DataHub Couchbase DB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2816352"/>
            <a:ext cx="2788920" cy="731520"/>
          </a:xfrm>
          <a:prstGeom prst="roundRect">
            <a:avLst>
              <a:gd name="adj" fmla="val 8750"/>
            </a:avLst>
          </a:prstGeom>
          <a:solidFill>
            <a:srgbClr val="F4F7FC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816352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 Tracker / IBS Event Broker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74720" y="3099816"/>
            <a:ext cx="411480" cy="164592"/>
          </a:xfrm>
          <a:prstGeom prst="rightArrow">
            <a:avLst/>
          </a:prstGeom>
          <a:solidFill>
            <a:srgbClr val="5A6B87"/>
          </a:solidFill>
          <a:ln/>
        </p:spPr>
      </p:sp>
      <p:sp>
        <p:nvSpPr>
          <p:cNvPr id="18" name="Text 16"/>
          <p:cNvSpPr/>
          <p:nvPr/>
        </p:nvSpPr>
        <p:spPr>
          <a:xfrm>
            <a:off x="2971800" y="2569464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 / origination / return files; prefunding debit event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977640" y="2816352"/>
            <a:ext cx="2011680" cy="731520"/>
          </a:xfrm>
          <a:prstGeom prst="roundRect">
            <a:avLst>
              <a:gd name="adj" fmla="val 8750"/>
            </a:avLst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4069080" y="2816352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MuleSoft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035040" y="3099816"/>
            <a:ext cx="411480" cy="164592"/>
          </a:xfrm>
          <a:prstGeom prst="rightArrow">
            <a:avLst/>
          </a:prstGeom>
          <a:solidFill>
            <a:srgbClr val="5A6B87"/>
          </a:solidFill>
          <a:ln/>
        </p:spPr>
      </p:sp>
      <p:sp>
        <p:nvSpPr>
          <p:cNvPr id="22" name="Text 20"/>
          <p:cNvSpPr/>
          <p:nvPr/>
        </p:nvSpPr>
        <p:spPr>
          <a:xfrm>
            <a:off x="5532120" y="2569464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Trans. data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37960" y="2816352"/>
            <a:ext cx="237744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6629400" y="2816352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DataHub Couchbase DB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3648456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OUTBOUND: COUCHBASE → BUSINESS HUB — CONSISTENT ACROSS EVERY SOURCE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40080" y="4178808"/>
            <a:ext cx="260604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178808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DataHub Couchbase DB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91840" y="4462272"/>
            <a:ext cx="411480" cy="164592"/>
          </a:xfrm>
          <a:prstGeom prst="rightArrow">
            <a:avLst/>
          </a:prstGeom>
          <a:solidFill>
            <a:srgbClr val="5A6B87"/>
          </a:solidFill>
          <a:ln/>
        </p:spPr>
      </p:sp>
      <p:sp>
        <p:nvSpPr>
          <p:cNvPr id="29" name="Text 27"/>
          <p:cNvSpPr/>
          <p:nvPr/>
        </p:nvSpPr>
        <p:spPr>
          <a:xfrm>
            <a:off x="2788920" y="3931920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794760" y="4178808"/>
            <a:ext cx="2011680" cy="731520"/>
          </a:xfrm>
          <a:prstGeom prst="roundRect">
            <a:avLst>
              <a:gd name="adj" fmla="val 8750"/>
            </a:avLst>
          </a:prstGeom>
          <a:solidFill>
            <a:srgbClr val="1C7293"/>
          </a:solidFill>
          <a:ln/>
        </p:spPr>
      </p:sp>
      <p:sp>
        <p:nvSpPr>
          <p:cNvPr id="31" name="Text 29"/>
          <p:cNvSpPr/>
          <p:nvPr/>
        </p:nvSpPr>
        <p:spPr>
          <a:xfrm>
            <a:off x="3886200" y="4178808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MuleSoft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852160" y="4462272"/>
            <a:ext cx="411480" cy="164592"/>
          </a:xfrm>
          <a:prstGeom prst="rightArrow">
            <a:avLst/>
          </a:prstGeom>
          <a:solidFill>
            <a:srgbClr val="5A6B87"/>
          </a:solidFill>
          <a:ln/>
        </p:spPr>
      </p:sp>
      <p:sp>
        <p:nvSpPr>
          <p:cNvPr id="33" name="Text 31"/>
          <p:cNvSpPr/>
          <p:nvPr/>
        </p:nvSpPr>
        <p:spPr>
          <a:xfrm>
            <a:off x="5349240" y="3931920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355080" y="4178808"/>
            <a:ext cx="2103120" cy="731520"/>
          </a:xfrm>
          <a:prstGeom prst="roundRect">
            <a:avLst>
              <a:gd name="adj" fmla="val 8750"/>
            </a:avLst>
          </a:prstGeom>
          <a:solidFill>
            <a:srgbClr val="F4F7FC"/>
          </a:solidFill>
          <a:ln/>
        </p:spPr>
      </p:sp>
      <p:sp>
        <p:nvSpPr>
          <p:cNvPr id="35" name="Text 33"/>
          <p:cNvSpPr/>
          <p:nvPr/>
        </p:nvSpPr>
        <p:spPr>
          <a:xfrm>
            <a:off x="6446520" y="4178808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Hub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40080" y="4956048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to: IBS  ·  RTP / FedNow  ·  Wires  ·  ACH  ·  Lockbox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0080" y="5349240"/>
            <a:ext cx="10908792" cy="777240"/>
          </a:xfrm>
          <a:prstGeom prst="roundRect">
            <a:avLst>
              <a:gd name="adj" fmla="val 9412"/>
            </a:avLst>
          </a:prstGeom>
          <a:solidFill>
            <a:srgbClr val="D9E3F5"/>
          </a:solidFill>
          <a:ln/>
        </p:spPr>
      </p:sp>
      <p:sp>
        <p:nvSpPr>
          <p:cNvPr id="38" name="Text 36"/>
          <p:cNvSpPr/>
          <p:nvPr/>
        </p:nvSpPr>
        <p:spPr>
          <a:xfrm>
            <a:off x="914400" y="5349240"/>
            <a:ext cx="10360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MuleSoft is the universal outbound gateway to Business Hub, and the direct inbound broker for Wires and ACH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two sources that bypass Kafka entirely.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40080" y="6428232"/>
            <a:ext cx="10908792" cy="0"/>
          </a:xfrm>
          <a:prstGeom prst="line">
            <a:avLst/>
          </a:prstGeom>
          <a:noFill/>
          <a:ln w="12700">
            <a:solidFill>
              <a:srgbClr val="E3E9F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647395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Mulesoft Inbound Integration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891272" y="647395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Wintrust Commercial Banking  | 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Reconciliation Process (Nightly)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Confirming sameday data against the true source of record before it becomes prior-day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755648"/>
            <a:ext cx="3291840" cy="868680"/>
          </a:xfrm>
          <a:prstGeom prst="roundRect">
            <a:avLst>
              <a:gd name="adj" fmla="val 7368"/>
            </a:avLst>
          </a:prstGeom>
          <a:solidFill>
            <a:srgbClr val="F4F7FC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755648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Sameday Collection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977640" y="2107692"/>
            <a:ext cx="411480" cy="164592"/>
          </a:xfrm>
          <a:prstGeom prst="rightArrow">
            <a:avLst/>
          </a:prstGeom>
          <a:solidFill>
            <a:srgbClr val="5A6B87"/>
          </a:solidFill>
          <a:ln/>
        </p:spPr>
      </p:sp>
      <p:sp>
        <p:nvSpPr>
          <p:cNvPr id="7" name="Text 5"/>
          <p:cNvSpPr/>
          <p:nvPr/>
        </p:nvSpPr>
        <p:spPr>
          <a:xfrm>
            <a:off x="3474720" y="1508760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 EOD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480560" y="1755648"/>
            <a:ext cx="3566160" cy="868680"/>
          </a:xfrm>
          <a:prstGeom prst="roundRect">
            <a:avLst>
              <a:gd name="adj" fmla="val 7368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1755648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EOD Reconciliation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92440" y="2107692"/>
            <a:ext cx="411480" cy="164592"/>
          </a:xfrm>
          <a:prstGeom prst="rightArrow">
            <a:avLst/>
          </a:prstGeom>
          <a:solidFill>
            <a:srgbClr val="5A6B87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0" y="1508760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against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8595360" y="1755648"/>
            <a:ext cx="3291840" cy="868680"/>
          </a:xfrm>
          <a:prstGeom prst="roundRect">
            <a:avLst>
              <a:gd name="adj" fmla="val 7368"/>
            </a:avLst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0" y="186537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 (FIS Core)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686800" y="23134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source of record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40080" y="2788920"/>
            <a:ext cx="5285232" cy="1965960"/>
          </a:xfrm>
          <a:prstGeom prst="roundRect">
            <a:avLst>
              <a:gd name="adj" fmla="val 3721"/>
            </a:avLst>
          </a:prstGeom>
          <a:solidFill>
            <a:srgbClr val="F4F7FC"/>
          </a:solidFill>
          <a:ln/>
        </p:spPr>
      </p:sp>
      <p:sp>
        <p:nvSpPr>
          <p:cNvPr id="16" name="Shape 14"/>
          <p:cNvSpPr/>
          <p:nvPr/>
        </p:nvSpPr>
        <p:spPr>
          <a:xfrm>
            <a:off x="640080" y="2788920"/>
            <a:ext cx="5285232" cy="502920"/>
          </a:xfrm>
          <a:prstGeom prst="roundRect">
            <a:avLst>
              <a:gd name="adj" fmla="val 14545"/>
            </a:avLst>
          </a:prstGeom>
          <a:solidFill>
            <a:srgbClr val="1C7293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3044952"/>
            <a:ext cx="5285232" cy="24688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896112" y="2788920"/>
            <a:ext cx="4773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96112" y="3474720"/>
            <a:ext cx="47731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is confirmed against BIC and written to the Prior-Day collection — ready for prior-day reporting.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63640" y="2788920"/>
            <a:ext cx="5285232" cy="1965960"/>
          </a:xfrm>
          <a:prstGeom prst="roundRect">
            <a:avLst>
              <a:gd name="adj" fmla="val 3721"/>
            </a:avLst>
          </a:prstGeom>
          <a:solidFill>
            <a:srgbClr val="F4F7FC"/>
          </a:solidFill>
          <a:ln/>
        </p:spPr>
      </p:sp>
      <p:sp>
        <p:nvSpPr>
          <p:cNvPr id="21" name="Shape 19"/>
          <p:cNvSpPr/>
          <p:nvPr/>
        </p:nvSpPr>
        <p:spPr>
          <a:xfrm>
            <a:off x="6263640" y="2788920"/>
            <a:ext cx="5285232" cy="502920"/>
          </a:xfrm>
          <a:prstGeom prst="roundRect">
            <a:avLst>
              <a:gd name="adj" fmla="val 14545"/>
            </a:avLst>
          </a:prstGeom>
          <a:solidFill>
            <a:srgbClr val="B08D57"/>
          </a:solidFill>
          <a:ln/>
        </p:spPr>
      </p:sp>
      <p:sp>
        <p:nvSpPr>
          <p:cNvPr id="22" name="Shape 20"/>
          <p:cNvSpPr/>
          <p:nvPr/>
        </p:nvSpPr>
        <p:spPr>
          <a:xfrm>
            <a:off x="6263640" y="3044952"/>
            <a:ext cx="5285232" cy="246888"/>
          </a:xfrm>
          <a:prstGeom prst="rect">
            <a:avLst/>
          </a:prstGeom>
          <a:solidFill>
            <a:srgbClr val="B08D57"/>
          </a:solidFill>
          <a:ln/>
        </p:spPr>
      </p:sp>
      <p:sp>
        <p:nvSpPr>
          <p:cNvPr id="23" name="Text 21"/>
          <p:cNvSpPr/>
          <p:nvPr/>
        </p:nvSpPr>
        <p:spPr>
          <a:xfrm>
            <a:off x="6519672" y="2788920"/>
            <a:ext cx="4773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UNMATCHED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3474720"/>
            <a:ext cx="47731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is routed to an Exception collection. It's re-checked against BIC on each subsequent cycle, for a period based on the source system's data retention window. Once matched, it writes through to Prior-Day like any other reconciled record.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4983480"/>
            <a:ext cx="10908792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498348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D9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 exists so prior-day reporting is always confirmed against the true source of record —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marked complete because sameday processing finished.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6428232"/>
            <a:ext cx="10908792" cy="0"/>
          </a:xfrm>
          <a:prstGeom prst="line">
            <a:avLst/>
          </a:prstGeom>
          <a:noFill/>
          <a:ln w="12700">
            <a:solidFill>
              <a:srgbClr val="E3E9F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647395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 Process (Nightly)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891272" y="647395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Wintrust Commercial Banking  | 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Couchbase Platform: Cluster Overview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Cluster: PRDCCDMAZCEN_001  —  Healthy  —  13/27 nodes across 4 service groups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2984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GROUPS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72768"/>
          <a:ext cx="1090879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371600"/>
                <a:gridCol w="2377440"/>
                <a:gridCol w="1645920"/>
                <a:gridCol w="1463040"/>
                <a:gridCol w="2313432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Group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Nodes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CPU / RAM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Disk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IOPS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Disk Type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04D"/>
                          </a:solidFill>
                        </a:rPr>
                        <a:t>Data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4D"/>
                          </a:solidFill>
                        </a:rPr>
                        <a:t>5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4D"/>
                          </a:solidFill>
                        </a:rPr>
                        <a:t>16 vCPU / 64GB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4D"/>
                          </a:solidFill>
                        </a:rPr>
                        <a:t>1024GB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4D"/>
                          </a:solidFill>
                        </a:rPr>
                        <a:t>5000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4D"/>
                          </a:solidFill>
                        </a:rPr>
                        <a:t>P30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04D"/>
                          </a:solidFill>
                        </a:rPr>
                        <a:t>Index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4D"/>
                          </a:solidFill>
                        </a:rPr>
                        <a:t>3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4D"/>
                          </a:solidFill>
                        </a:rPr>
                        <a:t>16 vCPU / 64GB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4D"/>
                          </a:solidFill>
                        </a:rPr>
                        <a:t>256GB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4D"/>
                          </a:solidFill>
                        </a:rPr>
                        <a:t>1100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4D"/>
                          </a:solidFill>
                        </a:rPr>
                        <a:t>P15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04D"/>
                          </a:solidFill>
                        </a:rPr>
                        <a:t>Query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4D"/>
                          </a:solidFill>
                        </a:rPr>
                        <a:t>3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4D"/>
                          </a:solidFill>
                        </a:rPr>
                        <a:t>16 vCPU / 64GB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4D"/>
                          </a:solidFill>
                        </a:rPr>
                        <a:t>64GB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4D"/>
                          </a:solidFill>
                        </a:rPr>
                        <a:t>240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4D"/>
                          </a:solidFill>
                        </a:rPr>
                        <a:t>P6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04D"/>
                          </a:solidFill>
                        </a:rPr>
                        <a:t>Eventing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4D"/>
                          </a:solidFill>
                        </a:rPr>
                        <a:t>2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4D"/>
                          </a:solidFill>
                        </a:rPr>
                        <a:t>8 vCPU / 32GB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4D"/>
                          </a:solidFill>
                        </a:rPr>
                        <a:t>128GB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4D"/>
                          </a:solidFill>
                        </a:rPr>
                        <a:t>500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4D"/>
                          </a:solidFill>
                        </a:rPr>
                        <a:t>P10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31272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ARCHITECTURE</a:t>
            </a:r>
            <a:endParaRPr lang="en-US" sz="115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401568"/>
          <a:ext cx="1090879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772400"/>
                <a:gridCol w="1399032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Bucket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Purpose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Scale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04D"/>
                          </a:solidFill>
                        </a:rPr>
                        <a:t>landing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4D"/>
                          </a:solidFill>
                        </a:rPr>
                        <a:t>Raw ingested data — batch EOD files, intraday TPS/MQ events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4D"/>
                          </a:solidFill>
                        </a:rPr>
                        <a:t>1.1M docs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04D"/>
                          </a:solidFill>
                        </a:rPr>
                        <a:t>process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4D"/>
                          </a:solidFill>
                        </a:rPr>
                        <a:t>Enriched &amp; reconciled data — BAI detail/status/summary, prior-day &amp; same-day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4D"/>
                          </a:solidFill>
                        </a:rPr>
                        <a:t>630K docs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04D"/>
                          </a:solidFill>
                        </a:rPr>
                        <a:t>semantic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4D"/>
                          </a:solidFill>
                        </a:rPr>
                        <a:t>Reporting-ready data — scheduled, standard, user-defined reports for Business Hub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4D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04D"/>
                          </a:solidFill>
                        </a:rPr>
                        <a:t>history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4D"/>
                          </a:solidFill>
                        </a:rPr>
                        <a:t>7-day rolling reference copy of landing &amp; process data, for operational lookback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4D"/>
                          </a:solidFill>
                        </a:rPr>
                        <a:t>13.9M docs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4304D"/>
                          </a:solidFill>
                        </a:rPr>
                        <a:t>audit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4D"/>
                          </a:solidFill>
                        </a:rPr>
                        <a:t>Audit trail records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4D"/>
                          </a:solidFill>
                        </a:rPr>
                        <a:t>1.1M docs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40080" y="5486400"/>
            <a:ext cx="10908792" cy="822960"/>
          </a:xfrm>
          <a:prstGeom prst="roundRect">
            <a:avLst>
              <a:gd name="adj" fmla="val 8889"/>
            </a:avLst>
          </a:prstGeom>
          <a:solidFill>
            <a:srgbClr val="B08D57"/>
          </a:solidFill>
          <a:ln/>
        </p:spPr>
      </p:sp>
      <p:sp>
        <p:nvSpPr>
          <p:cNvPr id="9" name="Text 5"/>
          <p:cNvSpPr/>
          <p:nvPr/>
        </p:nvSpPr>
        <p:spPr>
          <a:xfrm>
            <a:off x="914400" y="5486400"/>
            <a:ext cx="10360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history bucket holds a 7-day reference window of landing/process data for operational lookback — it is not the 7-year archive.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historical reporting is served from the Wintrust Data Warehouse via nightly EOD loads, not directly from Couchbase.</a:t>
            </a:r>
            <a:endParaRPr lang="en-US" sz="1200" dirty="0"/>
          </a:p>
        </p:txBody>
      </p:sp>
      <p:sp>
        <p:nvSpPr>
          <p:cNvPr id="20" name="Shape 6"/>
          <p:cNvSpPr/>
          <p:nvPr/>
        </p:nvSpPr>
        <p:spPr>
          <a:xfrm>
            <a:off x="640080" y="6428232"/>
            <a:ext cx="10908792" cy="0"/>
          </a:xfrm>
          <a:prstGeom prst="line">
            <a:avLst/>
          </a:prstGeom>
          <a:noFill/>
          <a:ln w="12700">
            <a:solidFill>
              <a:srgbClr val="E3E9F2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0080" y="647395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Couchbase Platform: Cluster Overview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7891272" y="647395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Wintrust Commercial Banking  | 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Landing &amp; Process: Scopes &amp; Collections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3268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raw data becomes reconciled, BAI-enriched data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5148072" cy="3977640"/>
          </a:xfrm>
          <a:prstGeom prst="roundRect">
            <a:avLst>
              <a:gd name="adj" fmla="val 1839"/>
            </a:avLst>
          </a:prstGeom>
          <a:solidFill>
            <a:srgbClr val="F4F7FC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371600"/>
            <a:ext cx="5148072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627632"/>
            <a:ext cx="5148072" cy="24688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371600"/>
            <a:ext cx="4690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035040" y="1371600"/>
            <a:ext cx="5148072" cy="3977640"/>
          </a:xfrm>
          <a:prstGeom prst="roundRect">
            <a:avLst>
              <a:gd name="adj" fmla="val 1839"/>
            </a:avLst>
          </a:prstGeom>
          <a:solidFill>
            <a:srgbClr val="F4F7FC"/>
          </a:solidFill>
          <a:ln/>
        </p:spPr>
      </p:sp>
      <p:sp>
        <p:nvSpPr>
          <p:cNvPr id="9" name="Shape 7"/>
          <p:cNvSpPr/>
          <p:nvPr/>
        </p:nvSpPr>
        <p:spPr>
          <a:xfrm>
            <a:off x="6035040" y="1371600"/>
            <a:ext cx="5148072" cy="502920"/>
          </a:xfrm>
          <a:prstGeom prst="roundRect">
            <a:avLst>
              <a:gd name="adj" fmla="val 14545"/>
            </a:avLst>
          </a:prstGeom>
          <a:solidFill>
            <a:srgbClr val="1C7293"/>
          </a:solidFill>
          <a:ln/>
        </p:spPr>
      </p:sp>
      <p:sp>
        <p:nvSpPr>
          <p:cNvPr id="10" name="Shape 8"/>
          <p:cNvSpPr/>
          <p:nvPr/>
        </p:nvSpPr>
        <p:spPr>
          <a:xfrm>
            <a:off x="6035040" y="1627632"/>
            <a:ext cx="5148072" cy="24688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263640" y="1371600"/>
            <a:ext cx="4690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96112" y="2084832"/>
            <a:ext cx="4636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batch_eod scope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96112" y="2359152"/>
            <a:ext cx="463600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●"/>
            </a:pPr>
            <a:r>
              <a:rPr lang="en-US" sz="103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ach_origination_indv_to_settlement</a:t>
            </a:r>
            <a:endParaRPr lang="en-US" sz="103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●"/>
            </a:pPr>
            <a:r>
              <a:rPr lang="en-US" sz="103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ach_return</a:t>
            </a:r>
            <a:endParaRPr lang="en-US" sz="103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●"/>
            </a:pPr>
            <a:r>
              <a:rPr lang="en-US" sz="103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tran_cms_detail / tran_cms_status / tran_cms_summary</a:t>
            </a:r>
            <a:endParaRPr lang="en-US" sz="103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●"/>
            </a:pPr>
            <a:r>
              <a:rPr lang="en-US" sz="103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tran_deposit_detail / tran_deposit_status / tran_deposit_status_hist / tran_deposit_summary</a:t>
            </a:r>
            <a:endParaRPr lang="en-US" sz="1030" dirty="0"/>
          </a:p>
        </p:txBody>
      </p:sp>
      <p:sp>
        <p:nvSpPr>
          <p:cNvPr id="14" name="Text 12"/>
          <p:cNvSpPr/>
          <p:nvPr/>
        </p:nvSpPr>
        <p:spPr>
          <a:xfrm>
            <a:off x="896112" y="3886200"/>
            <a:ext cx="4636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intraday scope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6112" y="4160520"/>
            <a:ext cx="46360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400"/>
              </a:spcAft>
              <a:buSzPct val="100000"/>
              <a:buChar char="●"/>
            </a:pPr>
            <a:r>
              <a:rPr lang="en-US" sz="103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tps_events_deposits</a:t>
            </a:r>
            <a:endParaRPr lang="en-US" sz="1030" dirty="0"/>
          </a:p>
          <a:p>
            <a:pPr marL="203200" indent="-203200">
              <a:lnSpc>
                <a:spcPct val="118000"/>
              </a:lnSpc>
              <a:spcAft>
                <a:spcPts val="400"/>
              </a:spcAft>
              <a:buSzPct val="100000"/>
              <a:buChar char="●"/>
            </a:pPr>
            <a:r>
              <a:rPr lang="en-US" sz="103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tps_file_ach</a:t>
            </a:r>
            <a:endParaRPr lang="en-US" sz="1030" dirty="0"/>
          </a:p>
          <a:p>
            <a:pPr marL="203200" indent="-203200">
              <a:lnSpc>
                <a:spcPct val="118000"/>
              </a:lnSpc>
              <a:spcAft>
                <a:spcPts val="400"/>
              </a:spcAft>
              <a:buSzPct val="100000"/>
              <a:buChar char="●"/>
            </a:pPr>
            <a:r>
              <a:rPr lang="en-US" sz="103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tps_file_lockbox</a:t>
            </a:r>
            <a:endParaRPr lang="en-US" sz="1030" dirty="0"/>
          </a:p>
          <a:p>
            <a:pPr marL="203200" indent="-203200">
              <a:lnSpc>
                <a:spcPct val="118000"/>
              </a:lnSpc>
              <a:spcAft>
                <a:spcPts val="400"/>
              </a:spcAft>
              <a:buSzPct val="100000"/>
              <a:buChar char="●"/>
            </a:pPr>
            <a:r>
              <a:rPr lang="en-US" sz="103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tps_mq_opf</a:t>
            </a:r>
            <a:endParaRPr lang="en-US" sz="1030" dirty="0"/>
          </a:p>
          <a:p>
            <a:pPr marL="203200" indent="-203200">
              <a:lnSpc>
                <a:spcPct val="118000"/>
              </a:lnSpc>
              <a:spcAft>
                <a:spcPts val="400"/>
              </a:spcAft>
              <a:buSzPct val="100000"/>
              <a:buChar char="●"/>
            </a:pPr>
            <a:r>
              <a:rPr lang="en-US" sz="103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tps_mq_wires</a:t>
            </a:r>
            <a:endParaRPr lang="en-US" sz="1030" dirty="0"/>
          </a:p>
        </p:txBody>
      </p:sp>
      <p:sp>
        <p:nvSpPr>
          <p:cNvPr id="16" name="Text 14"/>
          <p:cNvSpPr/>
          <p:nvPr/>
        </p:nvSpPr>
        <p:spPr>
          <a:xfrm>
            <a:off x="6291072" y="2084832"/>
            <a:ext cx="4636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batch_eod scope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91072" y="2359152"/>
            <a:ext cx="463600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●"/>
            </a:pPr>
            <a:r>
              <a:rPr lang="en-US" sz="103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recon_matched</a:t>
            </a:r>
            <a:endParaRPr lang="en-US" sz="103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●"/>
            </a:pPr>
            <a:r>
              <a:rPr lang="en-US" sz="103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tran_bai_detail_priorday</a:t>
            </a:r>
            <a:endParaRPr lang="en-US" sz="103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●"/>
            </a:pPr>
            <a:r>
              <a:rPr lang="en-US" sz="103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tran_bai_status_priorday</a:t>
            </a:r>
            <a:endParaRPr lang="en-US" sz="103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●"/>
            </a:pPr>
            <a:r>
              <a:rPr lang="en-US" sz="103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tran_bai_summary_priorday</a:t>
            </a:r>
            <a:endParaRPr lang="en-US" sz="1030" dirty="0"/>
          </a:p>
        </p:txBody>
      </p:sp>
      <p:sp>
        <p:nvSpPr>
          <p:cNvPr id="18" name="Text 16"/>
          <p:cNvSpPr/>
          <p:nvPr/>
        </p:nvSpPr>
        <p:spPr>
          <a:xfrm>
            <a:off x="6291072" y="3886200"/>
            <a:ext cx="4636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intraday scope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91072" y="4160520"/>
            <a:ext cx="46360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●"/>
            </a:pPr>
            <a:r>
              <a:rPr lang="en-US" sz="103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ach_intraday_match_queued</a:t>
            </a:r>
            <a:endParaRPr lang="en-US" sz="103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●"/>
            </a:pPr>
            <a:r>
              <a:rPr lang="en-US" sz="103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tran_bai_detail_sameday</a:t>
            </a:r>
            <a:endParaRPr lang="en-US" sz="103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●"/>
            </a:pPr>
            <a:r>
              <a:rPr lang="en-US" sz="103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tran_bai_status_sameday</a:t>
            </a:r>
            <a:endParaRPr lang="en-US" sz="103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●"/>
            </a:pPr>
            <a:r>
              <a:rPr lang="en-US" sz="103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tran_bai_summary_sameday</a:t>
            </a:r>
            <a:endParaRPr lang="en-US" sz="1030" dirty="0"/>
          </a:p>
        </p:txBody>
      </p:sp>
      <p:sp>
        <p:nvSpPr>
          <p:cNvPr id="20" name="Shape 18"/>
          <p:cNvSpPr/>
          <p:nvPr/>
        </p:nvSpPr>
        <p:spPr>
          <a:xfrm>
            <a:off x="640080" y="5394960"/>
            <a:ext cx="10908792" cy="841248"/>
          </a:xfrm>
          <a:prstGeom prst="roundRect">
            <a:avLst>
              <a:gd name="adj" fmla="val 8696"/>
            </a:avLst>
          </a:prstGeom>
          <a:solidFill>
            <a:srgbClr val="D9E3F5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5394960"/>
            <a:ext cx="103601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shows the transformation: </a:t>
            </a:r>
            <a:pPr indent="0" marL="0">
              <a:lnSpc>
                <a:spcPct val="120000"/>
              </a:lnSpc>
              <a:buNone/>
            </a:pPr>
            <a:r>
              <a:rPr lang="en-US" sz="1250" b="1" i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tran_deposit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(landing) becomes </a:t>
            </a:r>
            <a:pPr indent="0" marL="0">
              <a:lnSpc>
                <a:spcPct val="120000"/>
              </a:lnSpc>
              <a:buNone/>
            </a:pPr>
            <a:r>
              <a:rPr lang="en-US" sz="1250" b="1" i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tran_bai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(process) — enriched to the BAI code level — split into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priorday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sameday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collections matching the client's reporting requirement.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6428232"/>
            <a:ext cx="10908792" cy="0"/>
          </a:xfrm>
          <a:prstGeom prst="line">
            <a:avLst/>
          </a:prstGeom>
          <a:noFill/>
          <a:ln w="12700">
            <a:solidFill>
              <a:srgbClr val="E3E9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647395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&amp; Process: Scopes &amp; Collections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891272" y="647395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Wintrust Commercial Banking  | 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Semantic: Reporting Collections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3327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Business Hub actually queries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383280" cy="2697480"/>
          </a:xfrm>
          <a:prstGeom prst="roundRect">
            <a:avLst>
              <a:gd name="adj" fmla="val 2712"/>
            </a:avLst>
          </a:prstGeom>
          <a:solidFill>
            <a:srgbClr val="F4F7FC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691640"/>
            <a:ext cx="3383280" cy="594360"/>
          </a:xfrm>
          <a:prstGeom prst="roundRect">
            <a:avLst>
              <a:gd name="adj" fmla="val 12308"/>
            </a:avLst>
          </a:prstGeom>
          <a:solidFill>
            <a:srgbClr val="1E2761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993392"/>
            <a:ext cx="3383280" cy="29260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69164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REPORTS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96112" y="2468880"/>
            <a:ext cx="2871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collection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96112" y="2862072"/>
            <a:ext cx="28712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Pre-built recurring reports delivered on a fixed schedule.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1691640"/>
            <a:ext cx="3383280" cy="2697480"/>
          </a:xfrm>
          <a:prstGeom prst="roundRect">
            <a:avLst>
              <a:gd name="adj" fmla="val 2712"/>
            </a:avLst>
          </a:prstGeom>
          <a:solidFill>
            <a:srgbClr val="F4F7FC"/>
          </a:solidFill>
          <a:ln/>
        </p:spPr>
      </p:sp>
      <p:sp>
        <p:nvSpPr>
          <p:cNvPr id="11" name="Shape 9"/>
          <p:cNvSpPr/>
          <p:nvPr/>
        </p:nvSpPr>
        <p:spPr>
          <a:xfrm>
            <a:off x="4297680" y="1691640"/>
            <a:ext cx="3383280" cy="594360"/>
          </a:xfrm>
          <a:prstGeom prst="roundRect">
            <a:avLst>
              <a:gd name="adj" fmla="val 12308"/>
            </a:avLst>
          </a:prstGeom>
          <a:solidFill>
            <a:srgbClr val="1C7293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0" y="1993392"/>
            <a:ext cx="3383280" cy="29260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526280" y="169164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REPORTS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53712" y="2468880"/>
            <a:ext cx="28712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collections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53712" y="2862072"/>
            <a:ext cx="28712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Out-of-the-box reports covering common commercial banking needs.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955280" y="1691640"/>
            <a:ext cx="3593592" cy="2697480"/>
          </a:xfrm>
          <a:prstGeom prst="roundRect">
            <a:avLst>
              <a:gd name="adj" fmla="val 2712"/>
            </a:avLst>
          </a:prstGeom>
          <a:solidFill>
            <a:srgbClr val="F4F7FC"/>
          </a:solidFill>
          <a:ln/>
        </p:spPr>
      </p:sp>
      <p:sp>
        <p:nvSpPr>
          <p:cNvPr id="17" name="Shape 15"/>
          <p:cNvSpPr/>
          <p:nvPr/>
        </p:nvSpPr>
        <p:spPr>
          <a:xfrm>
            <a:off x="7955280" y="1691640"/>
            <a:ext cx="3593592" cy="594360"/>
          </a:xfrm>
          <a:prstGeom prst="roundRect">
            <a:avLst>
              <a:gd name="adj" fmla="val 12308"/>
            </a:avLst>
          </a:prstGeom>
          <a:solidFill>
            <a:srgbClr val="1E2761"/>
          </a:solidFill>
          <a:ln/>
        </p:spPr>
      </p:sp>
      <p:sp>
        <p:nvSpPr>
          <p:cNvPr id="18" name="Shape 16"/>
          <p:cNvSpPr/>
          <p:nvPr/>
        </p:nvSpPr>
        <p:spPr>
          <a:xfrm>
            <a:off x="7955280" y="1993392"/>
            <a:ext cx="3593592" cy="29260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8183880" y="1691640"/>
            <a:ext cx="3136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USER-DEFINED REPORTS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11312" y="2468880"/>
            <a:ext cx="3081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collections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211312" y="2862072"/>
            <a:ext cx="30815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reports configured to specific client or admin requirements.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4709160"/>
            <a:ext cx="10908792" cy="1005840"/>
          </a:xfrm>
          <a:prstGeom prst="roundRect">
            <a:avLst>
              <a:gd name="adj" fmla="val 7273"/>
            </a:avLst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4709160"/>
            <a:ext cx="10360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D9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semantic bucket is what Business Hub actually queries —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and custom reports built directly from the enriched process-layer data.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6428232"/>
            <a:ext cx="10908792" cy="0"/>
          </a:xfrm>
          <a:prstGeom prst="line">
            <a:avLst/>
          </a:prstGeom>
          <a:noFill/>
          <a:ln w="12700">
            <a:solidFill>
              <a:srgbClr val="E3E9F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47395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Semantic: Reporting Collections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891272" y="647395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Wintrust Commercial Banking  | 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Hub Reports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clients see, and when they see it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TYPES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536192"/>
            <a:ext cx="3383280" cy="1051560"/>
          </a:xfrm>
          <a:prstGeom prst="roundRect">
            <a:avLst>
              <a:gd name="adj" fmla="val 6957"/>
            </a:avLst>
          </a:prstGeom>
          <a:solidFill>
            <a:srgbClr val="F4F7FC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536192"/>
            <a:ext cx="338328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64792"/>
            <a:ext cx="3383280" cy="2286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53619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Position (BP)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20848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balance and position reporting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402836" y="1536192"/>
            <a:ext cx="3383280" cy="1051560"/>
          </a:xfrm>
          <a:prstGeom prst="roundRect">
            <a:avLst>
              <a:gd name="adj" fmla="val 6957"/>
            </a:avLst>
          </a:prstGeom>
          <a:solidFill>
            <a:srgbClr val="F4F7FC"/>
          </a:solidFill>
          <a:ln/>
        </p:spPr>
      </p:sp>
      <p:sp>
        <p:nvSpPr>
          <p:cNvPr id="11" name="Shape 9"/>
          <p:cNvSpPr/>
          <p:nvPr/>
        </p:nvSpPr>
        <p:spPr>
          <a:xfrm>
            <a:off x="4402836" y="1536192"/>
            <a:ext cx="3383280" cy="457200"/>
          </a:xfrm>
          <a:prstGeom prst="roundRect">
            <a:avLst>
              <a:gd name="adj" fmla="val 16000"/>
            </a:avLst>
          </a:prstGeom>
          <a:solidFill>
            <a:srgbClr val="1C7293"/>
          </a:solidFill>
          <a:ln/>
        </p:spPr>
      </p:sp>
      <p:sp>
        <p:nvSpPr>
          <p:cNvPr id="12" name="Shape 10"/>
          <p:cNvSpPr/>
          <p:nvPr/>
        </p:nvSpPr>
        <p:spPr>
          <a:xfrm>
            <a:off x="4402836" y="1764792"/>
            <a:ext cx="3383280" cy="2286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585716" y="153619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User-Defined (UD)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85716" y="20848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Custom, client-configured reports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65592" y="1536192"/>
            <a:ext cx="3383280" cy="1051560"/>
          </a:xfrm>
          <a:prstGeom prst="roundRect">
            <a:avLst>
              <a:gd name="adj" fmla="val 6957"/>
            </a:avLst>
          </a:prstGeom>
          <a:solidFill>
            <a:srgbClr val="F4F7FC"/>
          </a:solidFill>
          <a:ln/>
        </p:spPr>
      </p:sp>
      <p:sp>
        <p:nvSpPr>
          <p:cNvPr id="16" name="Shape 14"/>
          <p:cNvSpPr/>
          <p:nvPr/>
        </p:nvSpPr>
        <p:spPr>
          <a:xfrm>
            <a:off x="8165592" y="1536192"/>
            <a:ext cx="338328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17" name="Shape 15"/>
          <p:cNvSpPr/>
          <p:nvPr/>
        </p:nvSpPr>
        <p:spPr>
          <a:xfrm>
            <a:off x="8165592" y="1764792"/>
            <a:ext cx="3383280" cy="2286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8348472" y="153619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Statement (DS)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348472" y="20848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transaction statements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2743200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TIMING — SHARED BY ALL THREE REPORT TYPES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2999232"/>
            <a:ext cx="5285232" cy="960120"/>
          </a:xfrm>
          <a:prstGeom prst="roundRect">
            <a:avLst>
              <a:gd name="adj" fmla="val 7619"/>
            </a:avLst>
          </a:prstGeom>
          <a:solidFill>
            <a:srgbClr val="F4F7FC"/>
          </a:solidFill>
          <a:ln/>
        </p:spPr>
      </p:sp>
      <p:sp>
        <p:nvSpPr>
          <p:cNvPr id="22" name="Text 20"/>
          <p:cNvSpPr/>
          <p:nvPr/>
        </p:nvSpPr>
        <p:spPr>
          <a:xfrm>
            <a:off x="896112" y="3136392"/>
            <a:ext cx="4773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Intraday / Sameday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96112" y="345643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Served from the sameday collection as transactions arrive (e.g., balance_position_sameday).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263640" y="2999232"/>
            <a:ext cx="5285232" cy="960120"/>
          </a:xfrm>
          <a:prstGeom prst="roundRect">
            <a:avLst>
              <a:gd name="adj" fmla="val 7619"/>
            </a:avLst>
          </a:prstGeom>
          <a:solidFill>
            <a:srgbClr val="F4F7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19672" y="3136392"/>
            <a:ext cx="4773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Day / Prior Day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19672" y="345643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EOD reconciliation completes, sameday data rolls into the prior-day collection (e.g., balance_position_priorday).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40080" y="4096512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USE-CASE FILTERS (BP, UD &amp; DS)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4352544"/>
            <a:ext cx="1269187" cy="365760"/>
          </a:xfrm>
          <a:prstGeom prst="roundRect">
            <a:avLst>
              <a:gd name="adj" fmla="val 50000"/>
            </a:avLst>
          </a:prstGeom>
          <a:solidFill>
            <a:srgbClr val="D9E3F5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4352544"/>
            <a:ext cx="12691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Month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092147" y="4352544"/>
            <a:ext cx="1108253" cy="365760"/>
          </a:xfrm>
          <a:prstGeom prst="roundRect">
            <a:avLst>
              <a:gd name="adj" fmla="val 50000"/>
            </a:avLst>
          </a:prstGeom>
          <a:solidFill>
            <a:srgbClr val="D9E3F5"/>
          </a:solidFill>
          <a:ln/>
        </p:spPr>
      </p:sp>
      <p:sp>
        <p:nvSpPr>
          <p:cNvPr id="31" name="Text 29"/>
          <p:cNvSpPr/>
          <p:nvPr/>
        </p:nvSpPr>
        <p:spPr>
          <a:xfrm>
            <a:off x="2092147" y="4352544"/>
            <a:ext cx="110825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Day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383280" y="4352544"/>
            <a:ext cx="1430122" cy="365760"/>
          </a:xfrm>
          <a:prstGeom prst="roundRect">
            <a:avLst>
              <a:gd name="adj" fmla="val 50000"/>
            </a:avLst>
          </a:prstGeom>
          <a:solidFill>
            <a:srgbClr val="D9E3F5"/>
          </a:solidFill>
          <a:ln/>
        </p:spPr>
      </p:sp>
      <p:sp>
        <p:nvSpPr>
          <p:cNvPr id="33" name="Text 31"/>
          <p:cNvSpPr/>
          <p:nvPr/>
        </p:nvSpPr>
        <p:spPr>
          <a:xfrm>
            <a:off x="3383280" y="4352544"/>
            <a:ext cx="14301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Month-to-Date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996282" y="4352544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D9E3F5"/>
          </a:solidFill>
          <a:ln/>
        </p:spPr>
      </p:sp>
      <p:sp>
        <p:nvSpPr>
          <p:cNvPr id="35" name="Text 33"/>
          <p:cNvSpPr/>
          <p:nvPr/>
        </p:nvSpPr>
        <p:spPr>
          <a:xfrm>
            <a:off x="4996282" y="435254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Range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40080" y="4892040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— A SEPARATE CAPABILITY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" y="513892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search by amount, description, reference number, bank name, and more — against either sameday or prior-day data.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40080" y="5596128"/>
            <a:ext cx="10908792" cy="685800"/>
          </a:xfrm>
          <a:prstGeom prst="roundRect">
            <a:avLst>
              <a:gd name="adj" fmla="val 10667"/>
            </a:avLst>
          </a:prstGeom>
          <a:solidFill>
            <a:srgbClr val="D9E3F5"/>
          </a:solidFill>
          <a:ln/>
        </p:spPr>
      </p:sp>
      <p:sp>
        <p:nvSpPr>
          <p:cNvPr id="39" name="Text 37"/>
          <p:cNvSpPr/>
          <p:nvPr/>
        </p:nvSpPr>
        <p:spPr>
          <a:xfrm>
            <a:off x="914400" y="5596128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it's a standard report or a free-form search, Couchbase serves every use case through prepared statements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consistent retrieval pattern across Balance Position, User-Defined, Daily Statement, and Search.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40080" y="6428232"/>
            <a:ext cx="10908792" cy="0"/>
          </a:xfrm>
          <a:prstGeom prst="line">
            <a:avLst/>
          </a:prstGeom>
          <a:noFill/>
          <a:ln w="12700">
            <a:solidFill>
              <a:srgbClr val="E3E9F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" y="647395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Hub Reports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891272" y="647395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Wintrust Commercial Banking  | 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Couchbase?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3327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theoretical capability — the actual mechanics behind DataHub today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908792" cy="3337560"/>
          </a:xfrm>
          <a:prstGeom prst="roundRect">
            <a:avLst>
              <a:gd name="adj" fmla="val 2192"/>
            </a:avLst>
          </a:prstGeom>
          <a:solidFill>
            <a:srgbClr val="F4F7FC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103601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Data Model: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ingests IBS deposit JSON events, RTP/Wires XML messages, and ACH/Lockbox batch files into one document store — no rigid upfront schema across formats.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Low-Latency Real-Time Access: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 Business Hub's prior-day/same-day balance visibility, sourced from Kafka-streamed IBS/RTP events filtered to commercial accounts.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Query + Search (N1QL):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BAI-code level reporting from the process bucket (tran_bai_detail/status/summary, priorday/sameday) into the semantic bucket's standard, scheduled, and user-defined reports.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Independently Scalable Services: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/ Index / Query / Eventing service groups scale separately as commercial transaction volume grows (13/27 nodes currently provisioned).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Multi-Model, Single Platform: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landing → process → semantic lifecycle replaces what would otherwise be a separate staging DB, cache, and search engine.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XDCR for Resilience: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Central US ↔ East US2 replication gives Large Commercial/Corporate client data multi-region disaster recovery.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5120640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5120640"/>
            <a:ext cx="10360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D9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is already load-bearing in this deck — the actual mechanics of how DataHub ingests, enriches, and serves commercial banking data today.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6428232"/>
            <a:ext cx="10908792" cy="0"/>
          </a:xfrm>
          <a:prstGeom prst="line">
            <a:avLst/>
          </a:prstGeom>
          <a:noFill/>
          <a:ln w="12700">
            <a:solidFill>
              <a:srgbClr val="E3E9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647395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Couchbase?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891272" y="647395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Wintrust Commercial Banking  | 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Networking: Hub-and-Spoke Model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shared backbone in the middle, isolated environments around it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207008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On-Premises Data Centers (ELK-DC &amp; ASH-DC) — connected via redundant 10G-LR ExpressRoute circuits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952744" y="1463040"/>
            <a:ext cx="274320" cy="219456"/>
          </a:xfrm>
          <a:prstGeom prst="downArrow">
            <a:avLst/>
          </a:prstGeom>
          <a:solidFill>
            <a:srgbClr val="5A6B87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37360"/>
            <a:ext cx="10908792" cy="960120"/>
          </a:xfrm>
          <a:prstGeom prst="roundRect">
            <a:avLst>
              <a:gd name="adj" fmla="val 7619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470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215798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D9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US 10.238.0.0/19  ·  East US2 10.239.0.0/19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14400" y="2414016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connectivity &amp; security backbone — Virtual Network Gateway (ExpressRoute), vCSF firewalls, internal load balancer, and shared resource subscriptions.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272491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vNet Peering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212848" y="2907792"/>
            <a:ext cx="237744" cy="182880"/>
          </a:xfrm>
          <a:prstGeom prst="downArrow">
            <a:avLst/>
          </a:prstGeom>
          <a:solidFill>
            <a:srgbClr val="5A6B87"/>
          </a:solidFill>
          <a:ln/>
        </p:spPr>
      </p:sp>
      <p:sp>
        <p:nvSpPr>
          <p:cNvPr id="12" name="Text 10"/>
          <p:cNvSpPr/>
          <p:nvPr/>
        </p:nvSpPr>
        <p:spPr>
          <a:xfrm>
            <a:off x="4402836" y="272491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vNet Peering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975604" y="2907792"/>
            <a:ext cx="237744" cy="182880"/>
          </a:xfrm>
          <a:prstGeom prst="downArrow">
            <a:avLst/>
          </a:prstGeom>
          <a:solidFill>
            <a:srgbClr val="5A6B87"/>
          </a:solidFill>
          <a:ln/>
        </p:spPr>
      </p:sp>
      <p:sp>
        <p:nvSpPr>
          <p:cNvPr id="14" name="Text 12"/>
          <p:cNvSpPr/>
          <p:nvPr/>
        </p:nvSpPr>
        <p:spPr>
          <a:xfrm>
            <a:off x="8165592" y="272491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vNet Peering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9738360" y="2907792"/>
            <a:ext cx="237744" cy="182880"/>
          </a:xfrm>
          <a:prstGeom prst="downArrow">
            <a:avLst/>
          </a:prstGeom>
          <a:solidFill>
            <a:srgbClr val="5A6B87"/>
          </a:solidFill>
          <a:ln/>
        </p:spPr>
      </p:sp>
      <p:sp>
        <p:nvSpPr>
          <p:cNvPr id="16" name="Shape 14"/>
          <p:cNvSpPr/>
          <p:nvPr/>
        </p:nvSpPr>
        <p:spPr>
          <a:xfrm>
            <a:off x="640080" y="3200400"/>
            <a:ext cx="3383280" cy="1188720"/>
          </a:xfrm>
          <a:prstGeom prst="roundRect">
            <a:avLst>
              <a:gd name="adj" fmla="val 6154"/>
            </a:avLst>
          </a:prstGeom>
          <a:solidFill>
            <a:srgbClr val="F4F7FC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3200400"/>
            <a:ext cx="338328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18" name="Shape 16"/>
          <p:cNvSpPr/>
          <p:nvPr/>
        </p:nvSpPr>
        <p:spPr>
          <a:xfrm>
            <a:off x="640080" y="3429000"/>
            <a:ext cx="3383280" cy="2286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32004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 SPOKE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2960" y="371246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Central-10.238.64.0/20  ·  East US2-10.239.64.0/20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22960" y="406908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Datahub Production subscriptions per application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402836" y="3200400"/>
            <a:ext cx="3383280" cy="1188720"/>
          </a:xfrm>
          <a:prstGeom prst="roundRect">
            <a:avLst>
              <a:gd name="adj" fmla="val 6154"/>
            </a:avLst>
          </a:prstGeom>
          <a:solidFill>
            <a:srgbClr val="F4F7FC"/>
          </a:solidFill>
          <a:ln/>
        </p:spPr>
      </p:sp>
      <p:sp>
        <p:nvSpPr>
          <p:cNvPr id="23" name="Shape 21"/>
          <p:cNvSpPr/>
          <p:nvPr/>
        </p:nvSpPr>
        <p:spPr>
          <a:xfrm>
            <a:off x="4402836" y="3200400"/>
            <a:ext cx="3383280" cy="457200"/>
          </a:xfrm>
          <a:prstGeom prst="roundRect">
            <a:avLst>
              <a:gd name="adj" fmla="val 16000"/>
            </a:avLst>
          </a:prstGeom>
          <a:solidFill>
            <a:srgbClr val="1C7293"/>
          </a:solidFill>
          <a:ln/>
        </p:spPr>
      </p:sp>
      <p:sp>
        <p:nvSpPr>
          <p:cNvPr id="24" name="Shape 22"/>
          <p:cNvSpPr/>
          <p:nvPr/>
        </p:nvSpPr>
        <p:spPr>
          <a:xfrm>
            <a:off x="4402836" y="3429000"/>
            <a:ext cx="3383280" cy="2286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4585716" y="32004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UAT/QA SPOKE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85716" y="371246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Central-10.238.32.0/20  ·  East US2-10.239.32.0/20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85716" y="406908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UAT/QA subscriptions per application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165592" y="3200400"/>
            <a:ext cx="3383280" cy="1188720"/>
          </a:xfrm>
          <a:prstGeom prst="roundRect">
            <a:avLst>
              <a:gd name="adj" fmla="val 6154"/>
            </a:avLst>
          </a:prstGeom>
          <a:solidFill>
            <a:srgbClr val="F4F7FC"/>
          </a:solidFill>
          <a:ln/>
        </p:spPr>
      </p:sp>
      <p:sp>
        <p:nvSpPr>
          <p:cNvPr id="29" name="Shape 27"/>
          <p:cNvSpPr/>
          <p:nvPr/>
        </p:nvSpPr>
        <p:spPr>
          <a:xfrm>
            <a:off x="8165592" y="3200400"/>
            <a:ext cx="338328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30" name="Shape 28"/>
          <p:cNvSpPr/>
          <p:nvPr/>
        </p:nvSpPr>
        <p:spPr>
          <a:xfrm>
            <a:off x="8165592" y="3429000"/>
            <a:ext cx="3383280" cy="2286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/>
          <p:nvPr/>
        </p:nvSpPr>
        <p:spPr>
          <a:xfrm>
            <a:off x="8348472" y="32004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SPOKE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8348472" y="371246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ELK-10.235.32.0/20  ·  ASH-10.236.32.0/20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48472" y="406908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subscriptions per application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0080" y="4480560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Spokes never connect directly to each other — only to the Hub.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4892040"/>
            <a:ext cx="10908792" cy="914400"/>
          </a:xfrm>
          <a:prstGeom prst="roundRect">
            <a:avLst>
              <a:gd name="adj" fmla="val 8000"/>
            </a:avLst>
          </a:prstGeom>
          <a:solidFill>
            <a:srgbClr val="D9E3F5"/>
          </a:solidFill>
          <a:ln/>
        </p:spPr>
      </p:sp>
      <p:sp>
        <p:nvSpPr>
          <p:cNvPr id="36" name="Text 34"/>
          <p:cNvSpPr/>
          <p:nvPr/>
        </p:nvSpPr>
        <p:spPr>
          <a:xfrm>
            <a:off x="914400" y="489204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hub-spoke model centralizes connectivity and security once in the Hub,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keeping Prod, UAT/QA, and Dev fully isolated from each other — each spoke only talks to the Hub, never directly to another spoke.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40080" y="6428232"/>
            <a:ext cx="10908792" cy="0"/>
          </a:xfrm>
          <a:prstGeom prst="line">
            <a:avLst/>
          </a:prstGeom>
          <a:noFill/>
          <a:ln w="12700">
            <a:solidFill>
              <a:srgbClr val="E3E9F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47395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Networking: Hub-and-Spoke Model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891272" y="647395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Wintrust Commercial Banking  | 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DataHub Communicates: A Real Example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Link services connect directly to the spoke — only internet traffic routes through the Hub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A: CONFLUENT → COUCHBASE  (Private Link — direct to spoke)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40080" y="1892808"/>
            <a:ext cx="2926080" cy="777240"/>
          </a:xfrm>
          <a:prstGeom prst="roundRect">
            <a:avLst>
              <a:gd name="adj" fmla="val 8235"/>
            </a:avLst>
          </a:prstGeom>
          <a:solidFill>
            <a:srgbClr val="F4F7F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892808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Confluent Cloud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11880" y="2199132"/>
            <a:ext cx="411480" cy="164592"/>
          </a:xfrm>
          <a:prstGeom prst="rightArrow">
            <a:avLst/>
          </a:prstGeom>
          <a:solidFill>
            <a:srgbClr val="5A6B87"/>
          </a:solidFill>
          <a:ln/>
        </p:spPr>
      </p:sp>
      <p:sp>
        <p:nvSpPr>
          <p:cNvPr id="8" name="Text 6"/>
          <p:cNvSpPr/>
          <p:nvPr/>
        </p:nvSpPr>
        <p:spPr>
          <a:xfrm>
            <a:off x="3108960" y="1645920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 Private Link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114800" y="1892808"/>
            <a:ext cx="2926080" cy="777240"/>
          </a:xfrm>
          <a:prstGeom prst="roundRect">
            <a:avLst>
              <a:gd name="adj" fmla="val 8235"/>
            </a:avLst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4206240" y="1892808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 Spoke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086600" y="2199132"/>
            <a:ext cx="411480" cy="164592"/>
          </a:xfrm>
          <a:prstGeom prst="rightArrow">
            <a:avLst/>
          </a:prstGeom>
          <a:solidFill>
            <a:srgbClr val="5A6B87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0" y="1645920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 Private Link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589520" y="1892808"/>
            <a:ext cx="2926080" cy="777240"/>
          </a:xfrm>
          <a:prstGeom prst="roundRect">
            <a:avLst>
              <a:gd name="adj" fmla="val 8235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0" y="1892808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Couchbase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260604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Bypasses the Hub entirely — each environment (Prod / UAT-QA / Dev) has its own dedicated Private Link straight into that spoke.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0080" y="3063240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B: MULESOFT → COUCHBASE  (Internet — via the Hub)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584448"/>
            <a:ext cx="2194560" cy="777240"/>
          </a:xfrm>
          <a:prstGeom prst="roundRect">
            <a:avLst>
              <a:gd name="adj" fmla="val 8235"/>
            </a:avLst>
          </a:prstGeom>
          <a:solidFill>
            <a:srgbClr val="F4F7FC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58444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MuleSoft (SaaS)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880360" y="3890772"/>
            <a:ext cx="411480" cy="164592"/>
          </a:xfrm>
          <a:prstGeom prst="rightArrow">
            <a:avLst/>
          </a:prstGeom>
          <a:solidFill>
            <a:srgbClr val="5A6B87"/>
          </a:solidFill>
          <a:ln/>
        </p:spPr>
      </p:sp>
      <p:sp>
        <p:nvSpPr>
          <p:cNvPr id="20" name="Text 18"/>
          <p:cNvSpPr/>
          <p:nvPr/>
        </p:nvSpPr>
        <p:spPr>
          <a:xfrm>
            <a:off x="2377440" y="3337560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+ Firewall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383280" y="3584448"/>
            <a:ext cx="2606040" cy="777240"/>
          </a:xfrm>
          <a:prstGeom prst="roundRect">
            <a:avLst>
              <a:gd name="adj" fmla="val 8235"/>
            </a:avLst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3474720" y="3584448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(vCSF → Internal LB)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035040" y="3890772"/>
            <a:ext cx="411480" cy="164592"/>
          </a:xfrm>
          <a:prstGeom prst="rightArrow">
            <a:avLst/>
          </a:prstGeom>
          <a:solidFill>
            <a:srgbClr val="5A6B87"/>
          </a:solidFill>
          <a:ln/>
        </p:spPr>
      </p:sp>
      <p:sp>
        <p:nvSpPr>
          <p:cNvPr id="24" name="Text 22"/>
          <p:cNvSpPr/>
          <p:nvPr/>
        </p:nvSpPr>
        <p:spPr>
          <a:xfrm>
            <a:off x="5532120" y="3337560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vNet Peering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537960" y="3584448"/>
            <a:ext cx="2194560" cy="777240"/>
          </a:xfrm>
          <a:prstGeom prst="roundRect">
            <a:avLst>
              <a:gd name="adj" fmla="val 8235"/>
            </a:avLst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6629400" y="358444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 Spoke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778240" y="3890772"/>
            <a:ext cx="411480" cy="164592"/>
          </a:xfrm>
          <a:prstGeom prst="rightArrow">
            <a:avLst/>
          </a:prstGeom>
          <a:solidFill>
            <a:srgbClr val="5A6B87"/>
          </a:solidFill>
          <a:ln/>
        </p:spPr>
      </p:sp>
      <p:sp>
        <p:nvSpPr>
          <p:cNvPr id="28" name="Text 26"/>
          <p:cNvSpPr/>
          <p:nvPr/>
        </p:nvSpPr>
        <p:spPr>
          <a:xfrm>
            <a:off x="8275320" y="3337560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 Private Link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9281160" y="3584448"/>
            <a:ext cx="2194560" cy="777240"/>
          </a:xfrm>
          <a:prstGeom prst="roundRect">
            <a:avLst>
              <a:gd name="adj" fmla="val 8235"/>
            </a:avLst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9372600" y="358444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Couchbase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0080" y="431596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MuleSoft's SaaS traffic has no Private Link, so it enters over the internet through the Hub's vCSF firewall and Internal LB, then peers into the Prod spoke — a different path than Confluent's.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0080" y="4892040"/>
            <a:ext cx="10908792" cy="1005840"/>
          </a:xfrm>
          <a:prstGeom prst="roundRect">
            <a:avLst>
              <a:gd name="adj" fmla="val 7273"/>
            </a:avLst>
          </a:prstGeom>
          <a:solidFill>
            <a:srgbClr val="1E2761"/>
          </a:solidFill>
          <a:ln/>
        </p:spPr>
      </p:sp>
      <p:sp>
        <p:nvSpPr>
          <p:cNvPr id="33" name="Text 31"/>
          <p:cNvSpPr/>
          <p:nvPr/>
        </p:nvSpPr>
        <p:spPr>
          <a:xfrm>
            <a:off x="914400" y="4892040"/>
            <a:ext cx="10360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D9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Private-Link services (Couchbase, Confluent, Informatica) connect straight into the relevant spoke.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internet-sourced traffic like MuleSoft's is firewalled and routed through the Hub first. Either way, nothing reaches Couchbase directly from the public internet.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40080" y="6428232"/>
            <a:ext cx="10908792" cy="0"/>
          </a:xfrm>
          <a:prstGeom prst="line">
            <a:avLst/>
          </a:prstGeom>
          <a:noFill/>
          <a:ln w="12700">
            <a:solidFill>
              <a:srgbClr val="E3E9F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647395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DataHub Communicates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891272" y="647395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Wintrust Commercial Banking  | 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 Link &amp; Environment Addressing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Couchbase, Confluent, and Informatica each connect into the Hub via dedicated Private Link endpoints per environment (Prod / UAT-QA / Dev) — traffic never touches the public internet.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908792" cy="914400"/>
        </p:xfrm>
        <a:graphic>
          <a:graphicData uri="http://schemas.openxmlformats.org/drawingml/2006/table">
            <a:tbl>
              <a:tblPr/>
              <a:tblGrid>
                <a:gridCol w="2130552"/>
                <a:gridCol w="2194560"/>
                <a:gridCol w="2194560"/>
                <a:gridCol w="2194560"/>
                <a:gridCol w="21945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Environment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DataHub (ELK)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DataHub (ASH)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IDMC (ELK)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IDMC (ASH)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4304D"/>
                          </a:solidFill>
                        </a:rPr>
                        <a:t>PROD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D"/>
                          </a:solidFill>
                        </a:rPr>
                        <a:t>10.238.64.0/26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D"/>
                          </a:solidFill>
                        </a:rPr>
                        <a:t>10.239.64.0/26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D"/>
                          </a:solidFill>
                        </a:rPr>
                        <a:t>10.238.78.0/26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D"/>
                          </a:solidFill>
                        </a:rPr>
                        <a:t>10.239.78.0/26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4304D"/>
                          </a:solidFill>
                        </a:rPr>
                        <a:t>UAT/QA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D"/>
                          </a:solidFill>
                        </a:rPr>
                        <a:t>10.238.32.0/26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D"/>
                          </a:solidFill>
                        </a:rPr>
                        <a:t>10.239.32.0/26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D"/>
                          </a:solidFill>
                        </a:rPr>
                        <a:t>10.238.46.0/26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D"/>
                          </a:solidFill>
                        </a:rPr>
                        <a:t>10.239.46.0/26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4304D"/>
                          </a:solidFill>
                        </a:rPr>
                        <a:t>DEV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D"/>
                          </a:solidFill>
                        </a:rPr>
                        <a:t>10.238.48.0/24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D"/>
                          </a:solidFill>
                        </a:rPr>
                        <a:t>10.239.48.0/24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D"/>
                          </a:solidFill>
                        </a:rPr>
                        <a:t>10.235.32.0/27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4304D"/>
                          </a:solidFill>
                        </a:rPr>
                        <a:t>10.236.32.0/27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3703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Link endpoints by source system: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40080" y="4041648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Couchbase: </a:t>
            </a:r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 Private Link, QA/UAT Private Link, Dev Private Link — one dedicated endpoint per environment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Confluent: </a:t>
            </a:r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 Private Link, QA/UAT Private Link, Dev Private Link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●"/>
            </a:pPr>
            <a:r>
              <a:rPr lang="en-US" sz="1200" b="1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Informatica (IDMC): </a:t>
            </a:r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 Private Link, QA/UAT Private Link, Dev Private Link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40080" y="5166360"/>
            <a:ext cx="10908792" cy="914400"/>
          </a:xfrm>
          <a:prstGeom prst="roundRect">
            <a:avLst>
              <a:gd name="adj" fmla="val 8000"/>
            </a:avLst>
          </a:prstGeom>
          <a:solidFill>
            <a:srgbClr val="D9E3F5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51663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secure backbone underneath everything covered so far — every source-to-Couchbase and Couchbase-to-Business Hub path in this deck rides on this Private Link + ExpressRoute foundation.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0080" y="6428232"/>
            <a:ext cx="10908792" cy="0"/>
          </a:xfrm>
          <a:prstGeom prst="line">
            <a:avLst/>
          </a:prstGeom>
          <a:noFill/>
          <a:ln w="12700">
            <a:solidFill>
              <a:srgbClr val="E3E9F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647395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Link &amp; Environment Addressing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7891272" y="647395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Wintrust Commercial Banking  |  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Architecture Matters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3327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breaks down without it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285232" cy="3063240"/>
          </a:xfrm>
          <a:prstGeom prst="roundRect">
            <a:avLst>
              <a:gd name="adj" fmla="val 2388"/>
            </a:avLst>
          </a:prstGeom>
          <a:solidFill>
            <a:srgbClr val="F4F7FC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600200"/>
            <a:ext cx="5285232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874520"/>
            <a:ext cx="5285232" cy="2743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600200"/>
            <a:ext cx="4828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HUB-SPOKE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96112" y="2377440"/>
            <a:ext cx="477316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1400"/>
              </a:spcAft>
              <a:buSzPct val="100000"/>
              <a:buChar char="●"/>
            </a:pPr>
            <a:r>
              <a:rPr lang="en-US" sz="120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spoke needs its own direct connection to on-prem and every shared service — connection sprawl instead of one shared backbone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1400"/>
              </a:spcAft>
              <a:buSzPct val="100000"/>
              <a:buChar char="●"/>
            </a:pPr>
            <a:r>
              <a:rPr lang="en-US" sz="120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natural isolation — a Dev misconfiguration could expose a path toward Prod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1400"/>
              </a:spcAft>
              <a:buSzPct val="100000"/>
              <a:buChar char="●"/>
            </a:pPr>
            <a:r>
              <a:rPr lang="en-US" sz="120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policy duplicated per environment instead of centralized once in the Hub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63640" y="1600200"/>
            <a:ext cx="5285232" cy="3063240"/>
          </a:xfrm>
          <a:prstGeom prst="roundRect">
            <a:avLst>
              <a:gd name="adj" fmla="val 2388"/>
            </a:avLst>
          </a:prstGeom>
          <a:solidFill>
            <a:srgbClr val="F4F7FC"/>
          </a:solidFill>
          <a:ln/>
        </p:spPr>
      </p:sp>
      <p:sp>
        <p:nvSpPr>
          <p:cNvPr id="10" name="Shape 8"/>
          <p:cNvSpPr/>
          <p:nvPr/>
        </p:nvSpPr>
        <p:spPr>
          <a:xfrm>
            <a:off x="6263640" y="1600200"/>
            <a:ext cx="5285232" cy="548640"/>
          </a:xfrm>
          <a:prstGeom prst="roundRect">
            <a:avLst>
              <a:gd name="adj" fmla="val 13333"/>
            </a:avLst>
          </a:prstGeom>
          <a:solidFill>
            <a:srgbClr val="1C7293"/>
          </a:solidFill>
          <a:ln/>
        </p:spPr>
      </p:sp>
      <p:sp>
        <p:nvSpPr>
          <p:cNvPr id="11" name="Shape 9"/>
          <p:cNvSpPr/>
          <p:nvPr/>
        </p:nvSpPr>
        <p:spPr>
          <a:xfrm>
            <a:off x="6263640" y="1874520"/>
            <a:ext cx="5285232" cy="2743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1600200"/>
            <a:ext cx="4828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PRIVATE LINK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19672" y="2377440"/>
            <a:ext cx="477316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1400"/>
              </a:spcAft>
              <a:buSzPct val="100000"/>
              <a:buChar char="●"/>
            </a:pPr>
            <a:r>
              <a:rPr lang="en-US" sz="120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Confluent / Couchbase / Informatica traffic would traverse the public internet to reach the Hub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1400"/>
              </a:spcAft>
              <a:buSzPct val="100000"/>
              <a:buChar char="●"/>
            </a:pPr>
            <a:r>
              <a:rPr lang="en-US" sz="120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banking data exposed to internet attack surface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1400"/>
              </a:spcAft>
              <a:buSzPct val="100000"/>
              <a:buChar char="●"/>
            </a:pPr>
            <a:r>
              <a:rPr lang="en-US" sz="1200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Harder to meet compliance expectations for private, non-internet-routable financial data paths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4892040"/>
            <a:ext cx="10908792" cy="1005840"/>
          </a:xfrm>
          <a:prstGeom prst="roundRect">
            <a:avLst>
              <a:gd name="adj" fmla="val 727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892040"/>
            <a:ext cx="10360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D9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Hub-and-spoke plus Private Link together mean commercial banking data never touches the public internet,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every environment is isolated by design — not by convention.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6428232"/>
            <a:ext cx="10908792" cy="0"/>
          </a:xfrm>
          <a:prstGeom prst="line">
            <a:avLst/>
          </a:prstGeom>
          <a:noFill/>
          <a:ln w="12700">
            <a:solidFill>
              <a:srgbClr val="E3E9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647395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Architecture Matters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891272" y="647395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Wintrust Commercial Banking  |  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 Flow 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picture — from source to Business Hub, and who owns what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64208"/>
            <a:ext cx="2286000" cy="914400"/>
          </a:xfrm>
          <a:prstGeom prst="roundRect">
            <a:avLst>
              <a:gd name="adj" fmla="val 7000"/>
            </a:avLst>
          </a:prstGeom>
          <a:solidFill>
            <a:srgbClr val="F4F7FC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7739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22677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IBS · RTP/FedNow · Wires · ACH · Lockbox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971800" y="2039112"/>
            <a:ext cx="411480" cy="164592"/>
          </a:xfrm>
          <a:prstGeom prst="rightArrow">
            <a:avLst/>
          </a:prstGeom>
          <a:solidFill>
            <a:srgbClr val="5A6B87"/>
          </a:solidFill>
          <a:ln/>
        </p:spPr>
      </p:sp>
      <p:sp>
        <p:nvSpPr>
          <p:cNvPr id="8" name="Text 6"/>
          <p:cNvSpPr/>
          <p:nvPr/>
        </p:nvSpPr>
        <p:spPr>
          <a:xfrm>
            <a:off x="2468880" y="1417320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/ MuleSoft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474720" y="1664208"/>
            <a:ext cx="2286000" cy="914400"/>
          </a:xfrm>
          <a:prstGeom prst="roundRect">
            <a:avLst>
              <a:gd name="adj" fmla="val 7000"/>
            </a:avLst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17739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+ MuleSoft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566160" y="22677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(filtered) &amp; MuleSoft inbound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806440" y="2039112"/>
            <a:ext cx="411480" cy="164592"/>
          </a:xfrm>
          <a:prstGeom prst="rightArrow">
            <a:avLst/>
          </a:prstGeom>
          <a:solidFill>
            <a:srgbClr val="5A6B87"/>
          </a:solidFill>
          <a:ln/>
        </p:spPr>
      </p:sp>
      <p:sp>
        <p:nvSpPr>
          <p:cNvPr id="13" name="Text 11"/>
          <p:cNvSpPr/>
          <p:nvPr/>
        </p:nvSpPr>
        <p:spPr>
          <a:xfrm>
            <a:off x="5303520" y="1417320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&amp; enrich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309360" y="1664208"/>
            <a:ext cx="2286000" cy="914400"/>
          </a:xfrm>
          <a:prstGeom prst="roundRect">
            <a:avLst>
              <a:gd name="adj" fmla="val 7000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17739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Couchbase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0" y="22677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→ process → semantic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641080" y="2039112"/>
            <a:ext cx="411480" cy="164592"/>
          </a:xfrm>
          <a:prstGeom prst="rightArrow">
            <a:avLst/>
          </a:prstGeom>
          <a:solidFill>
            <a:srgbClr val="5A6B87"/>
          </a:solidFill>
          <a:ln/>
        </p:spPr>
      </p:sp>
      <p:sp>
        <p:nvSpPr>
          <p:cNvPr id="18" name="Text 16"/>
          <p:cNvSpPr/>
          <p:nvPr/>
        </p:nvSpPr>
        <p:spPr>
          <a:xfrm>
            <a:off x="8138160" y="1417320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MuleSoft API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9144000" y="1664208"/>
            <a:ext cx="2286000" cy="914400"/>
          </a:xfrm>
          <a:prstGeom prst="roundRect">
            <a:avLst>
              <a:gd name="adj" fmla="val 7000"/>
            </a:avLst>
          </a:prstGeom>
          <a:solidFill>
            <a:srgbClr val="F4F7FC"/>
          </a:solidFill>
          <a:ln/>
        </p:spPr>
      </p:sp>
      <p:sp>
        <p:nvSpPr>
          <p:cNvPr id="20" name="Text 18"/>
          <p:cNvSpPr/>
          <p:nvPr/>
        </p:nvSpPr>
        <p:spPr>
          <a:xfrm>
            <a:off x="9235440" y="17739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Hub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235440" y="22677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243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MuleSoft API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267004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data in motion travels through the Hub-and-Spoke network via Private Link — see Networking.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0080" y="30632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OWNERSHIP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3364992"/>
            <a:ext cx="5285232" cy="1325880"/>
          </a:xfrm>
          <a:prstGeom prst="roundRect">
            <a:avLst>
              <a:gd name="adj" fmla="val 5517"/>
            </a:avLst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896112" y="34930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D9E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HUB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96112" y="3785616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&amp; operated by FIS — the client-facing portal for balances, transactions, reports, and search.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263640" y="3364992"/>
            <a:ext cx="5285232" cy="1325880"/>
          </a:xfrm>
          <a:prstGeom prst="roundRect">
            <a:avLst>
              <a:gd name="adj" fmla="val 5517"/>
            </a:avLst>
          </a:prstGeom>
          <a:solidFill>
            <a:srgbClr val="1C7293"/>
          </a:solidFill>
          <a:ln/>
        </p:spPr>
      </p:sp>
      <p:sp>
        <p:nvSpPr>
          <p:cNvPr id="28" name="Text 26"/>
          <p:cNvSpPr/>
          <p:nvPr/>
        </p:nvSpPr>
        <p:spPr>
          <a:xfrm>
            <a:off x="6519672" y="34930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DATAHUB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519672" y="3785616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&amp; operated by Wintrust Enterprise DM — acquires, streams, integrates, and persists data in Couchbase for Business Hub to consume.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4937760"/>
            <a:ext cx="10908792" cy="960120"/>
          </a:xfrm>
          <a:prstGeom prst="roundRect">
            <a:avLst>
              <a:gd name="adj" fmla="val 7619"/>
            </a:avLst>
          </a:prstGeom>
          <a:solidFill>
            <a:srgbClr val="D9E3F5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0" y="4937760"/>
            <a:ext cx="10360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five source systems to one client-facing portal: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filtered, enriched, and reconciled through Couchbase, delivered through MuleSoft, and secured end-to-end by the Hub-and-Spoke network — this is DataHub.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6428232"/>
            <a:ext cx="10908792" cy="0"/>
          </a:xfrm>
          <a:prstGeom prst="line">
            <a:avLst/>
          </a:prstGeom>
          <a:noFill/>
          <a:ln w="12700">
            <a:solidFill>
              <a:srgbClr val="E3E9F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647395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Flow Recap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891272" y="647395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Wintrust Commercial Banking  |  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2026-08-11T19:57:31Z</dcterms:created>
  <dcterms:modified xsi:type="dcterms:W3CDTF">2026-08-11T19:57:31Z</dcterms:modified>
</cp:coreProperties>
</file>