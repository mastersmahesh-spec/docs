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692640" y="4663440"/>
            <a:ext cx="914400" cy="36576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607040" y="4663440"/>
            <a:ext cx="822960" cy="54864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9692640" y="5029200"/>
            <a:ext cx="457200" cy="7315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0607040" y="4663440"/>
            <a:ext cx="640080" cy="137160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9418320" y="5760720"/>
            <a:ext cx="73152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49840" y="5760720"/>
            <a:ext cx="109728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610344" y="494690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47704" y="512978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67544" y="567842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648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600" b="1" i="0">
                <a:solidFill>
                  <a:srgbClr val="FFFFFF"/>
                </a:solidFill>
                <a:latin typeface="Cambria"/>
              </a:rPr>
              <a:t>Couchbase Platform: A Technical Deep Dive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900" b="0" i="0">
                <a:solidFill>
                  <a:srgbClr val="D9E3F5"/>
                </a:solidFill>
                <a:latin typeface="Calibri"/>
              </a:rPr>
              <a:t>Architecture, Performance, and Operational Depth Behind DataHub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Wintrust Commercial Banking  |  Chief Data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A focused look at the Couchbase platform itself — architecture, performance, and operations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84708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Platform Overview: Cluster &amp; Services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7157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Data Model: Bucket Architecture &amp; Collections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6616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58444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Eventing-Driven CDC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453127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Query &amp; Indexing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3035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5321807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Performance Test Results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18288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184708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DataHub Daily Volume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269748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7157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Reliability: XDCR &amp; DR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356616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5661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58444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Security &amp; Connectivity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43484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4453127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24304D"/>
                </a:solidFill>
                <a:latin typeface="Calibri"/>
              </a:rPr>
              <a:t>Future Use Cases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Agenda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Platform Overview: Cluster &amp;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Six clusters across Dev, QA, UAT, and Prod — all on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CLUSTER TOPOLOGY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36192"/>
          <a:ext cx="10908792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862072"/>
                <a:gridCol w="2560320"/>
              </a:tblGrid>
              <a:tr h="27432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DEVCCDMAZCEN_001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WTFC_DM_DEV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Central US (Iowa)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Single AZ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PRDCCDMAZCEN_001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WTFC_PRJ_DM_PRD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Central US (Iowa)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Multiple AZs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PRDCCDMAZEST2_001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WTFC_PRJ_DM_PRD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East US 2 (Virginia)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Multiple AZs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QACCDMAZCEN_001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WTFC_DM_QA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Central US (Iowa)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Single AZ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UATCCDMAZCEN_001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WTFC_PRJ_DM_UAT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Central US (Iowa)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Multiple AZs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UATCCDMAZEST2_001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WTFC_PRJ_DM_UAT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East US 2 (Virginia)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Multiple AZs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86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PRODUCTION SERVICE GROUPS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142232"/>
          <a:ext cx="10908792" cy="13716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377440"/>
                <a:gridCol w="1645920"/>
                <a:gridCol w="1463040"/>
                <a:gridCol w="2313432"/>
              </a:tblGrid>
              <a:tr h="27432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CPU / RAM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IOPS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 Type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1024GB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P30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256GB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Eventing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8 vCPU / 32GB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128GB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6015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100" b="1" i="0">
                <a:solidFill>
                  <a:srgbClr val="D9E3F5"/>
                </a:solidFill>
                <a:latin typeface="Calibri"/>
              </a:rPr>
              <a:t>Only Production runs always-on, in both regions. Dev, QA, and UAT each follow their own power schedule — on for a few specific hours a day, off the rest — a deliberate cost lever non-prod environments don't need to run continuously.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Platform Overview: Cluster &amp;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 Model: Bucket Architecture &amp;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Five buckets, one built on a different storage engine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08791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1645920"/>
                <a:gridCol w="1856231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Documents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Scopes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Collections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Storage Engine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300" b="1" i="0">
                          <a:solidFill>
                            <a:srgbClr val="24304D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2,774,363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Couchstore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300" b="1" i="0">
                          <a:solidFill>
                            <a:srgbClr val="24304D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15,212,704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Couchstore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300" b="1" i="0">
                          <a:solidFill>
                            <a:srgbClr val="24304D"/>
                          </a:solidFill>
                          <a:latin typeface="Calibri"/>
                        </a:rPr>
                        <a:t>landing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1,212,967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Couchstore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300" b="1" i="0">
                          <a:solidFill>
                            <a:srgbClr val="24304D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749,752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0" i="0">
                          <a:solidFill>
                            <a:srgbClr val="24304D"/>
                          </a:solidFill>
                          <a:latin typeface="Calibri"/>
                        </a:rPr>
                        <a:t>Couchstore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100,148,225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Magma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70916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60152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Every bucket runs on Couchstore except semantic, which runs on Magma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Couchbase's storage engine built for high-density, large-scale datasets. At 100M+ documents, semantic is by far the largest bucket in the platform, and Magma's compression and lower per-document memory footprint make it the right engine for that scale.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Data Model: Bucket Architecture &amp;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Eventing-Driven CDC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How data moves continuously between buckets, without a scheduled batch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618488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landing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37559" y="19248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39" y="137160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On mutation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79" y="1618488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19" y="1618488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Eventing Function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59" y="19248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Transform &amp;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79" y="1618488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9" y="1618488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70048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670048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37559" y="29763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24231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On mutation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79" y="2670048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19" y="2670048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Eventing Function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537959" y="29763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231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Transform &amp; 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79" y="2670048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9" y="2670048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semantic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PROCESSING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1090879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Trigger — fires automatically when a document is written to the source collection.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Transform &amp; Load — executes a prepared N1QL statement to move and reshape the transaction into the target collection.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Audit — every run logs a status record to the audit bucket, success or failure, tied back to the source document.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Error Handling — failures are caught, logged with the error detail, and marked accordingly in the audit trail.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Retry — designed to be safely re-run without creating duplicate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This is what keeps process and semantic continuously current — data moves the moment it changes, not on a schedule.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Eventing-Driven CDC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Query &amp;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Indexes built for how the data is actually queried — not one-size-fits-all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ACCESS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087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Most data processing runs through prepared N1QL statements.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A smaller share are direct KV operations, where the document key alone is enough to fetch the record — no query engine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INDEXES CHOSEN FOR THE 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285232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5285232" cy="411480"/>
          </a:xfrm>
          <a:prstGeom prst="roundRect">
            <a:avLst>
              <a:gd name="adj" fmla="val 1777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03220"/>
            <a:ext cx="5285232" cy="2057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280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COMPOSITE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2783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1E2761"/>
                </a:solidFill>
                <a:latin typeface="Calibri"/>
              </a:rPr>
              <a:t>account_rtg_nb + posting_date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38728"/>
            <a:ext cx="47731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00" b="0" i="0">
                <a:solidFill>
                  <a:srgbClr val="24304D"/>
                </a:solidFill>
                <a:latin typeface="Calibri"/>
              </a:rPr>
              <a:t>Built for the account-and-date lookups that show up constantly in reporting — Couchbase goes straight to the matching records instead of scanning broadly.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697480"/>
            <a:ext cx="5285232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5285232" cy="411480"/>
          </a:xfrm>
          <a:prstGeom prst="roundRect">
            <a:avLst>
              <a:gd name="adj" fmla="val 1777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03220"/>
            <a:ext cx="5285232" cy="2057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8280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ARRAY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2783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1C7293"/>
                </a:solidFill>
                <a:latin typeface="Calibri"/>
              </a:rPr>
              <a:t>Credit / debit detail (nested array)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38728"/>
            <a:ext cx="47731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Credit/debit fields sit nested inside an array on the transaction document — an array index unnests and filters those fields directly, instead of pulling the whole document into application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PREDICATE PUSHDOWN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28032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Ties both examples together: filters apply at the index/scan level itself, not after the data's already been fetched — less data movement, faster returns.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Different use cases get different indexes, deliberately — the goal is always the same: let Couchbase do the filtering, not the application.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Query &amp; Indexing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Performance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Sustained throughput validated against business peak-hour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A6B87"/>
                </a:solidFill>
                <a:latin typeface="Calibri"/>
              </a:rPr>
              <a:t>Endurance test — 10 hrs continuous execution  ·  21/Jul/26, 6:25 AM–4:59 PM CST  ·  Accounts: 5, 11, 48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08792" cy="2304288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194560"/>
                <a:gridCol w="1947672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Actual Sustained TPH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Business Peak TPH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Peak Hour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vs. Peak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24304D"/>
                          </a:solidFill>
                          <a:latin typeface="Calibri"/>
                        </a:rPr>
                        <a:t>Balance Position Report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4,004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4,245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24304D"/>
                          </a:solidFill>
                          <a:latin typeface="Calibri"/>
                        </a:rPr>
                        <a:t>Daily Statement Report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4,164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4,245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24304D"/>
                          </a:solidFill>
                          <a:latin typeface="Calibri"/>
                        </a:rPr>
                        <a:t>User Defined Report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7,478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8,491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24304D"/>
                          </a:solidFill>
                          <a:latin typeface="Calibri"/>
                        </a:rPr>
                        <a:t>Transaction Search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5,912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9,574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12PM / 1PM / 2PM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24304D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21,559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19,375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8AM / 9AM / 5PM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111%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16052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D9E3F5"/>
                </a:solidFill>
                <a:latin typeface="Calibri"/>
              </a:rPr>
              <a:t>Every API's sustained throughput stayed within its own peak-hour requirement — and combined throughput still beat the toughest hour the business ever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592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10360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RIGHT-SIZED FROM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31536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FFFFFF"/>
                </a:solidFill>
                <a:latin typeface="Calibri"/>
              </a:rPr>
              <a:t>Based on resource utilization and data from this load test, the production cluster was right-sized — saving roughly 40% in credits, about 700–800 credits per month.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Performance Test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DataHub Daily Volume: A 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One day's transaction volume, start to finish — example day: 09/11/2026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INTRADAY PROCESSING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257800" cy="256032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Inbound Txn Volume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CB Semantic Count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RTP/FedNow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2,289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Wires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4,844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3,703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ACH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190,916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108,150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Lockbox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584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553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IBS Events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324,013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23,337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522,646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136,134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72200" y="1298448"/>
            <a:ext cx="5376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BATCH EOD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554480"/>
          <a:ext cx="5376672" cy="256032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810512"/>
              </a:tblGrid>
              <a:tr h="36576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CB Landing Count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CB Semantic Count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RTP/FedNow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Wires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3,733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3,733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ACH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109,928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109,928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ACH Prefund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1,913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1,913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24304D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76,627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24304D"/>
                          </a:solidFill>
                          <a:latin typeface="Calibri"/>
                        </a:rPr>
                        <a:t>76,627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192,592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192,592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25196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328,726 transactions reached the semantic layer this day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136,134 from intraday processing and 192,592 from batch EOD, combined across all five intraday sources and three batch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D9E3F5"/>
                </a:solidFill>
                <a:latin typeface="Calibri"/>
              </a:rPr>
              <a:t>This is a typical day.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Mondays run higher, since weekend activity carries into that day's batch — otherwise, volume is consistent with this example.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DataHub Daily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Reliability: XDCR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Primary in Central US, continuously mirrored to East US2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Central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2176272"/>
            <a:ext cx="91440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XDCR — one-way, near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East US2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Disaster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FAILOVER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9087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Data copies over to East US2 in near real-time, using XDCR. It's one-way and always running — no manual step needed.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If Central US goes down, we don't flip over automatically. We follow a runbook and switch over on purpose, in a controlled way.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Full RTO/RPO numbers and failover steps live in a separate runbook (link goes here).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Because East US2 already has a live copy of the data, switching over means promoting it — not rebuilding it.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That's what keeps downtime low.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Reliability: XDCR &amp;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Security &amp;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Who can reach the platform, and how deployments get there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02152" cy="3931920"/>
          </a:xfrm>
          <a:prstGeom prst="roundRect">
            <a:avLst>
              <a:gd name="adj" fmla="val 20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0215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SECURITY — CONSOLE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309981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Access to the Capella console is governed by Organization and Project roles.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Integrated with Microsoft Entra ID — teams authenticate with their existing corporate identity, not separate Couchbase-only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02152" cy="3931920"/>
          </a:xfrm>
          <a:prstGeom prst="roundRect">
            <a:avLst>
              <a:gd name="adj" fmla="val 20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02152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31720"/>
            <a:ext cx="309981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Developers use Visual Studio with the Couchbase SDK to build and test against Dev/QA clusters.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Production traffic connects via Private Link — never over the public internet.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54480"/>
            <a:ext cx="3502152" cy="3931920"/>
          </a:xfrm>
          <a:prstGeom prst="roundRect">
            <a:avLst>
              <a:gd name="adj" fmla="val 20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155448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350215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55448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DEPLOYMENT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331720"/>
            <a:ext cx="309981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All deployments — schema changes, index updates, Eventing functions — go through CI/CD.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No manual changes are made directly to production.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6928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Access, connectivity, and deployment all follow the same principle: nothing reaches production through an ad hoc path.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Security &amp; 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Future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0" y="502920"/>
            <a:ext cx="301752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50292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Three ideas already leaning on capabilities proven elsewhere in this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02152" cy="3794760"/>
          </a:xfrm>
          <a:prstGeom prst="roundRect">
            <a:avLst>
              <a:gd name="adj" fmla="val 20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50215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0876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ENCOMPASS WEBHOOKS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30998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Loan field changes land in a new Couchbase bucket.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Subdocument mutations update just the changed field — no full document rewrite — built for fast-arriving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502152" cy="3794760"/>
          </a:xfrm>
          <a:prstGeom prst="roundRect">
            <a:avLst>
              <a:gd name="adj" fmla="val 20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3502152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0876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MITTERA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286000"/>
            <a:ext cx="30998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Data already lives merged in Couchbase — no new pipeline needed.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Existing tuned indexes make the daily prior-day pull fast.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08760"/>
            <a:ext cx="3502152" cy="3794760"/>
          </a:xfrm>
          <a:prstGeom prst="roundRect">
            <a:avLst>
              <a:gd name="adj" fmla="val 20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150876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350215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50876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286000"/>
            <a:ext cx="30998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Private connectivity already established — nothing new to build.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Schema-flexible document model handles varied MDM record shapes without a fixed 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All three lean on capabilities already proven elsewhere in this deck — subdoc mutations, tuned indexes, existing connectivity — not new infrastructure. None of these are finalized designs yet.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