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9692640" y="4663440"/>
            <a:ext cx="914400" cy="36576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607040" y="4663440"/>
            <a:ext cx="822960" cy="54864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9692640" y="5029200"/>
            <a:ext cx="457200" cy="73152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0607040" y="4663440"/>
            <a:ext cx="640080" cy="137160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>
            <a:off x="9418320" y="5760720"/>
            <a:ext cx="731520" cy="27432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149840" y="5760720"/>
            <a:ext cx="1097280" cy="27432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sp>
        <p:nvSpPr>
          <p:cNvPr id="8" name="Oval 7"/>
          <p:cNvSpPr/>
          <p:nvPr/>
        </p:nvSpPr>
        <p:spPr>
          <a:xfrm>
            <a:off x="9610344" y="494690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24744" y="4581144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47704" y="512978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67544" y="567842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64824" y="595274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36024" y="595274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4000" b="1" i="0">
                <a:solidFill>
                  <a:srgbClr val="FFFFFF"/>
                </a:solidFill>
                <a:latin typeface="Cambria"/>
              </a:rPr>
              <a:t>COUCHBASE PLATFORM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000" b="0" i="0">
                <a:solidFill>
                  <a:srgbClr val="D9E3F5"/>
                </a:solidFill>
                <a:latin typeface="Calibri"/>
              </a:rPr>
              <a:t>End-to-End Data Flow: Sources, Streaming, Integration &amp;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5A6B87"/>
                </a:solidFill>
                <a:latin typeface="Calibri"/>
              </a:rPr>
              <a:t>Wintrust Commercial Banking  |  Chief Data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1">
                <a:solidFill>
                  <a:srgbClr val="5A6B87"/>
                </a:solidFill>
                <a:latin typeface="Calibri"/>
              </a:rPr>
              <a:t>A single reference for how data flows from source systems into Couchbase, how the platform is structured, and how it is secured.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2377440"/>
          </a:xfrm>
          <a:prstGeom prst="roundRect">
            <a:avLst>
              <a:gd name="adj" fmla="val 3076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82496"/>
            <a:ext cx="3383280" cy="26517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173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1732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Context &amp;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Project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2103120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36876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High-Level Architecture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436876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2836" y="1417320"/>
            <a:ext cx="3383280" cy="2377440"/>
          </a:xfrm>
          <a:prstGeom prst="roundRect">
            <a:avLst>
              <a:gd name="adj" fmla="val 3076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2836" y="141732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836" y="1682496"/>
            <a:ext cx="3383280" cy="2651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5716" y="14173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4356" y="141732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Data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0580" y="210312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Data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5764" y="2103120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C7293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0580" y="2436876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Streaming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5764" y="2436876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C7293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0580" y="2770632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Mulesoft Inbound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5764" y="2770632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C7293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0580" y="3104387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Reconciliation Process (Nightly)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5764" y="3104387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C7293"/>
                </a:solidFill>
                <a:latin typeface="Calibri"/>
              </a:rP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417320"/>
            <a:ext cx="3383280" cy="2377440"/>
          </a:xfrm>
          <a:prstGeom prst="roundRect">
            <a:avLst>
              <a:gd name="adj" fmla="val 3076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65592" y="141732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65592" y="1682496"/>
            <a:ext cx="3383280" cy="26517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1" y="14173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7112" y="141732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 Couchbase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210312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Cluster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19" y="2103120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E2761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2436876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Landing &amp; Process Collections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19" y="2436876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E2761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2770632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Semantic Reporting Collections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19" y="2770632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E2761"/>
                </a:solidFill>
                <a:latin typeface="Calibri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3104387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Business Hub Reports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19" y="3104387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E2761"/>
                </a:solidFill>
                <a:latin typeface="Calibri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3336" y="3438144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Why Couchbase?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8519" y="3438144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E2761"/>
                </a:solidFill>
                <a:latin typeface="Calibri"/>
              </a:rPr>
              <a:t>13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3931920"/>
            <a:ext cx="3383280" cy="2377440"/>
          </a:xfrm>
          <a:prstGeom prst="roundRect">
            <a:avLst>
              <a:gd name="adj" fmla="val 3076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080" y="393192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4197096"/>
            <a:ext cx="3383280" cy="2651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" y="39319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393192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Networking &amp; Security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" y="461772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Hub-and-Spoke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93008" y="4617720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C7293"/>
                </a:solidFill>
                <a:latin typeface="Calibri"/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" y="4951476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How DataHub Communicates: A Real Example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93008" y="4951476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C7293"/>
                </a:solidFill>
                <a:latin typeface="Calibri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" y="5285232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Private Link &amp; Environment Addressing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93008" y="5285232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C7293"/>
                </a:solidFill>
                <a:latin typeface="Calibri"/>
              </a:rPr>
              <a:t>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" y="561898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Why This Architecture Matters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93008" y="5618988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C7293"/>
                </a:solidFill>
                <a:latin typeface="Calibri"/>
              </a:rPr>
              <a:t>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" y="5952744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Disaster Recovery: Regional Failover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93008" y="5952744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C7293"/>
                </a:solidFill>
                <a:latin typeface="Calibri"/>
              </a:rPr>
              <a:t>18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02836" y="3931920"/>
            <a:ext cx="3383280" cy="2377440"/>
          </a:xfrm>
          <a:prstGeom prst="roundRect">
            <a:avLst>
              <a:gd name="adj" fmla="val 3076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402836" y="393192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02836" y="4197096"/>
            <a:ext cx="3383280" cy="26517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85716" y="39319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Cambria"/>
              </a:rPr>
              <a:t>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34356" y="393192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Future Use Cases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40580" y="461772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Encompass Webhooks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55764" y="4617720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E2761"/>
                </a:solidFill>
                <a:latin typeface="Calibri"/>
              </a:rPr>
              <a:t>19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40580" y="4951476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Mittera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55764" y="4951476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E2761"/>
                </a:solidFill>
                <a:latin typeface="Calibri"/>
              </a:rPr>
              <a:t>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40580" y="5285232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IDMC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55764" y="5285232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E2761"/>
                </a:solidFill>
                <a:latin typeface="Calibri"/>
              </a:rPr>
              <a:t>21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65592" y="3931920"/>
            <a:ext cx="3383280" cy="2377440"/>
          </a:xfrm>
          <a:prstGeom prst="roundRect">
            <a:avLst>
              <a:gd name="adj" fmla="val 3076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165592" y="393192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65592" y="4197096"/>
            <a:ext cx="3383280" cy="2651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48471" y="39319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Cambria"/>
              </a:rPr>
              <a:t>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97112" y="393192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Wrap-Up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03336" y="461772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80" b="0" i="0">
                <a:solidFill>
                  <a:srgbClr val="24304D"/>
                </a:solidFill>
                <a:latin typeface="Calibri"/>
              </a:rPr>
              <a:t>End-to-End Flow Recap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18519" y="4617720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80" b="1" i="0">
                <a:solidFill>
                  <a:srgbClr val="1C7293"/>
                </a:solidFill>
                <a:latin typeface="Calibri"/>
              </a:rPr>
              <a:t>22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Agenda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Project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33271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C7293"/>
                </a:solidFill>
                <a:latin typeface="Calibri"/>
              </a:rPr>
              <a:t>Commercial Banking Enhanced Reporting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49240" cy="3794760"/>
          </a:xfrm>
          <a:prstGeom prst="roundRect">
            <a:avLst>
              <a:gd name="adj" fmla="val 1927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E2761"/>
                </a:solidFill>
                <a:latin typeface="Calibri"/>
              </a:rPr>
              <a:t>Initiative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463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0" i="0">
                <a:solidFill>
                  <a:srgbClr val="24304D"/>
                </a:solidFill>
                <a:latin typeface="Calibri"/>
              </a:rPr>
              <a:t>A Wintrust Commercial Banking – Treasury Management (TM) initiative to expand TM services to a new market segment: Large Commercial and Corporate clients. The project builds the business, technology, processing, and service capabilities needed to meet the demands of this segment.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E2761"/>
                </a:solidFill>
                <a:latin typeface="Calibri"/>
              </a:rPr>
              <a:t>Client 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484632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Prior-day and same-day visibility into balances and transactions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Standard and custom reports at the BAI code level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Cash position and cash-flow forecasting from near real-time data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Enrichment of transaction information for context and clarity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Transaction search across current and historical data spanning 7 years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85232" cy="1737360"/>
          </a:xfrm>
          <a:prstGeom prst="roundRect">
            <a:avLst>
              <a:gd name="adj" fmla="val 421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783080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BUSINESS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057400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D9E3F5"/>
                </a:solidFill>
                <a:latin typeface="Calibri"/>
              </a:rPr>
              <a:t>Client-facing UI portal — built &amp; operated by FIS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377440"/>
            <a:ext cx="47365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0" i="0">
                <a:solidFill>
                  <a:srgbClr val="FFFFFF"/>
                </a:solidFill>
                <a:latin typeface="Calibri"/>
              </a:rPr>
              <a:t>Gives commercial clients a single place to view balances, transactions, cash position and forecast, run standard or custom reports, and search transaction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520440"/>
            <a:ext cx="5285232" cy="1737360"/>
          </a:xfrm>
          <a:prstGeom prst="roundRect">
            <a:avLst>
              <a:gd name="adj" fmla="val 421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3703320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DATAHUB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3977639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D9E3F5"/>
                </a:solidFill>
                <a:latin typeface="Calibri"/>
              </a:rPr>
              <a:t>Integration &amp; data layer — built &amp; operated by Wintrust Enterprise DM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297680"/>
            <a:ext cx="47365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0" i="0">
                <a:solidFill>
                  <a:srgbClr val="FFFFFF"/>
                </a:solidFill>
                <a:latin typeface="Calibri"/>
              </a:rPr>
              <a:t>Acquires data from core banking and TPS systems, ingests it at near real-time and end-of-day frequencies, processes and enriches it to a standardized BAI code level, and provisions it to Business Hub.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32120"/>
            <a:ext cx="10908792" cy="822960"/>
          </a:xfrm>
          <a:prstGeom prst="roundRect">
            <a:avLst>
              <a:gd name="adj" fmla="val 8888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300" b="1" i="0">
                <a:solidFill>
                  <a:srgbClr val="141A45"/>
                </a:solidFill>
                <a:latin typeface="Calibri"/>
              </a:rPr>
              <a:t>Datahub — powered by Couchbase and the streaming/integration architecture covered in this deck — </a:t>
            </a:r>
            <a:r>
              <a:rPr sz="1300" b="0" i="0">
                <a:solidFill>
                  <a:srgbClr val="141A45"/>
                </a:solidFill>
                <a:latin typeface="Calibri"/>
              </a:rPr>
              <a:t>is the backbone that makes real-time, enriched, historical reporting possible.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Project Background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High-Level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Sources / Producers  →  Data Processing / Persistence  →  Destination / Consumers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3200400" cy="3794760"/>
          </a:xfrm>
          <a:prstGeom prst="roundRect">
            <a:avLst>
              <a:gd name="adj" fmla="val 2285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2788"/>
            <a:ext cx="3200400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SOURCES / PRODUCERS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94560"/>
            <a:ext cx="2798064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Events: Kafka streams real-time deposit and transaction events published by FIS IBS.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Messages: IBM MQ delivers RTP, FedNow, and wire notifications from FIS OPF and GPP.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Files/DB: nightly batch files from BIC EOD, ACH, and Lockbox feed historical 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481328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79392" y="1481328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732788"/>
            <a:ext cx="3566160" cy="2514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48132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DATA PROCESSING /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194560"/>
            <a:ext cx="3163824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Confluent (Datahub Kafka) ingests and brokers real-time events from source systems.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Kafka Connect streams processed events into the Couchbase persistence layer.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Couchbase stores enriched, queryable data as the single source of truth for reporting.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4464" y="1481328"/>
            <a:ext cx="3264408" cy="3794760"/>
          </a:xfrm>
          <a:prstGeom prst="roundRect">
            <a:avLst>
              <a:gd name="adj" fmla="val 2240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84464" y="1481328"/>
            <a:ext cx="3264408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1732788"/>
            <a:ext cx="3264408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1481328"/>
            <a:ext cx="28986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DESTINATION / CONSUMERS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194560"/>
            <a:ext cx="2862072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Business Hub retrieves balances, transactions, and reports via MuleSoft APIs.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Scheduled exports deliver data to downstream systems via the Couchbase SDK.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External RESTful API consumers access data through MuleSoft-brokered endpoints.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895344" y="3259836"/>
            <a:ext cx="329183" cy="237744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900416" y="3259836"/>
            <a:ext cx="329184" cy="237744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544068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Three ingestion patterns — real-time events, message queues, and batch files —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converge in Couchbase as the central persistence layer, then fan out to consumers via MuleSoft.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High-Level Architecture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33271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Grouped by ingestion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51660"/>
            <a:ext cx="3383280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CORE BANKING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13432"/>
            <a:ext cx="298094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IBS (FIS Core Banking): system of record for deposit accounts and core transaction 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00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51660"/>
            <a:ext cx="3383280" cy="2514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REAL-TIME INTEGRATIONS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313432"/>
            <a:ext cx="298094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RTP / FedNow: instant payment rails processed through FIS OPF in real time.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Wires: inbound/outbound transfers confirmed via GPP advice 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00200"/>
            <a:ext cx="3593592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79" y="1600200"/>
            <a:ext cx="3593592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851660"/>
            <a:ext cx="3593592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1600200"/>
            <a:ext cx="32278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BATCH-BASED TPS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313432"/>
            <a:ext cx="319125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ACH: origination, receipt, and return transactions from FIS ACH Tracker.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Lockbox: deposit summary files produced by Deluxe, loaded nightly.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Cards: card transaction settlement captured through core batch processing.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3776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0" i="0">
                <a:solidFill>
                  <a:srgbClr val="141A45"/>
                </a:solidFill>
                <a:latin typeface="Calibri"/>
              </a:rPr>
              <a:t>Sources span three velocities — </a:t>
            </a:r>
            <a:r>
              <a:rPr sz="1300" b="1" i="0">
                <a:solidFill>
                  <a:srgbClr val="141A45"/>
                </a:solidFill>
                <a:latin typeface="Calibri"/>
              </a:rPr>
              <a:t>core banking (continuous), real-time payment rails (instant), and batch TPS (scheduled)</a:t>
            </a:r>
            <a:r>
              <a:rPr sz="1300" b="0" i="0">
                <a:solidFill>
                  <a:srgbClr val="141A45"/>
                </a:solidFill>
                <a:latin typeface="Calibri"/>
              </a:rPr>
              <a:t> — all converging into a single ingestion layer before reaching Couchbase.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Data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Streaming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Real-time ingestion via Kafka — with commercial account filtering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3852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938528"/>
            <a:ext cx="1783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FIS IBS Event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51759" y="22905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39" y="16916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Deposit Event – Real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79" y="1938528"/>
            <a:ext cx="1874519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19" y="1938528"/>
            <a:ext cx="169163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Kafka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74919" y="22905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6916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Deposit Event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39" y="193852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79" y="2048256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249631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Commercial accounts only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40879" y="22905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16916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Filtered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799" y="1938528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39" y="1938528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Couchbase 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1012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3310128"/>
            <a:ext cx="1783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FIS OPF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51759" y="36621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39" y="30632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MQ – RTP Credit/Debit XML – Real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79" y="3310128"/>
            <a:ext cx="1874519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19" y="3310128"/>
            <a:ext cx="169163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Kafka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074919" y="36621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1999" y="30632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RTP message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39" y="331012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79" y="3419856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Filter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9" y="386791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Commercial accounts only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040879" y="36621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30632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Filtered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799" y="3310128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39" y="3310128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Couchbase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27939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1">
                <a:solidFill>
                  <a:srgbClr val="5A6B87"/>
                </a:solidFill>
                <a:latin typeface="Calibri"/>
              </a:rPr>
              <a:t>IBS Deposits (top) and RTP / FedNow (bottom) are the two sources that stream through Kafka.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75488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754880"/>
            <a:ext cx="10360152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Kafka isn't just a pass-through — it's the filtering checkpoint that scopes real-time events to commercial accounts before they ever reach Couchbase.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Wires, ACH, and Lockbox reach Couchbase through other real-time or batch paths, covered next in Mulesoft Inbound Integration.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Streaming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Mulesoft Inbound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Inbound broker for Wires &amp; ACH — universal outbound gateway to Business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E2761"/>
                </a:solidFill>
                <a:latin typeface="Calibri"/>
              </a:rPr>
              <a:t>INBOUND: SOURCE → COUCHBASE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920240" cy="822960"/>
          </a:xfrm>
          <a:prstGeom prst="roundRect">
            <a:avLst>
              <a:gd name="adj" fmla="val 88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874519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GPP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06039" y="2203704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62763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MQ – Wires Advice XML – Real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59" y="1874519"/>
            <a:ext cx="2011680" cy="822960"/>
          </a:xfrm>
          <a:prstGeom prst="roundRect">
            <a:avLst>
              <a:gd name="adj" fmla="val 8888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399" y="187451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MuleSoft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66359" y="2203704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2763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Wire trans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79" y="1874519"/>
            <a:ext cx="2377440" cy="822960"/>
          </a:xfrm>
          <a:prstGeom prst="roundRect">
            <a:avLst>
              <a:gd name="adj" fmla="val 8888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87451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Couchbase 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27248"/>
            <a:ext cx="2788920" cy="822960"/>
          </a:xfrm>
          <a:prstGeom prst="roundRect">
            <a:avLst>
              <a:gd name="adj" fmla="val 88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3127248"/>
            <a:ext cx="26060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ACH Tracker / IBS Event Broker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474720" y="345643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28803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Posting / origination / return files; prefunding debit event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3127248"/>
            <a:ext cx="2011680" cy="822960"/>
          </a:xfrm>
          <a:prstGeom prst="roundRect">
            <a:avLst>
              <a:gd name="adj" fmla="val 8888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79" y="3127248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MuleSoft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35040" y="345643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28803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Trans.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59" y="3127248"/>
            <a:ext cx="2377440" cy="822960"/>
          </a:xfrm>
          <a:prstGeom prst="roundRect">
            <a:avLst>
              <a:gd name="adj" fmla="val 8888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399" y="3127248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Couchbase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605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E2761"/>
                </a:solidFill>
                <a:latin typeface="Calibri"/>
              </a:rPr>
              <a:t>OUTBOUND: COUCHBASE → BUSINESS HUB — CONSISTENT ACROSS EVERY SOURCE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09160"/>
            <a:ext cx="2606040" cy="822960"/>
          </a:xfrm>
          <a:prstGeom prst="roundRect">
            <a:avLst>
              <a:gd name="adj" fmla="val 8888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" y="470916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Couchbase DB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291839" y="5038344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446227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94759" y="4709160"/>
            <a:ext cx="2011680" cy="822960"/>
          </a:xfrm>
          <a:prstGeom prst="roundRect">
            <a:avLst>
              <a:gd name="adj" fmla="val 8888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199" y="4709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MuleSoft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852159" y="5038344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446227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79" y="4709160"/>
            <a:ext cx="2103120" cy="822960"/>
          </a:xfrm>
          <a:prstGeom prst="roundRect">
            <a:avLst>
              <a:gd name="adj" fmla="val 88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19" y="4709160"/>
            <a:ext cx="19202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Business 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5838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1">
                <a:solidFill>
                  <a:srgbClr val="5A6B87"/>
                </a:solidFill>
                <a:latin typeface="Calibri"/>
              </a:rPr>
              <a:t>Applies to: IBS  ·  RTP / FedNow  ·  Wires  ·  ACH  ·  Lockbox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760720"/>
            <a:ext cx="10908792" cy="777240"/>
          </a:xfrm>
          <a:prstGeom prst="roundRect">
            <a:avLst>
              <a:gd name="adj" fmla="val 9411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60720"/>
            <a:ext cx="1036015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250" b="1" i="0">
                <a:solidFill>
                  <a:srgbClr val="141A45"/>
                </a:solidFill>
                <a:latin typeface="Calibri"/>
              </a:rPr>
              <a:t>MuleSoft is the universal outbound gateway to Business Hub, and the direct inbound broker for Wires and ACH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 — the two sources that bypass Kafka entirely.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Mulesoft Inbound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Reconciliation Process (Nightly)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Confirming sameday data against the true source of record before it becomes prior-day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755648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Sameday Collection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77639" y="210769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5087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Nightly EOD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755648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755648"/>
            <a:ext cx="338327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EOD Reconciliation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92440" y="210769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19" y="15087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Compared against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755648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86537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BIC (FIS Core)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3134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True source of record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88920"/>
            <a:ext cx="5285232" cy="1965960"/>
          </a:xfrm>
          <a:prstGeom prst="roundRect">
            <a:avLst>
              <a:gd name="adj" fmla="val 3720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788920"/>
            <a:ext cx="5285232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040379"/>
            <a:ext cx="5285232" cy="2514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788920"/>
            <a:ext cx="4773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MATCHED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474720"/>
            <a:ext cx="477316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50" b="0" i="0">
                <a:solidFill>
                  <a:srgbClr val="24304D"/>
                </a:solidFill>
                <a:latin typeface="Calibri"/>
              </a:rPr>
              <a:t>Transaction is confirmed against BIC and written to the Prior-Day collection — ready for prior-day reporting.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88920"/>
            <a:ext cx="5285232" cy="1965960"/>
          </a:xfrm>
          <a:prstGeom prst="roundRect">
            <a:avLst>
              <a:gd name="adj" fmla="val 3720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2788920"/>
            <a:ext cx="5285232" cy="502920"/>
          </a:xfrm>
          <a:prstGeom prst="roundRect">
            <a:avLst>
              <a:gd name="adj" fmla="val 14545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040379"/>
            <a:ext cx="5285232" cy="25146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788920"/>
            <a:ext cx="4773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UNMATCHED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474720"/>
            <a:ext cx="477316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50" b="0" i="0">
                <a:solidFill>
                  <a:srgbClr val="24304D"/>
                </a:solidFill>
                <a:latin typeface="Calibri"/>
              </a:rPr>
              <a:t>Transaction is routed to an Exception collection. It's re-checked against BIC on each subsequent cycle, for a period based on the source system's data retention window. Once matched, it writes through to Prior-Day like any other reconciled record.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8348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8348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Reconciliation exists so prior-day reporting is always confirmed against the true source of record —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not just marked complete because sameday processing finished.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Reconciliation Process (Nightly)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Couchbase Platform: Cluster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Cluster: PRDCCDMAZCEN_001  —  Healthy  —  13/27 nodes across 4 service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SERVICE GROUPS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72768"/>
          <a:ext cx="109087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71600"/>
                <a:gridCol w="2377440"/>
                <a:gridCol w="1645920"/>
                <a:gridCol w="1463040"/>
                <a:gridCol w="2313432"/>
              </a:tblGrid>
              <a:tr h="310896"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Nodes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CPU / RAM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Disk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IOPS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Disk Type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16 vCPU / 64GB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1024GB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P30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16 vCPU / 64GB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256GB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1100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Query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16 vCPU / 64GB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64GB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Eventing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8 vCPU / 32GB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128GB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12724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BUCKET ARCHITECTURE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401568"/>
          <a:ext cx="10908792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7772400"/>
                <a:gridCol w="1399032"/>
              </a:tblGrid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landing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Raw ingested data — batch EOD files, intraday TPS/MQ events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1.1M docs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Enriched &amp; reconciled data — BAI detail/status/summary, prior-day &amp; same-day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630K docs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semantic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Reporting-ready data — scheduled, standard, user-defined reports for Business Hub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history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7-day rolling reference copy of landing &amp; process data, for operational lookback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13.9M docs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Audit trail records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1.1M docs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486400"/>
            <a:ext cx="10908792" cy="822960"/>
          </a:xfrm>
          <a:prstGeom prst="roundRect">
            <a:avLst>
              <a:gd name="adj" fmla="val 8888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 history bucket holds a 7-day reference window of landing/process data for operational lookback — it is not the 7-year archive.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Long-term historical reporting is served from the Wintrust Data Warehouse via nightly EOD loads, not directly from Couchbase.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Couchbase Platform: Cluster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Landing &amp; Process: Scopes &amp;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How raw data becomes reconciled, BAI-enriched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148072" cy="3977639"/>
          </a:xfrm>
          <a:prstGeom prst="roundRect">
            <a:avLst>
              <a:gd name="adj" fmla="val 1839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148072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23060"/>
            <a:ext cx="5148072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4690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FFFFFF"/>
                </a:solidFill>
                <a:latin typeface="Calibri"/>
              </a:rPr>
              <a:t>LANDING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84832"/>
            <a:ext cx="4636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E2761"/>
                </a:solidFill>
                <a:latin typeface="Calibri"/>
              </a:rPr>
              <a:t>batch_eod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59152"/>
            <a:ext cx="463600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ach_origination_indv_to_settlement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ach_return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tran_cms_detail / tran_cms_status / tran_cms_summary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tran_deposit_detail / tran_deposit_status / tran_deposit_status_hist / tran_deposit_summary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886200"/>
            <a:ext cx="4636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E2761"/>
                </a:solidFill>
                <a:latin typeface="Calibri"/>
              </a:rPr>
              <a:t>intraday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160520"/>
            <a:ext cx="46360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tps_events_deposits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tps_file_ach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tps_file_lockbox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tps_mq_opf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tps_mq_wires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371600"/>
            <a:ext cx="5148072" cy="3977639"/>
          </a:xfrm>
          <a:prstGeom prst="roundRect">
            <a:avLst>
              <a:gd name="adj" fmla="val 1839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1371600"/>
            <a:ext cx="5148072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623060"/>
            <a:ext cx="5148072" cy="2514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371600"/>
            <a:ext cx="4690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084832"/>
            <a:ext cx="4636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C7293"/>
                </a:solidFill>
                <a:latin typeface="Calibri"/>
              </a:rPr>
              <a:t>batch_eod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359152"/>
            <a:ext cx="463600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recon_matched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tran_bai_detail_priorday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tran_bai_status_priorday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tran_bai_summary_priorday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886200"/>
            <a:ext cx="4636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C7293"/>
                </a:solidFill>
                <a:latin typeface="Calibri"/>
              </a:rPr>
              <a:t>intraday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160520"/>
            <a:ext cx="46360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ach_intraday_match_queued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tran_bai_detail_sameday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tran_bai_status_sameday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tran_bai_summary_sameday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94960"/>
            <a:ext cx="10908792" cy="841248"/>
          </a:xfrm>
          <a:prstGeom prst="roundRect">
            <a:avLst>
              <a:gd name="adj" fmla="val 8695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10360152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0" i="0">
                <a:solidFill>
                  <a:srgbClr val="141A45"/>
                </a:solidFill>
                <a:latin typeface="Calibri"/>
              </a:rPr>
              <a:t>Naming shows the transformation: </a:t>
            </a:r>
            <a:r>
              <a:rPr sz="1250" b="1" i="1">
                <a:solidFill>
                  <a:srgbClr val="141A45"/>
                </a:solidFill>
                <a:latin typeface="Calibri"/>
              </a:rPr>
              <a:t>tran_deposit 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(landing) becomes </a:t>
            </a:r>
            <a:r>
              <a:rPr sz="1250" b="1" i="1">
                <a:solidFill>
                  <a:srgbClr val="141A45"/>
                </a:solidFill>
                <a:latin typeface="Calibri"/>
              </a:rPr>
              <a:t>tran_bai 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(process) — enriched to the BAI code level — split into </a:t>
            </a:r>
            <a:r>
              <a:rPr sz="1250" b="1" i="0">
                <a:solidFill>
                  <a:srgbClr val="141A45"/>
                </a:solidFill>
                <a:latin typeface="Calibri"/>
              </a:rPr>
              <a:t>priorday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 and </a:t>
            </a:r>
            <a:r>
              <a:rPr sz="1250" b="1" i="0">
                <a:solidFill>
                  <a:srgbClr val="141A45"/>
                </a:solidFill>
                <a:latin typeface="Calibri"/>
              </a:rPr>
              <a:t>sameday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 collections matching the client's reporting requirement.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Landing &amp; Process: Scopes &amp; Collections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Semantic: Reporting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33271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What Business Hub actually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383280" cy="2697480"/>
          </a:xfrm>
          <a:prstGeom prst="roundRect">
            <a:avLst>
              <a:gd name="adj" fmla="val 27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383280" cy="594360"/>
          </a:xfrm>
          <a:prstGeom prst="roundRect">
            <a:avLst>
              <a:gd name="adj" fmla="val 12307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88820"/>
            <a:ext cx="3383280" cy="2971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SCHEDULED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E2761"/>
                </a:solidFill>
                <a:latin typeface="Calibri"/>
              </a:rPr>
              <a:t>1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62072"/>
            <a:ext cx="287121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24304D"/>
                </a:solidFill>
                <a:latin typeface="Calibri"/>
              </a:rPr>
              <a:t>Pre-built recurring reports delivered on a fixed schedule.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383280" cy="2697480"/>
          </a:xfrm>
          <a:prstGeom prst="roundRect">
            <a:avLst>
              <a:gd name="adj" fmla="val 27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691640"/>
            <a:ext cx="3383280" cy="594360"/>
          </a:xfrm>
          <a:prstGeom prst="roundRect">
            <a:avLst>
              <a:gd name="adj" fmla="val 12307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988820"/>
            <a:ext cx="3383280" cy="2971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916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STANDARD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68880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C7293"/>
                </a:solidFill>
                <a:latin typeface="Calibri"/>
              </a:rPr>
              <a:t>6 collections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62072"/>
            <a:ext cx="287121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24304D"/>
                </a:solidFill>
                <a:latin typeface="Calibri"/>
              </a:rPr>
              <a:t>Out-of-the-box reports covering common commercial banking needs.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691640"/>
            <a:ext cx="3593592" cy="2697480"/>
          </a:xfrm>
          <a:prstGeom prst="roundRect">
            <a:avLst>
              <a:gd name="adj" fmla="val 27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79" y="1691640"/>
            <a:ext cx="3593592" cy="594360"/>
          </a:xfrm>
          <a:prstGeom prst="roundRect">
            <a:avLst>
              <a:gd name="adj" fmla="val 12307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988820"/>
            <a:ext cx="3593592" cy="2971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691640"/>
            <a:ext cx="313639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USER-DEFINED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2468880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E2761"/>
                </a:solidFill>
                <a:latin typeface="Calibri"/>
              </a:rPr>
              <a:t>3 collections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1" y="2862072"/>
            <a:ext cx="308152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Custom reports configured to specific client or admin requirements.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09160"/>
            <a:ext cx="10908792" cy="1005840"/>
          </a:xfrm>
          <a:prstGeom prst="roundRect">
            <a:avLst>
              <a:gd name="adj" fmla="val 7272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36015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The semantic bucket is what Business Hub actually queries —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standard and custom reports built directly from the enriched process-layer data.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Semantic: Reporting Collections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Business Hub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What clients see, and when they see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REPORT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6192"/>
            <a:ext cx="3383280" cy="1051560"/>
          </a:xfrm>
          <a:prstGeom prst="roundRect">
            <a:avLst>
              <a:gd name="adj" fmla="val 6956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36192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64792"/>
            <a:ext cx="3383280" cy="228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36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Balance Position (BP)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84831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24304D"/>
                </a:solidFill>
                <a:latin typeface="Calibri"/>
              </a:rPr>
              <a:t>Client balance and position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2836" y="1536192"/>
            <a:ext cx="3383280" cy="1051560"/>
          </a:xfrm>
          <a:prstGeom prst="roundRect">
            <a:avLst>
              <a:gd name="adj" fmla="val 6956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2836" y="1536192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2836" y="1764792"/>
            <a:ext cx="3383280" cy="2286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5716" y="1536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User-Defined (UD)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5716" y="2084831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24304D"/>
                </a:solidFill>
                <a:latin typeface="Calibri"/>
              </a:rPr>
              <a:t>Custom, client-configured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5592" y="1536192"/>
            <a:ext cx="3383280" cy="1051560"/>
          </a:xfrm>
          <a:prstGeom prst="roundRect">
            <a:avLst>
              <a:gd name="adj" fmla="val 6956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65592" y="1536192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65592" y="1764792"/>
            <a:ext cx="3383280" cy="228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536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Daily Statement (DS)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084831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24304D"/>
                </a:solidFill>
                <a:latin typeface="Calibri"/>
              </a:rPr>
              <a:t>Daily transaction statements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743200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DATA TIMING — SHARED BY ALL THREE REPORT TYPES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999232"/>
            <a:ext cx="5285232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136391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1C7293"/>
                </a:solidFill>
                <a:latin typeface="Calibri"/>
              </a:rPr>
              <a:t>Intraday / Sameday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456432"/>
            <a:ext cx="4773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24304D"/>
                </a:solidFill>
                <a:latin typeface="Calibri"/>
              </a:rPr>
              <a:t>Served from the sameday collection as transactions arrive (e.g., balance_position_sameday).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99232"/>
            <a:ext cx="5285232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136391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1E2761"/>
                </a:solidFill>
                <a:latin typeface="Calibri"/>
              </a:rPr>
              <a:t>End of Day / Prior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456432"/>
            <a:ext cx="4773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24304D"/>
                </a:solidFill>
                <a:latin typeface="Calibri"/>
              </a:rPr>
              <a:t>Once EOD reconciliation completes, sameday data rolls into the prior-day collection (e.g., balance_position_priorday).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0965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SHARED USE-CASE FILTERS (BP, UD &amp; DS)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52544"/>
            <a:ext cx="1269187" cy="365760"/>
          </a:xfrm>
          <a:prstGeom prst="roundRect">
            <a:avLst>
              <a:gd name="adj" fmla="val 20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352544"/>
            <a:ext cx="12691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141A45"/>
                </a:solidFill>
                <a:latin typeface="Calibri"/>
              </a:rPr>
              <a:t>Prior Month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92147" y="4352544"/>
            <a:ext cx="1108252" cy="365760"/>
          </a:xfrm>
          <a:prstGeom prst="roundRect">
            <a:avLst>
              <a:gd name="adj" fmla="val 20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92147" y="4352544"/>
            <a:ext cx="11082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141A45"/>
                </a:solidFill>
                <a:latin typeface="Calibri"/>
              </a:rPr>
              <a:t>Prior Day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79" y="4352544"/>
            <a:ext cx="1430121" cy="365760"/>
          </a:xfrm>
          <a:prstGeom prst="roundRect">
            <a:avLst>
              <a:gd name="adj" fmla="val 20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79" y="4352544"/>
            <a:ext cx="143012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141A45"/>
                </a:solidFill>
                <a:latin typeface="Calibri"/>
              </a:rPr>
              <a:t>Month-to-Date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96281" y="4352544"/>
            <a:ext cx="1188719" cy="365760"/>
          </a:xfrm>
          <a:prstGeom prst="roundRect">
            <a:avLst>
              <a:gd name="adj" fmla="val 20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96281" y="4352544"/>
            <a:ext cx="11887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141A45"/>
                </a:solidFill>
                <a:latin typeface="Calibri"/>
              </a:rPr>
              <a:t>Date Range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892040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SEARCH — A SEPARATE CAPABILITY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1389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Clients search by amount, description, reference number, bank name, and more — against either sameday or prior-day data.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596128"/>
            <a:ext cx="10908792" cy="685800"/>
          </a:xfrm>
          <a:prstGeom prst="roundRect">
            <a:avLst>
              <a:gd name="adj" fmla="val 10666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596128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150" b="1" i="0">
                <a:solidFill>
                  <a:srgbClr val="141A45"/>
                </a:solidFill>
                <a:latin typeface="Calibri"/>
              </a:rPr>
              <a:t>Whether it's a standard report or a free-form search, Couchbase serves every use case through prepared statements</a:t>
            </a:r>
            <a:r>
              <a:rPr sz="1150" b="0" i="0">
                <a:solidFill>
                  <a:srgbClr val="141A45"/>
                </a:solidFill>
                <a:latin typeface="Calibri"/>
              </a:rPr>
              <a:t> — one consistent retrieval pattern across Balance Position, User-Defined, Daily Statement, and Search.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Business Hub Reports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Why Couchbase?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33271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Not theoretical capability — the actual mechanics behind DataHub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908792" cy="3337560"/>
          </a:xfrm>
          <a:prstGeom prst="roundRect">
            <a:avLst>
              <a:gd name="adj" fmla="val 219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0152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Flexible Data Model: ingests IBS deposit JSON events, RTP/Wires XML messages, and ACH/Lockbox batch files into one document store — no rigid upfront schema across formats.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Low-Latency Real-Time Access: powers Business Hub's prior-day/same-day balance visibility, sourced from Kafka-streamed IBS/RTP events filtered to commercial accounts.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Unified Query + Search (N1QL): drives BAI-code level reporting from the process bucket (tran_bai_detail/status/summary, priorday/sameday) into the semantic bucket's standard, scheduled, and user-defined reports.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Independently Scalable Services: Data / Index / Query / Eventing service groups scale separately as commercial transaction volume grows (13/27 nodes currently provisioned).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Multi-Model, Single Platform: the landing → process → semantic lifecycle replaces what would otherwise be a separate staging DB, cache, and search engine.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Built-in XDCR for Resilience: continuous one-way replication to East US2 gives Large Commercial/Corporate client data regional resilience.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12064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015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Every one of these is already load-bearing in this deck — the actual mechanics of how DataHub ingests, enriches, and serves commercial banking data today.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Why Couchbase?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Networking: Hub-and-Spoke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A shared backbone in the middle, isolated environments around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150" b="0" i="1">
                <a:solidFill>
                  <a:srgbClr val="5A6B87"/>
                </a:solidFill>
                <a:latin typeface="Calibri"/>
              </a:rPr>
              <a:t>On-Premises Data Centers (ELK-DC &amp; ASH-DC) — connected via redundant 10G-LR ExpressRoute circuits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52744" y="1463040"/>
            <a:ext cx="274320" cy="219456"/>
          </a:xfrm>
          <a:prstGeom prst="down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5798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1">
                <a:solidFill>
                  <a:srgbClr val="D9E3F5"/>
                </a:solidFill>
                <a:latin typeface="Calibri"/>
              </a:rPr>
              <a:t>Central US 10.238.0.0/19  ·  East US2 10.239.0.0/19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14016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FFFFFF"/>
                </a:solidFill>
                <a:latin typeface="Calibri"/>
              </a:rPr>
              <a:t>Shared connectivity &amp; security backbone — Virtual Network Gateway (ExpressRoute), vCSF firewalls, internal load balancer, and shared resource subscriptions.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50" b="0" i="1">
                <a:solidFill>
                  <a:srgbClr val="5A6B87"/>
                </a:solidFill>
                <a:latin typeface="Calibri"/>
              </a:rPr>
              <a:t>vNet Peering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212848" y="2907792"/>
            <a:ext cx="237744" cy="182880"/>
          </a:xfrm>
          <a:prstGeom prst="down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2836" y="2724912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50" b="0" i="1">
                <a:solidFill>
                  <a:srgbClr val="5A6B87"/>
                </a:solidFill>
                <a:latin typeface="Calibri"/>
              </a:rPr>
              <a:t>vNet Peering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75604" y="2907792"/>
            <a:ext cx="237744" cy="182880"/>
          </a:xfrm>
          <a:prstGeom prst="down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724912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50" b="0" i="1">
                <a:solidFill>
                  <a:srgbClr val="5A6B87"/>
                </a:solidFill>
                <a:latin typeface="Calibri"/>
              </a:rPr>
              <a:t>vNet Peering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738359" y="2907792"/>
            <a:ext cx="237744" cy="182880"/>
          </a:xfrm>
          <a:prstGeom prst="down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3383280" cy="1188720"/>
          </a:xfrm>
          <a:prstGeom prst="roundRect">
            <a:avLst>
              <a:gd name="adj" fmla="val 6153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3383280" cy="228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PROD SPOKE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7124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00" b="1" i="0">
                <a:solidFill>
                  <a:srgbClr val="24304D"/>
                </a:solidFill>
                <a:latin typeface="Calibri"/>
              </a:rPr>
              <a:t>Central-10.238.64.0/20  ·  East US2-10.239.64.0/20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0690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00" b="0" i="1">
                <a:solidFill>
                  <a:srgbClr val="5A6B87"/>
                </a:solidFill>
                <a:latin typeface="Calibri"/>
              </a:rPr>
              <a:t>Datahub Production subscriptions per application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2836" y="3200400"/>
            <a:ext cx="3383280" cy="1188720"/>
          </a:xfrm>
          <a:prstGeom prst="roundRect">
            <a:avLst>
              <a:gd name="adj" fmla="val 6153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02836" y="32004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2836" y="3429000"/>
            <a:ext cx="3383280" cy="2286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5716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UAT/QA SPOKE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5716" y="37124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00" b="1" i="0">
                <a:solidFill>
                  <a:srgbClr val="24304D"/>
                </a:solidFill>
                <a:latin typeface="Calibri"/>
              </a:rPr>
              <a:t>Central-10.238.32.0/20  ·  East US2-10.239.32.0/20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5716" y="40690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00" b="0" i="1">
                <a:solidFill>
                  <a:srgbClr val="5A6B87"/>
                </a:solidFill>
                <a:latin typeface="Calibri"/>
              </a:rPr>
              <a:t>UAT/QA subscriptions per application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65592" y="3200400"/>
            <a:ext cx="3383280" cy="1188720"/>
          </a:xfrm>
          <a:prstGeom prst="roundRect">
            <a:avLst>
              <a:gd name="adj" fmla="val 6153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65592" y="32004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65592" y="3429000"/>
            <a:ext cx="3383280" cy="228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DEV SPOKE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7124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00" b="1" i="0">
                <a:solidFill>
                  <a:srgbClr val="24304D"/>
                </a:solidFill>
                <a:latin typeface="Calibri"/>
              </a:rPr>
              <a:t>ELK-10.235.32.0/20  ·  ASH-10.236.32.0/20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40690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00" b="0" i="1">
                <a:solidFill>
                  <a:srgbClr val="5A6B87"/>
                </a:solidFill>
                <a:latin typeface="Calibri"/>
              </a:rPr>
              <a:t>Dev subscriptions per 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480560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150" b="0" i="1">
                <a:solidFill>
                  <a:srgbClr val="5A6B87"/>
                </a:solidFill>
                <a:latin typeface="Calibri"/>
              </a:rPr>
              <a:t>Spokes never connect directly to each other — only to the Hub.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8920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89204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1" i="0">
                <a:solidFill>
                  <a:srgbClr val="141A45"/>
                </a:solidFill>
                <a:latin typeface="Calibri"/>
              </a:rPr>
              <a:t>The hub-spoke model centralizes connectivity and security once in the Hub, 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while keeping Prod, UAT/QA, and Dev fully isolated from each other — each spoke only talks to the Hub, never directly to another spoke.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Networking: Hub-and-Spoke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How DataHub Communicates: A Real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Private Link services connect directly to the Hub — every spoke reaches them through vNet Peering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E2761"/>
                </a:solidFill>
                <a:latin typeface="Calibri"/>
              </a:rPr>
              <a:t>PATH A: CONFLUENT → COUCHBASE  (Private Link — into the Hub)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9656"/>
            <a:ext cx="3108960" cy="777240"/>
          </a:xfrm>
          <a:prstGeom prst="roundRect">
            <a:avLst>
              <a:gd name="adj" fmla="val 94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819656"/>
            <a:ext cx="29260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Confluent Cloud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94759" y="2125980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57276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Private 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819656"/>
            <a:ext cx="3108960" cy="777240"/>
          </a:xfrm>
          <a:prstGeom prst="roundRect">
            <a:avLst>
              <a:gd name="adj" fmla="val 941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1819656"/>
            <a:ext cx="29260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Hub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452360" y="2125980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57276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Private 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819656"/>
            <a:ext cx="3108960" cy="777240"/>
          </a:xfrm>
          <a:prstGeom prst="roundRect">
            <a:avLst>
              <a:gd name="adj" fmla="val 941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819656"/>
            <a:ext cx="29260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Couchbase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2432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1">
                <a:solidFill>
                  <a:srgbClr val="5A6B87"/>
                </a:solidFill>
                <a:latin typeface="Calibri"/>
              </a:rPr>
              <a:t>Connects straight into the Hub, not into an individual spoke — Prod, UAT-QA, and Dev all reach it the same way, through vNet Peering with the Hub.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E2761"/>
                </a:solidFill>
                <a:latin typeface="Calibri"/>
              </a:rPr>
              <a:t>PATH B: MULESOFT → COUCHBASE  (Internet — via the Hub)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21608"/>
            <a:ext cx="2743200" cy="777240"/>
          </a:xfrm>
          <a:prstGeom prst="roundRect">
            <a:avLst>
              <a:gd name="adj" fmla="val 94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" y="3721608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MuleSoft (SaaS)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429000" y="402793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347472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Internet + Firewall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3721608"/>
            <a:ext cx="3566160" cy="777240"/>
          </a:xfrm>
          <a:prstGeom prst="roundRect">
            <a:avLst>
              <a:gd name="adj" fmla="val 941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59" y="3721608"/>
            <a:ext cx="33832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Hub (vCSF → Internal LB)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43800" y="402793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47472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Private Link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721608"/>
            <a:ext cx="2743200" cy="777240"/>
          </a:xfrm>
          <a:prstGeom prst="roundRect">
            <a:avLst>
              <a:gd name="adj" fmla="val 941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721608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Couchbase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262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1">
                <a:solidFill>
                  <a:srgbClr val="5A6B87"/>
                </a:solidFill>
                <a:latin typeface="Calibri"/>
              </a:rPr>
              <a:t>MuleSoft's SaaS traffic has no Private Link, so it enters over the internet through the Hub's vCSF firewall — then reaches Couchbase the same way Confluent does, straight from the Hub.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029200"/>
            <a:ext cx="10908792" cy="1188720"/>
          </a:xfrm>
          <a:prstGeom prst="roundRect">
            <a:avLst>
              <a:gd name="adj" fmla="val 615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29200"/>
            <a:ext cx="10360152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1" i="0">
                <a:solidFill>
                  <a:srgbClr val="D9E3F5"/>
                </a:solidFill>
                <a:latin typeface="Calibri"/>
              </a:rPr>
              <a:t>Private-Link services (Couchbase, Confluent, Informatica) connect straight into the Hub — not into individual spokes.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Every environment reaches them the same way, through vNet Peering with the Hub. Either way — Private Link or internet-sourced — nothing reaches Couchbase directly from the public internet.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How DataHub Communicates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Private Link &amp; Environment Addressing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0" i="1">
                <a:solidFill>
                  <a:srgbClr val="5A6B87"/>
                </a:solidFill>
                <a:latin typeface="Calibri"/>
              </a:rPr>
              <a:t>Couchbase, Confluent, and Informatica each connect into the Hub via Private Link — traffic never touches the public internet.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90879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DataHub (ELK)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DataHub (ASH)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IDMC (ELK)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IDMC (ASH)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24304D"/>
                          </a:solidFill>
                          <a:latin typeface="Calibri"/>
                        </a:rPr>
                        <a:t>PROD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10.238.64.0/26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10.239.64.0/26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10.238.78.0/26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10.239.78.0/26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24304D"/>
                          </a:solidFill>
                          <a:latin typeface="Calibri"/>
                        </a:rPr>
                        <a:t>UAT/QA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10.238.32.0/26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10.239.32.0/26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10.238.46.0/26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10.239.46.0/26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24304D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10.238.48.0/24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10.239.48.0/24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10.235.32.0/27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10.236.32.0/27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03320"/>
            <a:ext cx="5285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PRIVATE LINK ENDPOINTS BY SOURCE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52852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Couchbase: one shared Private Link endpoint at the Hub, reachable by every environment via vNet Peering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Confluent: same Hub-based Private Link, shared across Prod, UAT/QA, and Dev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Informatica (IDMC): same Hub-based Private Link, shared across Prod, UAT/QA, and 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3703320"/>
            <a:ext cx="5285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HOW IPs MAP TO PRIVATE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3977639"/>
            <a:ext cx="52852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The Private Link endpoint (NIC) lives in the Hub — Azure assigns it a private IP from the Hub's range.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Private DNS resolves the service's hostname to that private IP for traffic originating inside any peered VNet.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ELK and ASH columns exist because the Hub itself is regional — one per XDCR region.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86400"/>
            <a:ext cx="10908792" cy="822960"/>
          </a:xfrm>
          <a:prstGeom prst="roundRect">
            <a:avLst>
              <a:gd name="adj" fmla="val 8888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1" i="0">
                <a:solidFill>
                  <a:srgbClr val="141A45"/>
                </a:solidFill>
                <a:latin typeface="Calibri"/>
              </a:rPr>
              <a:t>This is the secure backbone underneath everything covered so far — every source-to-Couchbase and Couchbase-to-Business Hub path in this deck rides on this Private Link + ExpressRoute foundation.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Private Link &amp; Environment Addressing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Why This Architecture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33271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What breaks down without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85232" cy="3063240"/>
          </a:xfrm>
          <a:prstGeom prst="roundRect">
            <a:avLst>
              <a:gd name="adj" fmla="val 23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85232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285232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8280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WITHOUT HUB-SPOKE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77440"/>
            <a:ext cx="4773168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Every spoke needs its own direct connection to on-prem and every shared service — connection sprawl instead of one shared backbone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No natural isolation — a Dev misconfiguration could expose a path toward Prod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Security policy duplicated per environment instead of centralized once in the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85232" cy="3063240"/>
          </a:xfrm>
          <a:prstGeom prst="roundRect">
            <a:avLst>
              <a:gd name="adj" fmla="val 23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85232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74519"/>
            <a:ext cx="5285232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8280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WITHOUT PRIVATE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377440"/>
            <a:ext cx="4773168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Confluent / Couchbase / Informatica traffic would traverse the public internet to reach the Hub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Commercial banking data exposed to internet attack surface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Harder to meet compliance expectations for private, non-internet-routable financial data paths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10908792" cy="1005840"/>
          </a:xfrm>
          <a:prstGeom prst="roundRect">
            <a:avLst>
              <a:gd name="adj" fmla="val 7272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36015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Hub-and-spoke plus Private Link together mean commercial banking data never touches the public internet,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and every environment is isolated by design — not by convention.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Why This Architecture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Disaster Recovery: Regional Failover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Primary in Central US, continuously mirrored to East US2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01368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911095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Central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4048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Primary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23560" y="2176272"/>
            <a:ext cx="91440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XDCR — one-way, near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801368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911095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East US2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4048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Disaster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HOW FAILOVER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090879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4304D"/>
                </a:solidFill>
                <a:latin typeface="Calibri"/>
              </a:rPr>
              <a:t>Data copies over to East US2 in near real-time, using XDCR. It's one-way and always running — no manual step needed.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4304D"/>
                </a:solidFill>
                <a:latin typeface="Calibri"/>
              </a:rPr>
              <a:t>If Central US goes down, we don't flip over automatically. We follow a runbook and switch over on purpose, in a controlled way.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4304D"/>
                </a:solidFill>
                <a:latin typeface="Calibri"/>
              </a:rPr>
              <a:t>Full RTO/RPO numbers and failover steps live in a separate runbook (link goes here).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Because East US2 already has a live copy of the data, switching over means promoting it — not rebuilding it.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That's what keeps downtime low.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Disaster Recovery: Regional Failover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Future Use Case: Encompass Webhooks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52560" y="457200"/>
            <a:ext cx="2880360" cy="292608"/>
          </a:xfrm>
          <a:prstGeom prst="roundRect">
            <a:avLst>
              <a:gd name="adj" fmla="val 25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PROPOSED — DESIGN NOT FINAL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Why Couchbase fits — not a finalized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5A6B87"/>
                </a:solidFill>
                <a:latin typeface="Calibri"/>
              </a:rPr>
              <a:t>Quick flow: Encompass sends a webhook → MuleSoft/Kafka → lands in a new Couchbase bucket.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08792" cy="3108960"/>
          </a:xfrm>
          <a:prstGeom prst="roundRect">
            <a:avLst>
              <a:gd name="adj" fmla="val 2352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WHY COUCHBASE 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6015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A webhook only tells us what changed — like a loan status or an address — not the whole loan.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Couchbase can update just that one field directly instead of reading and rewriting the whole document. This is called a subdocument mutation.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That matters here because these events come in fast, and this saves us from doing more work than we need 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Still just an idea we're testing, not a final design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— but subdoc mutations are why Couchbase looks like a strong fit here.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Future Use Case: Encompass Webhooks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Future Use Case: Mittera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52560" y="457200"/>
            <a:ext cx="2880360" cy="292608"/>
          </a:xfrm>
          <a:prstGeom prst="roundRect">
            <a:avLst>
              <a:gd name="adj" fmla="val 25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PROPOSED — DESIGN NOT FINAL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Why Couchbase fits — not a finalized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5A6B87"/>
                </a:solidFill>
                <a:latin typeface="Calibri"/>
              </a:rPr>
              <a:t>Quick flow: the data Mittera needs already sits in Couchbase — nothing new to build to get it there.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08792" cy="3108960"/>
          </a:xfrm>
          <a:prstGeom prst="roundRect">
            <a:avLst>
              <a:gd name="adj" fmla="val 2352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WHY COUCHBASE 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6015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We already keep this data merged in Couchbase.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All Mittera needs is one pull a day, for the prior day's data.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We already have solid indexes built for that kind of pull, so it stays fast.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Not a new pipeline.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Just a new place reading data we already have.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Future Use Case: Mittera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Future Use Case: IDMC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52560" y="457200"/>
            <a:ext cx="2880360" cy="292608"/>
          </a:xfrm>
          <a:prstGeom prst="roundRect">
            <a:avLst>
              <a:gd name="adj" fmla="val 25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PROPOSED — DESIGN NOT FINAL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Why Couchbase fits — not a finalized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5A6B87"/>
                </a:solidFill>
                <a:latin typeface="Calibri"/>
              </a:rPr>
              <a:t>Quick flow: IDMC events come into Couchbase and get processed as MDM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08792" cy="3108960"/>
          </a:xfrm>
          <a:prstGeom prst="roundRect">
            <a:avLst>
              <a:gd name="adj" fmla="val 2352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WHY COUCHBASE 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6015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The private network connection for IDMC is already set up — nothing new to build there either.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Couchbase doesn't need a fixed schema, so it can handle different MDM record shapes without a problem.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Same connection, same flexibility we're already using elsewhere in this deck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— just a new use for 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Future Use Case: IDMC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End-to-End Flow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The full picture — from source to Business Hub, and who owns what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64208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7739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267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24304D"/>
                </a:solidFill>
                <a:latin typeface="Calibri"/>
              </a:rPr>
              <a:t>IBS · RTP/FedNow · Wires · ACH · Lockbox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71800" y="203911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41732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Kafka / MuleSoft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64208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739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Streaming + MuleSoft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67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Kafka (filtered) &amp; MuleSoft inbound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06440" y="203911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41732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Ingest &amp; enrich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664208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17739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Couchbase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2267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landing → process → semantic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41080" y="203911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141732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MuleSoft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664208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7739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Business 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267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24304D"/>
                </a:solidFill>
                <a:latin typeface="Calibri"/>
              </a:rPr>
              <a:t>via MuleSoft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70048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150" b="0" i="1">
                <a:solidFill>
                  <a:srgbClr val="5A6B87"/>
                </a:solidFill>
                <a:latin typeface="Calibri"/>
              </a:rPr>
              <a:t>All data in motion travels through the Hub-and-Spoke network via Private Link — see Networking.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0632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E2761"/>
                </a:solidFill>
                <a:latin typeface="Calibri"/>
              </a:rPr>
              <a:t>TEAM OWNERSHIP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364992"/>
            <a:ext cx="5285232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93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BUSINESS 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85615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Calibri"/>
              </a:rPr>
              <a:t>Built &amp; operated by FIS — the client-facing portal for balances, transactions, reports, and search.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364992"/>
            <a:ext cx="5285232" cy="1325880"/>
          </a:xfrm>
          <a:prstGeom prst="roundRect">
            <a:avLst>
              <a:gd name="adj" fmla="val 5517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3493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DATAHUB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3785615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Calibri"/>
              </a:rPr>
              <a:t>Built &amp; operated by Wintrust Enterprise DM — acquires, streams, integrates, and persists data in Couchbase for Business Hub to consume.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9377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937760"/>
            <a:ext cx="10360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141A45"/>
                </a:solidFill>
                <a:latin typeface="Calibri"/>
              </a:rPr>
              <a:t>From five source systems to one client-facing portal: </a:t>
            </a:r>
            <a:r>
              <a:rPr sz="1300" b="0" i="0">
                <a:solidFill>
                  <a:srgbClr val="141A45"/>
                </a:solidFill>
                <a:latin typeface="Calibri"/>
              </a:rPr>
              <a:t>filtered, enriched, and reconciled through Couchbase, delivered through MuleSoft, and secured end-to-end by the Hub-and-Spoke network — this is DataHub.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End-to-End Flow Recap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