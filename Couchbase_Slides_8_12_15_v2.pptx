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51D00B1-65F1-4951-94EC-36B7F754CD0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962FDD-63EC-49AF-8451-83F8482E8B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0245C1-BFA3-4565-BBE4-D5AB4CE313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10E75-7E5A-44F1-8629-219B9A6E32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4114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Reconciliation Process (Nightly)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100584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a6b87"/>
                </a:solidFill>
                <a:latin typeface="Calibri"/>
                <a:ea typeface="Calibri"/>
              </a:rPr>
              <a:t>Confirming sameday data against the true source of record before it becomes prior-day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0080" y="1755720"/>
            <a:ext cx="3291480" cy="86832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1755720"/>
            <a:ext cx="3108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4304d"/>
                </a:solidFill>
                <a:latin typeface="Calibri"/>
                <a:ea typeface="Calibri"/>
              </a:rPr>
              <a:t>Sameday Collection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977640" y="2107800"/>
            <a:ext cx="4111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b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474720" y="15087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a6b87"/>
                </a:solidFill>
                <a:latin typeface="Calibri"/>
                <a:ea typeface="Calibri"/>
              </a:rPr>
              <a:t>Nightly EOD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480560" y="1755720"/>
            <a:ext cx="3565800" cy="86832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0" y="175572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EOD Reconciliation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092440" y="2107800"/>
            <a:ext cx="4111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b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589520" y="15087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a6b87"/>
                </a:solidFill>
                <a:latin typeface="Calibri"/>
                <a:ea typeface="Calibri"/>
              </a:rPr>
              <a:t>Compared against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8595360" y="1755720"/>
            <a:ext cx="3291480" cy="86832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8686800" y="18655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BIC (FIS Core)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686800" y="2313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True source of record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40080" y="2788920"/>
            <a:ext cx="5284800" cy="196560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40080" y="2788920"/>
            <a:ext cx="5284800" cy="50256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40080" y="3044880"/>
            <a:ext cx="5284800" cy="2466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96040" y="2788920"/>
            <a:ext cx="477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" strike="noStrike">
                <a:solidFill>
                  <a:srgbClr val="ffffff"/>
                </a:solidFill>
                <a:latin typeface="Calibri"/>
                <a:ea typeface="Calibri"/>
              </a:rPr>
              <a:t>MATCHED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896040" y="3474720"/>
            <a:ext cx="4772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4304d"/>
                </a:solidFill>
                <a:latin typeface="Calibri"/>
                <a:ea typeface="Calibri"/>
              </a:rPr>
              <a:t>Transaction is confirmed against BIC and written to the Prior-Day collection — ready for prior-day reporting.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263640" y="2788920"/>
            <a:ext cx="5284800" cy="196560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6263640" y="2788920"/>
            <a:ext cx="5284800" cy="502560"/>
          </a:xfrm>
          <a:prstGeom prst="roundRect">
            <a:avLst>
              <a:gd name="adj" fmla="val 14545"/>
            </a:avLst>
          </a:prstGeom>
          <a:solidFill>
            <a:srgbClr val="b08d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263640" y="3044880"/>
            <a:ext cx="5284800" cy="246600"/>
          </a:xfrm>
          <a:prstGeom prst="rect">
            <a:avLst/>
          </a:prstGeom>
          <a:solidFill>
            <a:srgbClr val="b08d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519600" y="2788920"/>
            <a:ext cx="477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" strike="noStrike">
                <a:solidFill>
                  <a:srgbClr val="ffffff"/>
                </a:solidFill>
                <a:latin typeface="Calibri"/>
                <a:ea typeface="Calibri"/>
              </a:rPr>
              <a:t>UNMATCHED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6519600" y="3474720"/>
            <a:ext cx="4772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4304d"/>
                </a:solidFill>
                <a:latin typeface="Calibri"/>
                <a:ea typeface="Calibri"/>
              </a:rPr>
              <a:t>Transaction is routed to an Exception collection. It's re-checked against BIC on each subsequent cycle, for a period based on the source system's data retention window. Once matched, it writes through to Prior-Day like any other reconciled record.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640080" y="4983480"/>
            <a:ext cx="10908360" cy="9140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914400" y="4983480"/>
            <a:ext cx="1035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9e3f5"/>
                </a:solidFill>
                <a:latin typeface="Calibri"/>
                <a:ea typeface="Calibri"/>
              </a:rPr>
              <a:t>Reconciliation exists so prior-day reporting is always confirmed against the true source of record —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not just marked complete because sameday processing finished.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40080" y="6428160"/>
            <a:ext cx="10908720" cy="360"/>
          </a:xfrm>
          <a:prstGeom prst="line">
            <a:avLst/>
          </a:prstGeom>
          <a:ln w="12700">
            <a:solidFill>
              <a:srgbClr val="e3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40080" y="647388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7"/>
                </a:solidFill>
                <a:latin typeface="Calibri"/>
                <a:ea typeface="Calibri"/>
              </a:rPr>
              <a:t>Reconciliation Process (Nightly)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7891200" y="647388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7"/>
                </a:solidFill>
                <a:latin typeface="Calibri"/>
                <a:ea typeface="Calibri"/>
              </a:rPr>
              <a:t>Wintrust Commercial Banking  |  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640080" y="365760"/>
            <a:ext cx="9600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Business Hub Reports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640080" y="914400"/>
            <a:ext cx="1060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a6b87"/>
                </a:solidFill>
                <a:latin typeface="Calibri"/>
                <a:ea typeface="Calibri"/>
              </a:rPr>
              <a:t>What clients see, and when they see it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640080" y="128016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1e2761"/>
                </a:solidFill>
                <a:latin typeface="Calibri"/>
                <a:ea typeface="Calibri"/>
              </a:rPr>
              <a:t>REPORT TYPES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640080" y="1536120"/>
            <a:ext cx="3382920" cy="105120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640080" y="1536120"/>
            <a:ext cx="3382920" cy="45684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640080" y="1764720"/>
            <a:ext cx="3382920" cy="228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822960" y="1536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Balance Position (BP)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822960" y="20847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4304d"/>
                </a:solidFill>
                <a:latin typeface="Calibri"/>
                <a:ea typeface="Calibri"/>
              </a:rPr>
              <a:t>Client balance and position reporting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4402800" y="1536120"/>
            <a:ext cx="3382920" cy="105120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4402800" y="1536120"/>
            <a:ext cx="3382920" cy="45684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4402800" y="1764720"/>
            <a:ext cx="3382920" cy="22824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4585680" y="1536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User-Defined (UD)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585680" y="20847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4304d"/>
                </a:solidFill>
                <a:latin typeface="Calibri"/>
                <a:ea typeface="Calibri"/>
              </a:rPr>
              <a:t>Custom, client-configured reports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8165520" y="1536120"/>
            <a:ext cx="3382920" cy="105120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8165520" y="1536120"/>
            <a:ext cx="3382920" cy="45684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5"/>
          <p:cNvSpPr/>
          <p:nvPr/>
        </p:nvSpPr>
        <p:spPr>
          <a:xfrm>
            <a:off x="8165520" y="1764720"/>
            <a:ext cx="3382920" cy="2282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8348400" y="1536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Daily Statement (DS)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8348400" y="20847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4304d"/>
                </a:solidFill>
                <a:latin typeface="Calibri"/>
                <a:ea typeface="Calibri"/>
              </a:rPr>
              <a:t>Daily transaction statements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640080" y="2743200"/>
            <a:ext cx="9143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1e2761"/>
                </a:solidFill>
                <a:latin typeface="Calibri"/>
                <a:ea typeface="Calibri"/>
              </a:rPr>
              <a:t>DATA TIMING — SHARED BY ALL THREE REPORT TYPES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640080" y="2999160"/>
            <a:ext cx="5284800" cy="95976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0"/>
          <p:cNvSpPr/>
          <p:nvPr/>
        </p:nvSpPr>
        <p:spPr>
          <a:xfrm>
            <a:off x="896040" y="313632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  <a:ea typeface="Calibri"/>
              </a:rPr>
              <a:t>Intraday / Sameday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896040" y="3456360"/>
            <a:ext cx="477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4304d"/>
                </a:solidFill>
                <a:latin typeface="Calibri"/>
                <a:ea typeface="Calibri"/>
              </a:rPr>
              <a:t>Served from the sameday collection as transactions arrive (e.g., balance_position_sameday).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6263640" y="2999160"/>
            <a:ext cx="5284800" cy="95976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6519600" y="3136320"/>
            <a:ext cx="477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Calibri"/>
              </a:rPr>
              <a:t>End of Day / Prior Day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6519600" y="3456360"/>
            <a:ext cx="477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4304d"/>
                </a:solidFill>
                <a:latin typeface="Calibri"/>
                <a:ea typeface="Calibri"/>
              </a:rPr>
              <a:t>Once EOD reconciliation completes, sameday data rolls into the prior-day collection (e.g., balance_position_priorday).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640080" y="4096440"/>
            <a:ext cx="9143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1e2761"/>
                </a:solidFill>
                <a:latin typeface="Calibri"/>
                <a:ea typeface="Calibri"/>
              </a:rPr>
              <a:t>SHARED USE-CASE FILTERS (BP, UD &amp; DS)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6"/>
          <p:cNvSpPr/>
          <p:nvPr/>
        </p:nvSpPr>
        <p:spPr>
          <a:xfrm>
            <a:off x="640080" y="4352400"/>
            <a:ext cx="1269000" cy="36540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640080" y="4352400"/>
            <a:ext cx="126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5"/>
                </a:solidFill>
                <a:latin typeface="Calibri"/>
                <a:ea typeface="Calibri"/>
              </a:rPr>
              <a:t>Prior Month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8"/>
          <p:cNvSpPr/>
          <p:nvPr/>
        </p:nvSpPr>
        <p:spPr>
          <a:xfrm>
            <a:off x="2092320" y="4352400"/>
            <a:ext cx="1107720" cy="36540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9"/>
          <p:cNvSpPr/>
          <p:nvPr/>
        </p:nvSpPr>
        <p:spPr>
          <a:xfrm>
            <a:off x="2092320" y="4352400"/>
            <a:ext cx="1107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5"/>
                </a:solidFill>
                <a:latin typeface="Calibri"/>
                <a:ea typeface="Calibri"/>
              </a:rPr>
              <a:t>Prior Day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30"/>
          <p:cNvSpPr/>
          <p:nvPr/>
        </p:nvSpPr>
        <p:spPr>
          <a:xfrm>
            <a:off x="3383280" y="4352400"/>
            <a:ext cx="1429920" cy="36540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1"/>
          <p:cNvSpPr/>
          <p:nvPr/>
        </p:nvSpPr>
        <p:spPr>
          <a:xfrm>
            <a:off x="3383280" y="4352400"/>
            <a:ext cx="142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5"/>
                </a:solidFill>
                <a:latin typeface="Calibri"/>
                <a:ea typeface="Calibri"/>
              </a:rPr>
              <a:t>Month-to-Date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2"/>
          <p:cNvSpPr/>
          <p:nvPr/>
        </p:nvSpPr>
        <p:spPr>
          <a:xfrm>
            <a:off x="4996440" y="4352400"/>
            <a:ext cx="1188360" cy="36540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3"/>
          <p:cNvSpPr/>
          <p:nvPr/>
        </p:nvSpPr>
        <p:spPr>
          <a:xfrm>
            <a:off x="4996440" y="435240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5"/>
                </a:solidFill>
                <a:latin typeface="Calibri"/>
                <a:ea typeface="Calibri"/>
              </a:rPr>
              <a:t>Date Range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34"/>
          <p:cNvSpPr/>
          <p:nvPr/>
        </p:nvSpPr>
        <p:spPr>
          <a:xfrm>
            <a:off x="640080" y="4892040"/>
            <a:ext cx="9143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" strike="noStrike">
                <a:solidFill>
                  <a:srgbClr val="1e2761"/>
                </a:solidFill>
                <a:latin typeface="Calibri"/>
                <a:ea typeface="Calibri"/>
              </a:rPr>
              <a:t>SEARCH — A SEPARATE CAPABILITY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5"/>
          <p:cNvSpPr/>
          <p:nvPr/>
        </p:nvSpPr>
        <p:spPr>
          <a:xfrm>
            <a:off x="640080" y="51390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4304d"/>
                </a:solidFill>
                <a:latin typeface="Calibri"/>
                <a:ea typeface="Calibri"/>
              </a:rPr>
              <a:t>Clients search by amount, description, reference number, bank name, and more — against either sameday or prior-day data.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36"/>
          <p:cNvSpPr/>
          <p:nvPr/>
        </p:nvSpPr>
        <p:spPr>
          <a:xfrm>
            <a:off x="640080" y="5596200"/>
            <a:ext cx="10908360" cy="685440"/>
          </a:xfrm>
          <a:prstGeom prst="roundRect">
            <a:avLst>
              <a:gd name="adj" fmla="val 10667"/>
            </a:avLst>
          </a:prstGeom>
          <a:solidFill>
            <a:srgbClr val="d9e3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37"/>
          <p:cNvSpPr/>
          <p:nvPr/>
        </p:nvSpPr>
        <p:spPr>
          <a:xfrm>
            <a:off x="914400" y="5596200"/>
            <a:ext cx="10359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41a45"/>
                </a:solidFill>
                <a:latin typeface="Calibri"/>
                <a:ea typeface="Calibri"/>
              </a:rPr>
              <a:t>Whether it's a standard report or a free-form search, Couchbase serves every use case through prepared statements</a:t>
            </a:r>
            <a:r>
              <a:rPr b="0" lang="en-US" sz="1150" spc="-1" strike="noStrike">
                <a:solidFill>
                  <a:srgbClr val="141a45"/>
                </a:solidFill>
                <a:latin typeface="Calibri"/>
                <a:ea typeface="Calibri"/>
              </a:rPr>
              <a:t> — one consistent retrieval pattern across Balance Position, User-Defined, Daily Statement, and Search.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38"/>
          <p:cNvSpPr/>
          <p:nvPr/>
        </p:nvSpPr>
        <p:spPr>
          <a:xfrm>
            <a:off x="640080" y="6428160"/>
            <a:ext cx="10908720" cy="360"/>
          </a:xfrm>
          <a:prstGeom prst="line">
            <a:avLst/>
          </a:prstGeom>
          <a:ln w="12700">
            <a:solidFill>
              <a:srgbClr val="e3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39"/>
          <p:cNvSpPr/>
          <p:nvPr/>
        </p:nvSpPr>
        <p:spPr>
          <a:xfrm>
            <a:off x="640080" y="647388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7"/>
                </a:solidFill>
                <a:latin typeface="Calibri"/>
                <a:ea typeface="Calibri"/>
              </a:rPr>
              <a:t>Business Hub Reports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0"/>
          <p:cNvSpPr/>
          <p:nvPr/>
        </p:nvSpPr>
        <p:spPr>
          <a:xfrm>
            <a:off x="7891200" y="647388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7"/>
                </a:solidFill>
                <a:latin typeface="Calibri"/>
                <a:ea typeface="Calibri"/>
              </a:rPr>
              <a:t>Wintrust Commercial Banking  |  12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640080" y="32004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Cambria"/>
                <a:ea typeface="Cambria"/>
              </a:rPr>
              <a:t>How DataHub Communicates: A Real Example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640080" y="887040"/>
            <a:ext cx="1060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a6b87"/>
                </a:solidFill>
                <a:latin typeface="Calibri"/>
                <a:ea typeface="Calibri"/>
              </a:rPr>
              <a:t>Private Link services connect directly to the spoke — only internet traffic routes through the Hub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640080" y="1371600"/>
            <a:ext cx="9143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49" strike="noStrike">
                <a:solidFill>
                  <a:srgbClr val="1e2761"/>
                </a:solidFill>
                <a:latin typeface="Calibri"/>
                <a:ea typeface="Calibri"/>
              </a:rPr>
              <a:t>PATH A: CONFLUENT → COUCHBASE  (Private Link — direct to spoke)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640080" y="1892880"/>
            <a:ext cx="2925720" cy="77688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731520" y="189288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4304d"/>
                </a:solidFill>
                <a:latin typeface="Calibri"/>
                <a:ea typeface="Calibri"/>
              </a:rPr>
              <a:t>Confluent Cloud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3611880" y="2199240"/>
            <a:ext cx="4111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b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3108960" y="164592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a6b87"/>
                </a:solidFill>
                <a:latin typeface="Calibri"/>
                <a:ea typeface="Calibri"/>
              </a:rPr>
              <a:t>Prod Private Link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4114800" y="1892880"/>
            <a:ext cx="2925720" cy="77688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4206240" y="189288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Prod Spoke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7086600" y="2199240"/>
            <a:ext cx="4111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b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6583680" y="164592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a6b87"/>
                </a:solidFill>
                <a:latin typeface="Calibri"/>
                <a:ea typeface="Calibri"/>
              </a:rPr>
              <a:t>Prod Private Link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7589520" y="1892880"/>
            <a:ext cx="2925720" cy="77688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7680960" y="1892880"/>
            <a:ext cx="2742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Couchbase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640080" y="26060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a6b87"/>
                </a:solidFill>
                <a:latin typeface="Calibri"/>
                <a:ea typeface="Calibri"/>
              </a:rPr>
              <a:t>Bypasses the Hub entirely — each environment (Prod / UAT-QA / Dev) has its own dedicated Private Link straight into that spoke.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640080" y="3063240"/>
            <a:ext cx="9143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49" strike="noStrike">
                <a:solidFill>
                  <a:srgbClr val="1e2761"/>
                </a:solidFill>
                <a:latin typeface="Calibri"/>
                <a:ea typeface="Calibri"/>
              </a:rPr>
              <a:t>PATH B: MULESOFT → COUCHBASE  (Internet — via the Hub)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640080" y="3584520"/>
            <a:ext cx="2194200" cy="77688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731520" y="358452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4304d"/>
                </a:solidFill>
                <a:latin typeface="Calibri"/>
                <a:ea typeface="Calibri"/>
              </a:rPr>
              <a:t>MuleSoft (SaaS)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2880360" y="3890880"/>
            <a:ext cx="4111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b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2377440" y="33375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a6b87"/>
                </a:solidFill>
                <a:latin typeface="Calibri"/>
                <a:ea typeface="Calibri"/>
              </a:rPr>
              <a:t>Internet + Firewall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3383280" y="3584520"/>
            <a:ext cx="2605680" cy="77688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3474720" y="3584520"/>
            <a:ext cx="2422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Hub (vCSF → Internal LB)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1"/>
          <p:cNvSpPr/>
          <p:nvPr/>
        </p:nvSpPr>
        <p:spPr>
          <a:xfrm>
            <a:off x="6035040" y="3890880"/>
            <a:ext cx="4111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b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5532120" y="33375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a6b87"/>
                </a:solidFill>
                <a:latin typeface="Calibri"/>
                <a:ea typeface="Calibri"/>
              </a:rPr>
              <a:t>vNet Peering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6537960" y="3584520"/>
            <a:ext cx="2194200" cy="77688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4"/>
          <p:cNvSpPr/>
          <p:nvPr/>
        </p:nvSpPr>
        <p:spPr>
          <a:xfrm>
            <a:off x="6629400" y="358452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Prod Spoke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5"/>
          <p:cNvSpPr/>
          <p:nvPr/>
        </p:nvSpPr>
        <p:spPr>
          <a:xfrm>
            <a:off x="8778240" y="3890880"/>
            <a:ext cx="4111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b8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8275320" y="3337560"/>
            <a:ext cx="150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a6b87"/>
                </a:solidFill>
                <a:latin typeface="Calibri"/>
                <a:ea typeface="Calibri"/>
              </a:rPr>
              <a:t>Prod Private Link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7"/>
          <p:cNvSpPr/>
          <p:nvPr/>
        </p:nvSpPr>
        <p:spPr>
          <a:xfrm>
            <a:off x="9281160" y="3584520"/>
            <a:ext cx="2194200" cy="77688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8"/>
          <p:cNvSpPr/>
          <p:nvPr/>
        </p:nvSpPr>
        <p:spPr>
          <a:xfrm>
            <a:off x="9372600" y="358452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Couchbase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9"/>
          <p:cNvSpPr/>
          <p:nvPr/>
        </p:nvSpPr>
        <p:spPr>
          <a:xfrm>
            <a:off x="640080" y="4316040"/>
            <a:ext cx="10606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b87"/>
                </a:solidFill>
                <a:latin typeface="Calibri"/>
                <a:ea typeface="Calibri"/>
              </a:rPr>
              <a:t>MuleSoft's SaaS traffic has no Private Link, so it enters over the internet through the Hub's vCSF firewall and Internal LB, then peers into the Prod spoke — a different path than Confluent's.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30"/>
          <p:cNvSpPr/>
          <p:nvPr/>
        </p:nvSpPr>
        <p:spPr>
          <a:xfrm>
            <a:off x="640080" y="4892040"/>
            <a:ext cx="10908360" cy="100548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1"/>
          <p:cNvSpPr/>
          <p:nvPr/>
        </p:nvSpPr>
        <p:spPr>
          <a:xfrm>
            <a:off x="914400" y="48920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9e3f5"/>
                </a:solidFill>
                <a:latin typeface="Calibri"/>
                <a:ea typeface="Calibri"/>
              </a:rPr>
              <a:t>Private-Link services (Couchbase, Confluent, Informatica) connect straight into the relevant spoke. 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Only internet-sourced traffic like MuleSoft's is firewalled and routed through the Hub first. Either way, nothing reaches Couchbase directly from the public internet.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2"/>
          <p:cNvSpPr/>
          <p:nvPr/>
        </p:nvSpPr>
        <p:spPr>
          <a:xfrm>
            <a:off x="640080" y="6428160"/>
            <a:ext cx="10908720" cy="360"/>
          </a:xfrm>
          <a:prstGeom prst="line">
            <a:avLst/>
          </a:prstGeom>
          <a:ln w="12700">
            <a:solidFill>
              <a:srgbClr val="e3e9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3"/>
          <p:cNvSpPr/>
          <p:nvPr/>
        </p:nvSpPr>
        <p:spPr>
          <a:xfrm>
            <a:off x="640080" y="647388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7"/>
                </a:solidFill>
                <a:latin typeface="Calibri"/>
                <a:ea typeface="Calibri"/>
              </a:rPr>
              <a:t>How DataHub Communicates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4"/>
          <p:cNvSpPr/>
          <p:nvPr/>
        </p:nvSpPr>
        <p:spPr>
          <a:xfrm>
            <a:off x="7891200" y="647388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7"/>
                </a:solidFill>
                <a:latin typeface="Calibri"/>
                <a:ea typeface="Calibri"/>
              </a:rPr>
              <a:t>Wintrust Commercial Banking  |  15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2026-08-11T19:57:31Z</dcterms:created>
  <dc:creator>PptxGenJS</dc:creator>
  <dc:description/>
  <dc:language>en-US</dc:language>
  <cp:lastModifiedBy>PptxGenJS</cp:lastModifiedBy>
  <dcterms:modified xsi:type="dcterms:W3CDTF">2026-08-11T19:57:31Z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On-screen Show (16:9)</vt:lpwstr>
  </property>
  <property fmtid="{D5CDD505-2E9C-101B-9397-08002B2CF9AE}" pid="4" name="Slides">
    <vt:r8>18</vt:r8>
  </property>
</Properties>
</file>